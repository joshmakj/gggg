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6"/>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Bricolage Grotesque" charset="1" panose="020B0605040402000204"/>
      <p:regular r:id="rId19"/>
    </p:embeddedFont>
    <p:embeddedFont>
      <p:font typeface="Inter" charset="1" panose="02000503000000020004"/>
      <p:regular r:id="rId20"/>
    </p:embeddedFont>
    <p:embeddedFont>
      <p:font typeface="Bricolage Grotesque Light" charset="1" panose="020B0605040402000204"/>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notesMasters/notesMaster1.xml" Type="http://schemas.openxmlformats.org/officeDocument/2006/relationships/notesMaster"/><Relationship Id="rId17" Target="theme/theme2.xml" Type="http://schemas.openxmlformats.org/officeDocument/2006/relationships/theme"/><Relationship Id="rId18" Target="notesSlides/notesSlide1.xml" Type="http://schemas.openxmlformats.org/officeDocument/2006/relationships/note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notesSlides/notesSlide2.xml" Type="http://schemas.openxmlformats.org/officeDocument/2006/relationships/notesSlide"/><Relationship Id="rId22" Target="notesSlides/notesSlide3.xml" Type="http://schemas.openxmlformats.org/officeDocument/2006/relationships/notesSlide"/><Relationship Id="rId23" Target="notesSlides/notesSlide4.xml" Type="http://schemas.openxmlformats.org/officeDocument/2006/relationships/notesSlide"/><Relationship Id="rId24" Target="fonts/font24.fntdata" Type="http://schemas.openxmlformats.org/officeDocument/2006/relationships/font"/><Relationship Id="rId25" Target="notesSlides/notesSlide5.xml" Type="http://schemas.openxmlformats.org/officeDocument/2006/relationships/notesSlide"/><Relationship Id="rId26" Target="notesSlides/notesSlide6.xml" Type="http://schemas.openxmlformats.org/officeDocument/2006/relationships/notesSlide"/><Relationship Id="rId27" Target="notesSlides/notesSlide7.xml" Type="http://schemas.openxmlformats.org/officeDocument/2006/relationships/notesSlide"/><Relationship Id="rId28" Target="notesSlides/notesSlide8.xml" Type="http://schemas.openxmlformats.org/officeDocument/2006/relationships/notesSlide"/><Relationship Id="rId29" Target="notesSlides/notesSlide9.xml" Type="http://schemas.openxmlformats.org/officeDocument/2006/relationships/notesSlide"/><Relationship Id="rId3" Target="viewProps.xml" Type="http://schemas.openxmlformats.org/officeDocument/2006/relationships/viewProps"/><Relationship Id="rId30" Target="notesSlides/notesSlide10.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 Id="rId5"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 Id="rId4" Target="../media/image4.jpeg" Type="http://schemas.openxmlformats.org/officeDocument/2006/relationships/image"/><Relationship Id="rId5" Target="../media/image5.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3.jpeg" Type="http://schemas.openxmlformats.org/officeDocument/2006/relationships/image"/><Relationship Id="rId5"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media/image13.jpeg" Type="http://schemas.openxmlformats.org/officeDocument/2006/relationships/image"/><Relationship Id="rId5" Target="../media/image14.jpeg" Type="http://schemas.openxmlformats.org/officeDocument/2006/relationships/image"/><Relationship Id="rId6" Target="../media/image15.jpeg" Type="http://schemas.openxmlformats.org/officeDocument/2006/relationships/image"/><Relationship Id="rId7" Target="../media/image1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 Id="rId4" Target="../media/image1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 Id="rId4" Target="../media/image1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https://www.falayn.com/signup" TargetMode="External" Type="http://schemas.openxmlformats.org/officeDocument/2006/relationships/hyperlink"/><Relationship Id="rId12" Target="../media/image24.png" Type="http://schemas.openxmlformats.org/officeDocument/2006/relationships/image"/><Relationship Id="rId13" Target="../media/image25.jpeg" Type="http://schemas.openxmlformats.org/officeDocument/2006/relationships/image"/><Relationship Id="rId2" Target="../notesSlides/notesSlide10.xml" Type="http://schemas.openxmlformats.org/officeDocument/2006/relationships/notesSlide"/><Relationship Id="rId3" Target="../media/image1.jpe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3.jpeg" Type="http://schemas.openxmlformats.org/officeDocument/2006/relationships/image"/><Relationship Id="rId7" Target="../media/image21.png" Type="http://schemas.openxmlformats.org/officeDocument/2006/relationships/image"/><Relationship Id="rId8" Target="../media/image22.svg" Type="http://schemas.openxmlformats.org/officeDocument/2006/relationships/image"/><Relationship Id="rId9" Target="https://www.falayn.com"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grpSp>
        <p:nvGrpSpPr>
          <p:cNvPr name="Group 6" id="6"/>
          <p:cNvGrpSpPr/>
          <p:nvPr/>
        </p:nvGrpSpPr>
        <p:grpSpPr>
          <a:xfrm rot="0">
            <a:off x="0" y="0"/>
            <a:ext cx="18288000" cy="10287000"/>
            <a:chOff x="0" y="0"/>
            <a:chExt cx="24384000" cy="13716000"/>
          </a:xfrm>
        </p:grpSpPr>
        <p:sp>
          <p:nvSpPr>
            <p:cNvPr name="Freeform 7" id="7"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4"/>
              <a:stretch>
                <a:fillRect l="0" t="0" r="0" b="0"/>
              </a:stretch>
            </a:blipFill>
          </p:spPr>
        </p:sp>
      </p:grpSp>
      <p:grpSp>
        <p:nvGrpSpPr>
          <p:cNvPr name="Group 8" id="8"/>
          <p:cNvGrpSpPr/>
          <p:nvPr/>
        </p:nvGrpSpPr>
        <p:grpSpPr>
          <a:xfrm rot="0">
            <a:off x="0" y="0"/>
            <a:ext cx="18288000" cy="10287000"/>
            <a:chOff x="0" y="0"/>
            <a:chExt cx="24384000" cy="13716000"/>
          </a:xfrm>
        </p:grpSpPr>
        <p:sp>
          <p:nvSpPr>
            <p:cNvPr name="Freeform 9" id="9"/>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72157"/>
              </a:srgbClr>
            </a:solidFill>
          </p:spPr>
        </p:sp>
      </p:grpSp>
      <p:sp>
        <p:nvSpPr>
          <p:cNvPr name="TextBox 10" id="10"/>
          <p:cNvSpPr txBox="true"/>
          <p:nvPr/>
        </p:nvSpPr>
        <p:spPr>
          <a:xfrm rot="0">
            <a:off x="1080049" y="2881465"/>
            <a:ext cx="16127911" cy="992981"/>
          </a:xfrm>
          <a:prstGeom prst="rect">
            <a:avLst/>
          </a:prstGeom>
        </p:spPr>
        <p:txBody>
          <a:bodyPr anchor="t" rtlCol="false" tIns="0" lIns="0" bIns="0" rIns="0">
            <a:spAutoFit/>
          </a:bodyPr>
          <a:lstStyle/>
          <a:p>
            <a:pPr algn="l">
              <a:lnSpc>
                <a:spcPts val="7488"/>
              </a:lnSpc>
            </a:pPr>
            <a:r>
              <a:rPr lang="en-US" sz="6000">
                <a:solidFill>
                  <a:srgbClr val="2C2926"/>
                </a:solidFill>
                <a:latin typeface="Bricolage Grotesque"/>
                <a:ea typeface="Bricolage Grotesque"/>
                <a:cs typeface="Bricolage Grotesque"/>
                <a:sym typeface="Bricolage Grotesque"/>
              </a:rPr>
              <a:t>The Gulf Job Seeker’s Career Starter Guide</a:t>
            </a:r>
          </a:p>
        </p:txBody>
      </p:sp>
      <p:sp>
        <p:nvSpPr>
          <p:cNvPr name="TextBox 11" id="11"/>
          <p:cNvSpPr txBox="true"/>
          <p:nvPr/>
        </p:nvSpPr>
        <p:spPr>
          <a:xfrm rot="0">
            <a:off x="1080049" y="4242044"/>
            <a:ext cx="16127911" cy="1576683"/>
          </a:xfrm>
          <a:prstGeom prst="rect">
            <a:avLst/>
          </a:prstGeom>
        </p:spPr>
        <p:txBody>
          <a:bodyPr anchor="t" rtlCol="false" tIns="0" lIns="0" bIns="0" rIns="0">
            <a:spAutoFit/>
          </a:bodyPr>
          <a:lstStyle/>
          <a:p>
            <a:pPr algn="l">
              <a:lnSpc>
                <a:spcPts val="3830"/>
              </a:lnSpc>
            </a:pPr>
            <a:r>
              <a:rPr lang="en-US" sz="2400">
                <a:solidFill>
                  <a:srgbClr val="2C2926"/>
                </a:solidFill>
                <a:latin typeface="Inter"/>
                <a:ea typeface="Inter"/>
                <a:cs typeface="Inter"/>
                <a:sym typeface="Inter"/>
              </a:rPr>
              <a:t>This premium guide helps early-career professionals and job seekers across the Gulf region find opportunities, connect with recruiters and prepare for their next career move. Practical, scannable, and designed for quick action — includes checklists, message templates, a 7‑day plan and interview prep.</a:t>
            </a:r>
          </a:p>
        </p:txBody>
      </p:sp>
      <p:grpSp>
        <p:nvGrpSpPr>
          <p:cNvPr name="Group 12" id="12"/>
          <p:cNvGrpSpPr/>
          <p:nvPr/>
        </p:nvGrpSpPr>
        <p:grpSpPr>
          <a:xfrm rot="0">
            <a:off x="1080049" y="6165799"/>
            <a:ext cx="1308792" cy="468954"/>
            <a:chOff x="0" y="0"/>
            <a:chExt cx="1745056" cy="625272"/>
          </a:xfrm>
        </p:grpSpPr>
        <p:sp>
          <p:nvSpPr>
            <p:cNvPr name="Freeform 13" id="13"/>
            <p:cNvSpPr/>
            <p:nvPr/>
          </p:nvSpPr>
          <p:spPr>
            <a:xfrm flipH="false" flipV="false" rot="0">
              <a:off x="0" y="0"/>
              <a:ext cx="1745107" cy="625348"/>
            </a:xfrm>
            <a:custGeom>
              <a:avLst/>
              <a:gdLst/>
              <a:ahLst/>
              <a:cxnLst/>
              <a:rect r="r" b="b" t="t" l="l"/>
              <a:pathLst>
                <a:path h="625348" w="1745107">
                  <a:moveTo>
                    <a:pt x="0" y="138303"/>
                  </a:moveTo>
                  <a:cubicBezTo>
                    <a:pt x="0" y="61849"/>
                    <a:pt x="61849" y="0"/>
                    <a:pt x="138303" y="0"/>
                  </a:cubicBezTo>
                  <a:lnTo>
                    <a:pt x="1606804" y="0"/>
                  </a:lnTo>
                  <a:cubicBezTo>
                    <a:pt x="1683131" y="0"/>
                    <a:pt x="1745107" y="61849"/>
                    <a:pt x="1745107" y="138303"/>
                  </a:cubicBezTo>
                  <a:lnTo>
                    <a:pt x="1745107" y="487045"/>
                  </a:lnTo>
                  <a:cubicBezTo>
                    <a:pt x="1745107" y="563372"/>
                    <a:pt x="1683258" y="625348"/>
                    <a:pt x="1606804" y="625348"/>
                  </a:cubicBezTo>
                  <a:lnTo>
                    <a:pt x="138303" y="625348"/>
                  </a:lnTo>
                  <a:cubicBezTo>
                    <a:pt x="61849" y="625221"/>
                    <a:pt x="0" y="563372"/>
                    <a:pt x="0" y="487045"/>
                  </a:cubicBezTo>
                  <a:close/>
                </a:path>
              </a:pathLst>
            </a:custGeom>
            <a:solidFill>
              <a:srgbClr val="F8ECD3"/>
            </a:solidFill>
          </p:spPr>
        </p:sp>
      </p:grpSp>
      <p:sp>
        <p:nvSpPr>
          <p:cNvPr name="TextBox 14" id="14"/>
          <p:cNvSpPr txBox="true"/>
          <p:nvPr/>
        </p:nvSpPr>
        <p:spPr>
          <a:xfrm rot="0">
            <a:off x="1265187" y="6267898"/>
            <a:ext cx="1852908" cy="274291"/>
          </a:xfrm>
          <a:prstGeom prst="rect">
            <a:avLst/>
          </a:prstGeom>
        </p:spPr>
        <p:txBody>
          <a:bodyPr anchor="t" rtlCol="false" tIns="0" lIns="0" bIns="0" rIns="0">
            <a:spAutoFit/>
          </a:bodyPr>
          <a:lstStyle/>
          <a:p>
            <a:pPr algn="l">
              <a:lnSpc>
                <a:spcPts val="2188"/>
              </a:lnSpc>
            </a:pPr>
            <a:r>
              <a:rPr lang="en-US" sz="1900">
                <a:solidFill>
                  <a:srgbClr val="2C2926"/>
                </a:solidFill>
                <a:latin typeface="Inter"/>
                <a:ea typeface="Inter"/>
                <a:cs typeface="Inter"/>
                <a:sym typeface="Inter"/>
              </a:rPr>
              <a:t>FALAYN</a:t>
            </a:r>
          </a:p>
        </p:txBody>
      </p:sp>
      <p:grpSp>
        <p:nvGrpSpPr>
          <p:cNvPr name="Group 15" id="15"/>
          <p:cNvGrpSpPr/>
          <p:nvPr/>
        </p:nvGrpSpPr>
        <p:grpSpPr>
          <a:xfrm rot="0">
            <a:off x="2538260" y="6161037"/>
            <a:ext cx="2220373" cy="478488"/>
            <a:chOff x="0" y="0"/>
            <a:chExt cx="2960497" cy="637984"/>
          </a:xfrm>
        </p:grpSpPr>
        <p:sp>
          <p:nvSpPr>
            <p:cNvPr name="Freeform 16" id="16"/>
            <p:cNvSpPr/>
            <p:nvPr/>
          </p:nvSpPr>
          <p:spPr>
            <a:xfrm flipH="false" flipV="false" rot="0">
              <a:off x="0" y="0"/>
              <a:ext cx="2960497" cy="638048"/>
            </a:xfrm>
            <a:custGeom>
              <a:avLst/>
              <a:gdLst/>
              <a:ahLst/>
              <a:cxnLst/>
              <a:rect r="r" b="b" t="t" l="l"/>
              <a:pathLst>
                <a:path h="638048" w="2960497">
                  <a:moveTo>
                    <a:pt x="0" y="141097"/>
                  </a:moveTo>
                  <a:cubicBezTo>
                    <a:pt x="0" y="63119"/>
                    <a:pt x="63119" y="0"/>
                    <a:pt x="141097" y="0"/>
                  </a:cubicBezTo>
                  <a:lnTo>
                    <a:pt x="2819400" y="0"/>
                  </a:lnTo>
                  <a:cubicBezTo>
                    <a:pt x="2897251" y="0"/>
                    <a:pt x="2960497" y="63119"/>
                    <a:pt x="2960497" y="141097"/>
                  </a:cubicBezTo>
                  <a:lnTo>
                    <a:pt x="2960497" y="496951"/>
                  </a:lnTo>
                  <a:cubicBezTo>
                    <a:pt x="2960497" y="574802"/>
                    <a:pt x="2897378" y="638048"/>
                    <a:pt x="2819400" y="638048"/>
                  </a:cubicBezTo>
                  <a:lnTo>
                    <a:pt x="141097" y="638048"/>
                  </a:lnTo>
                  <a:cubicBezTo>
                    <a:pt x="63119" y="637921"/>
                    <a:pt x="0" y="574802"/>
                    <a:pt x="0" y="496951"/>
                  </a:cubicBezTo>
                  <a:close/>
                </a:path>
              </a:pathLst>
            </a:custGeom>
            <a:blipFill>
              <a:blip r:embed="rId5">
                <a:alphaModFix amt="0"/>
              </a:blip>
              <a:stretch>
                <a:fillRect l="0" t="-40414" r="0" b="-40404"/>
              </a:stretch>
            </a:blipFill>
            <a:ln w="9526" cap="sq">
              <a:solidFill>
                <a:srgbClr val="E7BF6A"/>
              </a:solidFill>
              <a:prstDash val="solid"/>
              <a:miter/>
            </a:ln>
          </p:spPr>
        </p:sp>
      </p:grpSp>
      <p:sp>
        <p:nvSpPr>
          <p:cNvPr name="TextBox 17" id="17"/>
          <p:cNvSpPr txBox="true"/>
          <p:nvPr/>
        </p:nvSpPr>
        <p:spPr>
          <a:xfrm rot="0">
            <a:off x="2728170" y="6267898"/>
            <a:ext cx="2754954" cy="274291"/>
          </a:xfrm>
          <a:prstGeom prst="rect">
            <a:avLst/>
          </a:prstGeom>
        </p:spPr>
        <p:txBody>
          <a:bodyPr anchor="t" rtlCol="false" tIns="0" lIns="0" bIns="0" rIns="0">
            <a:spAutoFit/>
          </a:bodyPr>
          <a:lstStyle/>
          <a:p>
            <a:pPr algn="l">
              <a:lnSpc>
                <a:spcPts val="2188"/>
              </a:lnSpc>
            </a:pPr>
            <a:r>
              <a:rPr lang="en-US" sz="1900">
                <a:solidFill>
                  <a:srgbClr val="E7BF6A"/>
                </a:solidFill>
                <a:latin typeface="Inter"/>
                <a:ea typeface="Inter"/>
                <a:cs typeface="Inter"/>
                <a:sym typeface="Inter"/>
              </a:rPr>
              <a:t>GULF CAREERS</a:t>
            </a:r>
          </a:p>
        </p:txBody>
      </p:sp>
      <p:sp>
        <p:nvSpPr>
          <p:cNvPr name="TextBox 18" id="18"/>
          <p:cNvSpPr txBox="true"/>
          <p:nvPr/>
        </p:nvSpPr>
        <p:spPr>
          <a:xfrm rot="0">
            <a:off x="4908052" y="6267898"/>
            <a:ext cx="3533184" cy="274291"/>
          </a:xfrm>
          <a:prstGeom prst="rect">
            <a:avLst/>
          </a:prstGeom>
        </p:spPr>
        <p:txBody>
          <a:bodyPr anchor="t" rtlCol="false" tIns="0" lIns="0" bIns="0" rIns="0">
            <a:spAutoFit/>
          </a:bodyPr>
          <a:lstStyle/>
          <a:p>
            <a:pPr algn="l">
              <a:lnSpc>
                <a:spcPts val="2188"/>
              </a:lnSpc>
            </a:pPr>
            <a:r>
              <a:rPr lang="en-US" sz="1900">
                <a:solidFill>
                  <a:srgbClr val="E7BF6A"/>
                </a:solidFill>
                <a:latin typeface="Inter"/>
                <a:ea typeface="Inter"/>
                <a:cs typeface="Inter"/>
                <a:sym typeface="Inter"/>
              </a:rPr>
              <a:t>DOWNLOADABLE PDF</a:t>
            </a:r>
          </a:p>
        </p:txBody>
      </p:sp>
      <p:sp>
        <p:nvSpPr>
          <p:cNvPr name="TextBox 19" id="19"/>
          <p:cNvSpPr txBox="true"/>
          <p:nvPr/>
        </p:nvSpPr>
        <p:spPr>
          <a:xfrm rot="0">
            <a:off x="1080049" y="6905625"/>
            <a:ext cx="17042311" cy="471192"/>
          </a:xfrm>
          <a:prstGeom prst="rect">
            <a:avLst/>
          </a:prstGeom>
        </p:spPr>
        <p:txBody>
          <a:bodyPr anchor="t" rtlCol="false" tIns="0" lIns="0" bIns="0" rIns="0">
            <a:spAutoFit/>
          </a:bodyPr>
          <a:lstStyle/>
          <a:p>
            <a:pPr algn="l">
              <a:lnSpc>
                <a:spcPts val="3032"/>
              </a:lnSpc>
            </a:pPr>
            <a:r>
              <a:rPr lang="en-US" sz="1900">
                <a:solidFill>
                  <a:srgbClr val="2C2926"/>
                </a:solidFill>
                <a:latin typeface="Inter"/>
                <a:ea typeface="Inter"/>
                <a:cs typeface="Inter"/>
                <a:sym typeface="Inter"/>
              </a:rPr>
              <a:t>Page 1 • Cover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sp>
        <p:nvSpPr>
          <p:cNvPr name="TextBox 6" id="6"/>
          <p:cNvSpPr txBox="true"/>
          <p:nvPr/>
        </p:nvSpPr>
        <p:spPr>
          <a:xfrm rot="0">
            <a:off x="1080049" y="1612259"/>
            <a:ext cx="16127911" cy="992981"/>
          </a:xfrm>
          <a:prstGeom prst="rect">
            <a:avLst/>
          </a:prstGeom>
        </p:spPr>
        <p:txBody>
          <a:bodyPr anchor="t" rtlCol="false" tIns="0" lIns="0" bIns="0" rIns="0">
            <a:spAutoFit/>
          </a:bodyPr>
          <a:lstStyle/>
          <a:p>
            <a:pPr algn="l">
              <a:lnSpc>
                <a:spcPts val="7488"/>
              </a:lnSpc>
            </a:pPr>
            <a:r>
              <a:rPr lang="en-US" sz="6000">
                <a:solidFill>
                  <a:srgbClr val="2C2926"/>
                </a:solidFill>
                <a:latin typeface="Bricolage Grotesque"/>
                <a:ea typeface="Bricolage Grotesque"/>
                <a:cs typeface="Bricolage Grotesque"/>
                <a:sym typeface="Bricolage Grotesque"/>
              </a:rPr>
              <a:t>Welcome to Your Gulf Job Search</a:t>
            </a:r>
          </a:p>
        </p:txBody>
      </p:sp>
      <p:sp>
        <p:nvSpPr>
          <p:cNvPr name="TextBox 7" id="7"/>
          <p:cNvSpPr txBox="true"/>
          <p:nvPr/>
        </p:nvSpPr>
        <p:spPr>
          <a:xfrm rot="0">
            <a:off x="1080049" y="3127172"/>
            <a:ext cx="16127911" cy="1576683"/>
          </a:xfrm>
          <a:prstGeom prst="rect">
            <a:avLst/>
          </a:prstGeom>
        </p:spPr>
        <p:txBody>
          <a:bodyPr anchor="t" rtlCol="false" tIns="0" lIns="0" bIns="0" rIns="0">
            <a:spAutoFit/>
          </a:bodyPr>
          <a:lstStyle/>
          <a:p>
            <a:pPr algn="l">
              <a:lnSpc>
                <a:spcPts val="3830"/>
              </a:lnSpc>
            </a:pPr>
            <a:r>
              <a:rPr lang="en-US" sz="2400">
                <a:solidFill>
                  <a:srgbClr val="2C2926"/>
                </a:solidFill>
                <a:latin typeface="Inter"/>
                <a:ea typeface="Inter"/>
                <a:cs typeface="Inter"/>
                <a:sym typeface="Inter"/>
              </a:rPr>
              <a:t>Finding a job in the Gulf combines local market awareness with proactive networking. This guide focuses on practical steps: clarifying what you want, building a recruiter-friendly profile, targeted search tactics and concise communications that get replies.</a:t>
            </a:r>
          </a:p>
        </p:txBody>
      </p:sp>
      <p:grpSp>
        <p:nvGrpSpPr>
          <p:cNvPr name="Group 8" id="8"/>
          <p:cNvGrpSpPr/>
          <p:nvPr/>
        </p:nvGrpSpPr>
        <p:grpSpPr>
          <a:xfrm rot="0">
            <a:off x="1080049" y="5050927"/>
            <a:ext cx="2282581" cy="2853185"/>
            <a:chOff x="0" y="0"/>
            <a:chExt cx="3043441" cy="3804247"/>
          </a:xfrm>
        </p:grpSpPr>
        <p:sp>
          <p:nvSpPr>
            <p:cNvPr name="Freeform 9" id="9" descr="preencoded.png"/>
            <p:cNvSpPr/>
            <p:nvPr/>
          </p:nvSpPr>
          <p:spPr>
            <a:xfrm flipH="false" flipV="false" rot="0">
              <a:off x="0" y="0"/>
              <a:ext cx="3043428" cy="3804285"/>
            </a:xfrm>
            <a:custGeom>
              <a:avLst/>
              <a:gdLst/>
              <a:ahLst/>
              <a:cxnLst/>
              <a:rect r="r" b="b" t="t" l="l"/>
              <a:pathLst>
                <a:path h="3804285" w="3043428">
                  <a:moveTo>
                    <a:pt x="0" y="0"/>
                  </a:moveTo>
                  <a:lnTo>
                    <a:pt x="3043428" y="0"/>
                  </a:lnTo>
                  <a:lnTo>
                    <a:pt x="3043428" y="3804285"/>
                  </a:lnTo>
                  <a:lnTo>
                    <a:pt x="0" y="3804285"/>
                  </a:lnTo>
                  <a:lnTo>
                    <a:pt x="0" y="0"/>
                  </a:lnTo>
                  <a:close/>
                </a:path>
              </a:pathLst>
            </a:custGeom>
            <a:blipFill>
              <a:blip r:embed="rId4"/>
              <a:stretch>
                <a:fillRect l="0" t="0" r="0" b="0"/>
              </a:stretch>
            </a:blipFill>
          </p:spPr>
        </p:sp>
      </p:grpSp>
      <p:sp>
        <p:nvSpPr>
          <p:cNvPr name="TextBox 10" id="10"/>
          <p:cNvSpPr txBox="true"/>
          <p:nvPr/>
        </p:nvSpPr>
        <p:spPr>
          <a:xfrm rot="0">
            <a:off x="3748383" y="5031877"/>
            <a:ext cx="5202736" cy="501253"/>
          </a:xfrm>
          <a:prstGeom prst="rect">
            <a:avLst/>
          </a:prstGeom>
        </p:spPr>
        <p:txBody>
          <a:bodyPr anchor="t" rtlCol="false" tIns="0" lIns="0" bIns="0" rIns="0">
            <a:spAutoFit/>
          </a:bodyPr>
          <a:lstStyle/>
          <a:p>
            <a:pPr algn="l">
              <a:lnSpc>
                <a:spcPts val="3744"/>
              </a:lnSpc>
            </a:pPr>
            <a:r>
              <a:rPr lang="en-US" sz="3000">
                <a:solidFill>
                  <a:srgbClr val="2C2926"/>
                </a:solidFill>
                <a:latin typeface="Bricolage Grotesque"/>
                <a:ea typeface="Bricolage Grotesque"/>
                <a:cs typeface="Bricolage Grotesque"/>
                <a:sym typeface="Bricolage Grotesque"/>
              </a:rPr>
              <a:t>Who this guide is for</a:t>
            </a:r>
          </a:p>
        </p:txBody>
      </p:sp>
      <p:sp>
        <p:nvSpPr>
          <p:cNvPr name="TextBox 11" id="11"/>
          <p:cNvSpPr txBox="true"/>
          <p:nvPr/>
        </p:nvSpPr>
        <p:spPr>
          <a:xfrm rot="0">
            <a:off x="3748383" y="5623027"/>
            <a:ext cx="5202736" cy="1576683"/>
          </a:xfrm>
          <a:prstGeom prst="rect">
            <a:avLst/>
          </a:prstGeom>
        </p:spPr>
        <p:txBody>
          <a:bodyPr anchor="t" rtlCol="false" tIns="0" lIns="0" bIns="0" rIns="0">
            <a:spAutoFit/>
          </a:bodyPr>
          <a:lstStyle/>
          <a:p>
            <a:pPr algn="l">
              <a:lnSpc>
                <a:spcPts val="3830"/>
              </a:lnSpc>
            </a:pPr>
            <a:r>
              <a:rPr lang="en-US" sz="2400">
                <a:solidFill>
                  <a:srgbClr val="2C2926"/>
                </a:solidFill>
                <a:latin typeface="Inter"/>
                <a:ea typeface="Inter"/>
                <a:cs typeface="Inter"/>
                <a:sym typeface="Inter"/>
              </a:rPr>
              <a:t>Early-career professionals and recent graduates targeting roles across GCC countries.</a:t>
            </a:r>
          </a:p>
        </p:txBody>
      </p:sp>
      <p:grpSp>
        <p:nvGrpSpPr>
          <p:cNvPr name="Group 12" id="12"/>
          <p:cNvGrpSpPr/>
          <p:nvPr/>
        </p:nvGrpSpPr>
        <p:grpSpPr>
          <a:xfrm rot="0">
            <a:off x="9336881" y="5050927"/>
            <a:ext cx="2282581" cy="2853185"/>
            <a:chOff x="0" y="0"/>
            <a:chExt cx="3043441" cy="3804247"/>
          </a:xfrm>
        </p:grpSpPr>
        <p:sp>
          <p:nvSpPr>
            <p:cNvPr name="Freeform 13" id="13" descr="preencoded.png"/>
            <p:cNvSpPr/>
            <p:nvPr/>
          </p:nvSpPr>
          <p:spPr>
            <a:xfrm flipH="false" flipV="false" rot="0">
              <a:off x="0" y="0"/>
              <a:ext cx="3043428" cy="3804285"/>
            </a:xfrm>
            <a:custGeom>
              <a:avLst/>
              <a:gdLst/>
              <a:ahLst/>
              <a:cxnLst/>
              <a:rect r="r" b="b" t="t" l="l"/>
              <a:pathLst>
                <a:path h="3804285" w="3043428">
                  <a:moveTo>
                    <a:pt x="0" y="0"/>
                  </a:moveTo>
                  <a:lnTo>
                    <a:pt x="3043428" y="0"/>
                  </a:lnTo>
                  <a:lnTo>
                    <a:pt x="3043428" y="3804285"/>
                  </a:lnTo>
                  <a:lnTo>
                    <a:pt x="0" y="3804285"/>
                  </a:lnTo>
                  <a:lnTo>
                    <a:pt x="0" y="0"/>
                  </a:lnTo>
                  <a:close/>
                </a:path>
              </a:pathLst>
            </a:custGeom>
            <a:blipFill>
              <a:blip r:embed="rId5"/>
              <a:stretch>
                <a:fillRect l="0" t="0" r="0" b="0"/>
              </a:stretch>
            </a:blipFill>
          </p:spPr>
        </p:sp>
      </p:grpSp>
      <p:sp>
        <p:nvSpPr>
          <p:cNvPr name="TextBox 14" id="14"/>
          <p:cNvSpPr txBox="true"/>
          <p:nvPr/>
        </p:nvSpPr>
        <p:spPr>
          <a:xfrm rot="0">
            <a:off x="12005224" y="5031877"/>
            <a:ext cx="5202736" cy="501253"/>
          </a:xfrm>
          <a:prstGeom prst="rect">
            <a:avLst/>
          </a:prstGeom>
        </p:spPr>
        <p:txBody>
          <a:bodyPr anchor="t" rtlCol="false" tIns="0" lIns="0" bIns="0" rIns="0">
            <a:spAutoFit/>
          </a:bodyPr>
          <a:lstStyle/>
          <a:p>
            <a:pPr algn="l">
              <a:lnSpc>
                <a:spcPts val="3744"/>
              </a:lnSpc>
            </a:pPr>
            <a:r>
              <a:rPr lang="en-US" sz="3000">
                <a:solidFill>
                  <a:srgbClr val="2C2926"/>
                </a:solidFill>
                <a:latin typeface="Bricolage Grotesque"/>
                <a:ea typeface="Bricolage Grotesque"/>
                <a:cs typeface="Bricolage Grotesque"/>
                <a:sym typeface="Bricolage Grotesque"/>
              </a:rPr>
              <a:t>What you’ll get</a:t>
            </a:r>
          </a:p>
        </p:txBody>
      </p:sp>
      <p:sp>
        <p:nvSpPr>
          <p:cNvPr name="TextBox 15" id="15"/>
          <p:cNvSpPr txBox="true"/>
          <p:nvPr/>
        </p:nvSpPr>
        <p:spPr>
          <a:xfrm rot="0">
            <a:off x="12005224" y="5623027"/>
            <a:ext cx="5202736" cy="2070497"/>
          </a:xfrm>
          <a:prstGeom prst="rect">
            <a:avLst/>
          </a:prstGeom>
        </p:spPr>
        <p:txBody>
          <a:bodyPr anchor="t" rtlCol="false" tIns="0" lIns="0" bIns="0" rIns="0">
            <a:spAutoFit/>
          </a:bodyPr>
          <a:lstStyle/>
          <a:p>
            <a:pPr algn="l">
              <a:lnSpc>
                <a:spcPts val="3830"/>
              </a:lnSpc>
            </a:pPr>
            <a:r>
              <a:rPr lang="en-US" sz="2400">
                <a:solidFill>
                  <a:srgbClr val="2C2926"/>
                </a:solidFill>
                <a:latin typeface="Inter"/>
                <a:ea typeface="Inter"/>
                <a:cs typeface="Inter"/>
                <a:sym typeface="Inter"/>
              </a:rPr>
              <a:t>Actionable checklists, recruiter message templates, interview preparation and a 7‑day action plan.</a:t>
            </a:r>
          </a:p>
        </p:txBody>
      </p:sp>
      <p:sp>
        <p:nvSpPr>
          <p:cNvPr name="TextBox 16" id="16"/>
          <p:cNvSpPr txBox="true"/>
          <p:nvPr/>
        </p:nvSpPr>
        <p:spPr>
          <a:xfrm rot="0">
            <a:off x="1080049" y="8174984"/>
            <a:ext cx="17042311" cy="471192"/>
          </a:xfrm>
          <a:prstGeom prst="rect">
            <a:avLst/>
          </a:prstGeom>
        </p:spPr>
        <p:txBody>
          <a:bodyPr anchor="t" rtlCol="false" tIns="0" lIns="0" bIns="0" rIns="0">
            <a:spAutoFit/>
          </a:bodyPr>
          <a:lstStyle/>
          <a:p>
            <a:pPr algn="l">
              <a:lnSpc>
                <a:spcPts val="3032"/>
              </a:lnSpc>
            </a:pPr>
            <a:r>
              <a:rPr lang="en-US" sz="1900">
                <a:solidFill>
                  <a:srgbClr val="2C2926"/>
                </a:solidFill>
                <a:latin typeface="Inter"/>
                <a:ea typeface="Inter"/>
                <a:cs typeface="Inter"/>
                <a:sym typeface="Inter"/>
              </a:rPr>
              <a:t>Page 2 • Introduction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sp>
        <p:nvSpPr>
          <p:cNvPr name="TextBox 6" id="6"/>
          <p:cNvSpPr txBox="true"/>
          <p:nvPr/>
        </p:nvSpPr>
        <p:spPr>
          <a:xfrm rot="0">
            <a:off x="1080049" y="824065"/>
            <a:ext cx="16127911" cy="987323"/>
          </a:xfrm>
          <a:prstGeom prst="rect">
            <a:avLst/>
          </a:prstGeom>
        </p:spPr>
        <p:txBody>
          <a:bodyPr anchor="t" rtlCol="false" tIns="0" lIns="0" bIns="0" rIns="0">
            <a:spAutoFit/>
          </a:bodyPr>
          <a:lstStyle/>
          <a:p>
            <a:pPr algn="l">
              <a:lnSpc>
                <a:spcPts val="7363"/>
              </a:lnSpc>
            </a:pPr>
            <a:r>
              <a:rPr lang="en-US" sz="5899">
                <a:solidFill>
                  <a:srgbClr val="2C2926"/>
                </a:solidFill>
                <a:latin typeface="Bricolage Grotesque"/>
                <a:ea typeface="Bricolage Grotesque"/>
                <a:cs typeface="Bricolage Grotesque"/>
                <a:sym typeface="Bricolage Grotesque"/>
              </a:rPr>
              <a:t>Know What You’re Looking For</a:t>
            </a:r>
          </a:p>
        </p:txBody>
      </p:sp>
      <p:sp>
        <p:nvSpPr>
          <p:cNvPr name="TextBox 7" id="7"/>
          <p:cNvSpPr txBox="true"/>
          <p:nvPr/>
        </p:nvSpPr>
        <p:spPr>
          <a:xfrm rot="0">
            <a:off x="1080049" y="2323652"/>
            <a:ext cx="16127911" cy="1532334"/>
          </a:xfrm>
          <a:prstGeom prst="rect">
            <a:avLst/>
          </a:prstGeom>
        </p:spPr>
        <p:txBody>
          <a:bodyPr anchor="t" rtlCol="false" tIns="0" lIns="0" bIns="0" rIns="0">
            <a:spAutoFit/>
          </a:bodyPr>
          <a:lstStyle/>
          <a:p>
            <a:pPr algn="l">
              <a:lnSpc>
                <a:spcPts val="3643"/>
              </a:lnSpc>
            </a:pPr>
            <a:r>
              <a:rPr lang="en-US" sz="2300">
                <a:solidFill>
                  <a:srgbClr val="2C2926"/>
                </a:solidFill>
                <a:latin typeface="Inter"/>
                <a:ea typeface="Inter"/>
                <a:cs typeface="Inter"/>
                <a:sym typeface="Inter"/>
              </a:rPr>
              <a:t>Before applying, define your target role, industry and location preferences. Narrowing your search saves time and improves application quality. Use role level, sector and location as primary filters and list must-have vs nice-to-have criteria.</a:t>
            </a:r>
          </a:p>
        </p:txBody>
      </p:sp>
      <p:grpSp>
        <p:nvGrpSpPr>
          <p:cNvPr name="Group 8" id="8"/>
          <p:cNvGrpSpPr/>
          <p:nvPr/>
        </p:nvGrpSpPr>
        <p:grpSpPr>
          <a:xfrm rot="0">
            <a:off x="1075287" y="4187581"/>
            <a:ext cx="3817144" cy="3219002"/>
            <a:chOff x="0" y="0"/>
            <a:chExt cx="5089525" cy="4292003"/>
          </a:xfrm>
        </p:grpSpPr>
        <p:sp>
          <p:nvSpPr>
            <p:cNvPr name="Freeform 9" id="9"/>
            <p:cNvSpPr/>
            <p:nvPr/>
          </p:nvSpPr>
          <p:spPr>
            <a:xfrm flipH="false" flipV="false" rot="0">
              <a:off x="0" y="0"/>
              <a:ext cx="5089525" cy="4291965"/>
            </a:xfrm>
            <a:custGeom>
              <a:avLst/>
              <a:gdLst/>
              <a:ahLst/>
              <a:cxnLst/>
              <a:rect r="r" b="b" t="t" l="l"/>
              <a:pathLst>
                <a:path h="4291965" w="5089525">
                  <a:moveTo>
                    <a:pt x="0" y="170561"/>
                  </a:moveTo>
                  <a:cubicBezTo>
                    <a:pt x="0" y="76327"/>
                    <a:pt x="76327" y="0"/>
                    <a:pt x="170561" y="0"/>
                  </a:cubicBezTo>
                  <a:lnTo>
                    <a:pt x="4918964" y="0"/>
                  </a:lnTo>
                  <a:cubicBezTo>
                    <a:pt x="5013198" y="0"/>
                    <a:pt x="5089525" y="76327"/>
                    <a:pt x="5089525" y="170561"/>
                  </a:cubicBezTo>
                  <a:lnTo>
                    <a:pt x="5089525" y="4121404"/>
                  </a:lnTo>
                  <a:cubicBezTo>
                    <a:pt x="5089525" y="4215638"/>
                    <a:pt x="5013198" y="4291965"/>
                    <a:pt x="4918964" y="4291965"/>
                  </a:cubicBezTo>
                  <a:lnTo>
                    <a:pt x="170561" y="4291965"/>
                  </a:lnTo>
                  <a:cubicBezTo>
                    <a:pt x="76327" y="4291965"/>
                    <a:pt x="0" y="4215638"/>
                    <a:pt x="0" y="4121404"/>
                  </a:cubicBezTo>
                  <a:close/>
                </a:path>
              </a:pathLst>
            </a:custGeom>
            <a:solidFill>
              <a:srgbClr val="FFFFFF"/>
            </a:solidFill>
            <a:ln w="9526" cap="sq">
              <a:solidFill>
                <a:srgbClr val="F8ECD3"/>
              </a:solidFill>
              <a:prstDash val="solid"/>
              <a:miter/>
            </a:ln>
          </p:spPr>
        </p:sp>
      </p:grpSp>
      <p:sp>
        <p:nvSpPr>
          <p:cNvPr name="TextBox 10" id="10"/>
          <p:cNvSpPr txBox="true"/>
          <p:nvPr/>
        </p:nvSpPr>
        <p:spPr>
          <a:xfrm rot="0">
            <a:off x="1393327" y="4477045"/>
            <a:ext cx="3181055" cy="503339"/>
          </a:xfrm>
          <a:prstGeom prst="rect">
            <a:avLst/>
          </a:prstGeom>
        </p:spPr>
        <p:txBody>
          <a:bodyPr anchor="t" rtlCol="false" tIns="0" lIns="0" bIns="0" rIns="0">
            <a:spAutoFit/>
          </a:bodyPr>
          <a:lstStyle/>
          <a:p>
            <a:pPr algn="l">
              <a:lnSpc>
                <a:spcPts val="3619"/>
              </a:lnSpc>
            </a:pPr>
            <a:r>
              <a:rPr lang="en-US" sz="2900">
                <a:solidFill>
                  <a:srgbClr val="2C2926"/>
                </a:solidFill>
                <a:latin typeface="Bricolage Grotesque"/>
                <a:ea typeface="Bricolage Grotesque"/>
                <a:cs typeface="Bricolage Grotesque"/>
                <a:sym typeface="Bricolage Grotesque"/>
              </a:rPr>
              <a:t>Role</a:t>
            </a:r>
          </a:p>
        </p:txBody>
      </p:sp>
      <p:sp>
        <p:nvSpPr>
          <p:cNvPr name="TextBox 11" id="11"/>
          <p:cNvSpPr txBox="true"/>
          <p:nvPr/>
        </p:nvSpPr>
        <p:spPr>
          <a:xfrm rot="0">
            <a:off x="1393327" y="5073996"/>
            <a:ext cx="3181055" cy="1050131"/>
          </a:xfrm>
          <a:prstGeom prst="rect">
            <a:avLst/>
          </a:prstGeom>
        </p:spPr>
        <p:txBody>
          <a:bodyPr anchor="t" rtlCol="false" tIns="0" lIns="0" bIns="0" rIns="0">
            <a:spAutoFit/>
          </a:bodyPr>
          <a:lstStyle/>
          <a:p>
            <a:pPr algn="l">
              <a:lnSpc>
                <a:spcPts val="3643"/>
              </a:lnSpc>
            </a:pPr>
            <a:r>
              <a:rPr lang="en-US" sz="2300">
                <a:solidFill>
                  <a:srgbClr val="2C2926"/>
                </a:solidFill>
                <a:latin typeface="Inter"/>
                <a:ea typeface="Inter"/>
                <a:cs typeface="Inter"/>
                <a:sym typeface="Inter"/>
              </a:rPr>
              <a:t>Title, seniority, core responsibilities</a:t>
            </a:r>
          </a:p>
        </p:txBody>
      </p:sp>
      <p:grpSp>
        <p:nvGrpSpPr>
          <p:cNvPr name="Group 12" id="12"/>
          <p:cNvGrpSpPr/>
          <p:nvPr/>
        </p:nvGrpSpPr>
        <p:grpSpPr>
          <a:xfrm rot="0">
            <a:off x="5181895" y="4187581"/>
            <a:ext cx="3817296" cy="3219002"/>
            <a:chOff x="0" y="0"/>
            <a:chExt cx="5089728" cy="4292003"/>
          </a:xfrm>
        </p:grpSpPr>
        <p:sp>
          <p:nvSpPr>
            <p:cNvPr name="Freeform 13" id="13"/>
            <p:cNvSpPr/>
            <p:nvPr/>
          </p:nvSpPr>
          <p:spPr>
            <a:xfrm flipH="false" flipV="false" rot="0">
              <a:off x="0" y="0"/>
              <a:ext cx="5089652" cy="4291965"/>
            </a:xfrm>
            <a:custGeom>
              <a:avLst/>
              <a:gdLst/>
              <a:ahLst/>
              <a:cxnLst/>
              <a:rect r="r" b="b" t="t" l="l"/>
              <a:pathLst>
                <a:path h="4291965" w="5089652">
                  <a:moveTo>
                    <a:pt x="0" y="170561"/>
                  </a:moveTo>
                  <a:cubicBezTo>
                    <a:pt x="0" y="76327"/>
                    <a:pt x="76327" y="0"/>
                    <a:pt x="170561" y="0"/>
                  </a:cubicBezTo>
                  <a:lnTo>
                    <a:pt x="4919091" y="0"/>
                  </a:lnTo>
                  <a:cubicBezTo>
                    <a:pt x="5013325" y="0"/>
                    <a:pt x="5089652" y="76327"/>
                    <a:pt x="5089652" y="170561"/>
                  </a:cubicBezTo>
                  <a:lnTo>
                    <a:pt x="5089652" y="4121404"/>
                  </a:lnTo>
                  <a:cubicBezTo>
                    <a:pt x="5089652" y="4215638"/>
                    <a:pt x="5013325" y="4291965"/>
                    <a:pt x="4919091" y="4291965"/>
                  </a:cubicBezTo>
                  <a:lnTo>
                    <a:pt x="170561" y="4291965"/>
                  </a:lnTo>
                  <a:cubicBezTo>
                    <a:pt x="76327" y="4291965"/>
                    <a:pt x="0" y="4215638"/>
                    <a:pt x="0" y="4121404"/>
                  </a:cubicBezTo>
                  <a:close/>
                </a:path>
              </a:pathLst>
            </a:custGeom>
            <a:solidFill>
              <a:srgbClr val="FFFFFF"/>
            </a:solidFill>
            <a:ln w="9526" cap="sq">
              <a:solidFill>
                <a:srgbClr val="F8ECD3"/>
              </a:solidFill>
              <a:prstDash val="solid"/>
              <a:miter/>
            </a:ln>
          </p:spPr>
        </p:sp>
      </p:grpSp>
      <p:sp>
        <p:nvSpPr>
          <p:cNvPr name="TextBox 14" id="14"/>
          <p:cNvSpPr txBox="true"/>
          <p:nvPr/>
        </p:nvSpPr>
        <p:spPr>
          <a:xfrm rot="0">
            <a:off x="5499945" y="4477045"/>
            <a:ext cx="3181198" cy="503339"/>
          </a:xfrm>
          <a:prstGeom prst="rect">
            <a:avLst/>
          </a:prstGeom>
        </p:spPr>
        <p:txBody>
          <a:bodyPr anchor="t" rtlCol="false" tIns="0" lIns="0" bIns="0" rIns="0">
            <a:spAutoFit/>
          </a:bodyPr>
          <a:lstStyle/>
          <a:p>
            <a:pPr algn="l">
              <a:lnSpc>
                <a:spcPts val="3619"/>
              </a:lnSpc>
            </a:pPr>
            <a:r>
              <a:rPr lang="en-US" sz="2900">
                <a:solidFill>
                  <a:srgbClr val="2C2926"/>
                </a:solidFill>
                <a:latin typeface="Bricolage Grotesque"/>
                <a:ea typeface="Bricolage Grotesque"/>
                <a:cs typeface="Bricolage Grotesque"/>
                <a:sym typeface="Bricolage Grotesque"/>
              </a:rPr>
              <a:t>Industry</a:t>
            </a:r>
          </a:p>
        </p:txBody>
      </p:sp>
      <p:sp>
        <p:nvSpPr>
          <p:cNvPr name="TextBox 15" id="15"/>
          <p:cNvSpPr txBox="true"/>
          <p:nvPr/>
        </p:nvSpPr>
        <p:spPr>
          <a:xfrm rot="0">
            <a:off x="5499945" y="5073996"/>
            <a:ext cx="3181198" cy="2014537"/>
          </a:xfrm>
          <a:prstGeom prst="rect">
            <a:avLst/>
          </a:prstGeom>
        </p:spPr>
        <p:txBody>
          <a:bodyPr anchor="t" rtlCol="false" tIns="0" lIns="0" bIns="0" rIns="0">
            <a:spAutoFit/>
          </a:bodyPr>
          <a:lstStyle/>
          <a:p>
            <a:pPr algn="l">
              <a:lnSpc>
                <a:spcPts val="3643"/>
              </a:lnSpc>
            </a:pPr>
            <a:r>
              <a:rPr lang="en-US" sz="2300">
                <a:solidFill>
                  <a:srgbClr val="2C2926"/>
                </a:solidFill>
                <a:latin typeface="Inter"/>
                <a:ea typeface="Inter"/>
                <a:cs typeface="Inter"/>
                <a:sym typeface="Inter"/>
              </a:rPr>
              <a:t>Finance, tech, healthcare, construction, hospitality, etc.</a:t>
            </a:r>
          </a:p>
        </p:txBody>
      </p:sp>
      <p:grpSp>
        <p:nvGrpSpPr>
          <p:cNvPr name="Group 16" id="16"/>
          <p:cNvGrpSpPr/>
          <p:nvPr/>
        </p:nvGrpSpPr>
        <p:grpSpPr>
          <a:xfrm rot="0">
            <a:off x="9288666" y="4187581"/>
            <a:ext cx="3817296" cy="3219002"/>
            <a:chOff x="0" y="0"/>
            <a:chExt cx="5089728" cy="4292003"/>
          </a:xfrm>
        </p:grpSpPr>
        <p:sp>
          <p:nvSpPr>
            <p:cNvPr name="Freeform 17" id="17"/>
            <p:cNvSpPr/>
            <p:nvPr/>
          </p:nvSpPr>
          <p:spPr>
            <a:xfrm flipH="false" flipV="false" rot="0">
              <a:off x="0" y="0"/>
              <a:ext cx="5089652" cy="4291965"/>
            </a:xfrm>
            <a:custGeom>
              <a:avLst/>
              <a:gdLst/>
              <a:ahLst/>
              <a:cxnLst/>
              <a:rect r="r" b="b" t="t" l="l"/>
              <a:pathLst>
                <a:path h="4291965" w="5089652">
                  <a:moveTo>
                    <a:pt x="0" y="170561"/>
                  </a:moveTo>
                  <a:cubicBezTo>
                    <a:pt x="0" y="76327"/>
                    <a:pt x="76327" y="0"/>
                    <a:pt x="170561" y="0"/>
                  </a:cubicBezTo>
                  <a:lnTo>
                    <a:pt x="4919091" y="0"/>
                  </a:lnTo>
                  <a:cubicBezTo>
                    <a:pt x="5013325" y="0"/>
                    <a:pt x="5089652" y="76327"/>
                    <a:pt x="5089652" y="170561"/>
                  </a:cubicBezTo>
                  <a:lnTo>
                    <a:pt x="5089652" y="4121404"/>
                  </a:lnTo>
                  <a:cubicBezTo>
                    <a:pt x="5089652" y="4215638"/>
                    <a:pt x="5013325" y="4291965"/>
                    <a:pt x="4919091" y="4291965"/>
                  </a:cubicBezTo>
                  <a:lnTo>
                    <a:pt x="170561" y="4291965"/>
                  </a:lnTo>
                  <a:cubicBezTo>
                    <a:pt x="76327" y="4291965"/>
                    <a:pt x="0" y="4215638"/>
                    <a:pt x="0" y="4121404"/>
                  </a:cubicBezTo>
                  <a:close/>
                </a:path>
              </a:pathLst>
            </a:custGeom>
            <a:solidFill>
              <a:srgbClr val="FFFFFF"/>
            </a:solidFill>
            <a:ln w="9526" cap="sq">
              <a:solidFill>
                <a:srgbClr val="F8ECD3"/>
              </a:solidFill>
              <a:prstDash val="solid"/>
              <a:miter/>
            </a:ln>
          </p:spPr>
        </p:sp>
      </p:grpSp>
      <p:sp>
        <p:nvSpPr>
          <p:cNvPr name="TextBox 18" id="18"/>
          <p:cNvSpPr txBox="true"/>
          <p:nvPr/>
        </p:nvSpPr>
        <p:spPr>
          <a:xfrm rot="0">
            <a:off x="9606705" y="4477045"/>
            <a:ext cx="3181198" cy="503339"/>
          </a:xfrm>
          <a:prstGeom prst="rect">
            <a:avLst/>
          </a:prstGeom>
        </p:spPr>
        <p:txBody>
          <a:bodyPr anchor="t" rtlCol="false" tIns="0" lIns="0" bIns="0" rIns="0">
            <a:spAutoFit/>
          </a:bodyPr>
          <a:lstStyle/>
          <a:p>
            <a:pPr algn="l">
              <a:lnSpc>
                <a:spcPts val="3619"/>
              </a:lnSpc>
            </a:pPr>
            <a:r>
              <a:rPr lang="en-US" sz="2900">
                <a:solidFill>
                  <a:srgbClr val="2C2926"/>
                </a:solidFill>
                <a:latin typeface="Bricolage Grotesque"/>
                <a:ea typeface="Bricolage Grotesque"/>
                <a:cs typeface="Bricolage Grotesque"/>
                <a:sym typeface="Bricolage Grotesque"/>
              </a:rPr>
              <a:t>Location</a:t>
            </a:r>
          </a:p>
        </p:txBody>
      </p:sp>
      <p:sp>
        <p:nvSpPr>
          <p:cNvPr name="TextBox 19" id="19"/>
          <p:cNvSpPr txBox="true"/>
          <p:nvPr/>
        </p:nvSpPr>
        <p:spPr>
          <a:xfrm rot="0">
            <a:off x="9606705" y="5073996"/>
            <a:ext cx="3181198" cy="1532334"/>
          </a:xfrm>
          <a:prstGeom prst="rect">
            <a:avLst/>
          </a:prstGeom>
        </p:spPr>
        <p:txBody>
          <a:bodyPr anchor="t" rtlCol="false" tIns="0" lIns="0" bIns="0" rIns="0">
            <a:spAutoFit/>
          </a:bodyPr>
          <a:lstStyle/>
          <a:p>
            <a:pPr algn="l">
              <a:lnSpc>
                <a:spcPts val="3643"/>
              </a:lnSpc>
            </a:pPr>
            <a:r>
              <a:rPr lang="en-US" sz="2300">
                <a:solidFill>
                  <a:srgbClr val="2C2926"/>
                </a:solidFill>
                <a:latin typeface="Inter"/>
                <a:ea typeface="Inter"/>
                <a:cs typeface="Inter"/>
                <a:sym typeface="Inter"/>
              </a:rPr>
              <a:t>Prefer city, country, remote options and visa considerations</a:t>
            </a:r>
          </a:p>
        </p:txBody>
      </p:sp>
      <p:grpSp>
        <p:nvGrpSpPr>
          <p:cNvPr name="Group 20" id="20"/>
          <p:cNvGrpSpPr/>
          <p:nvPr/>
        </p:nvGrpSpPr>
        <p:grpSpPr>
          <a:xfrm rot="0">
            <a:off x="13395427" y="4187581"/>
            <a:ext cx="3817296" cy="3219002"/>
            <a:chOff x="0" y="0"/>
            <a:chExt cx="5089728" cy="4292003"/>
          </a:xfrm>
        </p:grpSpPr>
        <p:sp>
          <p:nvSpPr>
            <p:cNvPr name="Freeform 21" id="21"/>
            <p:cNvSpPr/>
            <p:nvPr/>
          </p:nvSpPr>
          <p:spPr>
            <a:xfrm flipH="false" flipV="false" rot="0">
              <a:off x="0" y="0"/>
              <a:ext cx="5089652" cy="4291965"/>
            </a:xfrm>
            <a:custGeom>
              <a:avLst/>
              <a:gdLst/>
              <a:ahLst/>
              <a:cxnLst/>
              <a:rect r="r" b="b" t="t" l="l"/>
              <a:pathLst>
                <a:path h="4291965" w="5089652">
                  <a:moveTo>
                    <a:pt x="0" y="170561"/>
                  </a:moveTo>
                  <a:cubicBezTo>
                    <a:pt x="0" y="76327"/>
                    <a:pt x="76327" y="0"/>
                    <a:pt x="170561" y="0"/>
                  </a:cubicBezTo>
                  <a:lnTo>
                    <a:pt x="4919091" y="0"/>
                  </a:lnTo>
                  <a:cubicBezTo>
                    <a:pt x="5013325" y="0"/>
                    <a:pt x="5089652" y="76327"/>
                    <a:pt x="5089652" y="170561"/>
                  </a:cubicBezTo>
                  <a:lnTo>
                    <a:pt x="5089652" y="4121404"/>
                  </a:lnTo>
                  <a:cubicBezTo>
                    <a:pt x="5089652" y="4215638"/>
                    <a:pt x="5013325" y="4291965"/>
                    <a:pt x="4919091" y="4291965"/>
                  </a:cubicBezTo>
                  <a:lnTo>
                    <a:pt x="170561" y="4291965"/>
                  </a:lnTo>
                  <a:cubicBezTo>
                    <a:pt x="76327" y="4291965"/>
                    <a:pt x="0" y="4215638"/>
                    <a:pt x="0" y="4121404"/>
                  </a:cubicBezTo>
                  <a:close/>
                </a:path>
              </a:pathLst>
            </a:custGeom>
            <a:solidFill>
              <a:srgbClr val="FFFFFF"/>
            </a:solidFill>
            <a:ln w="9526" cap="sq">
              <a:solidFill>
                <a:srgbClr val="F8ECD3"/>
              </a:solidFill>
              <a:prstDash val="solid"/>
              <a:miter/>
            </a:ln>
          </p:spPr>
        </p:sp>
      </p:grpSp>
      <p:sp>
        <p:nvSpPr>
          <p:cNvPr name="TextBox 22" id="22"/>
          <p:cNvSpPr txBox="true"/>
          <p:nvPr/>
        </p:nvSpPr>
        <p:spPr>
          <a:xfrm rot="0">
            <a:off x="13713466" y="4477045"/>
            <a:ext cx="3181198" cy="978103"/>
          </a:xfrm>
          <a:prstGeom prst="rect">
            <a:avLst/>
          </a:prstGeom>
        </p:spPr>
        <p:txBody>
          <a:bodyPr anchor="t" rtlCol="false" tIns="0" lIns="0" bIns="0" rIns="0">
            <a:spAutoFit/>
          </a:bodyPr>
          <a:lstStyle/>
          <a:p>
            <a:pPr algn="l">
              <a:lnSpc>
                <a:spcPts val="3619"/>
              </a:lnSpc>
            </a:pPr>
            <a:r>
              <a:rPr lang="en-US" sz="2900">
                <a:solidFill>
                  <a:srgbClr val="2C2926"/>
                </a:solidFill>
                <a:latin typeface="Bricolage Grotesque"/>
                <a:ea typeface="Bricolage Grotesque"/>
                <a:cs typeface="Bricolage Grotesque"/>
                <a:sym typeface="Bricolage Grotesque"/>
              </a:rPr>
              <a:t>Compensation &amp; Benefits</a:t>
            </a:r>
          </a:p>
        </p:txBody>
      </p:sp>
      <p:sp>
        <p:nvSpPr>
          <p:cNvPr name="TextBox 23" id="23"/>
          <p:cNvSpPr txBox="true"/>
          <p:nvPr/>
        </p:nvSpPr>
        <p:spPr>
          <a:xfrm rot="0">
            <a:off x="13713466" y="5548760"/>
            <a:ext cx="3181198" cy="1532334"/>
          </a:xfrm>
          <a:prstGeom prst="rect">
            <a:avLst/>
          </a:prstGeom>
        </p:spPr>
        <p:txBody>
          <a:bodyPr anchor="t" rtlCol="false" tIns="0" lIns="0" bIns="0" rIns="0">
            <a:spAutoFit/>
          </a:bodyPr>
          <a:lstStyle/>
          <a:p>
            <a:pPr algn="l">
              <a:lnSpc>
                <a:spcPts val="3643"/>
              </a:lnSpc>
            </a:pPr>
            <a:r>
              <a:rPr lang="en-US" sz="2300">
                <a:solidFill>
                  <a:srgbClr val="2C2926"/>
                </a:solidFill>
                <a:latin typeface="Inter"/>
                <a:ea typeface="Inter"/>
                <a:cs typeface="Inter"/>
                <a:sym typeface="Inter"/>
              </a:rPr>
              <a:t>Salary band, housing, transport, healthcare expectations</a:t>
            </a:r>
          </a:p>
        </p:txBody>
      </p:sp>
      <p:sp>
        <p:nvSpPr>
          <p:cNvPr name="TextBox 24" id="24"/>
          <p:cNvSpPr txBox="true"/>
          <p:nvPr/>
        </p:nvSpPr>
        <p:spPr>
          <a:xfrm rot="0">
            <a:off x="1080049" y="7652442"/>
            <a:ext cx="16127911" cy="1050131"/>
          </a:xfrm>
          <a:prstGeom prst="rect">
            <a:avLst/>
          </a:prstGeom>
        </p:spPr>
        <p:txBody>
          <a:bodyPr anchor="t" rtlCol="false" tIns="0" lIns="0" bIns="0" rIns="0">
            <a:spAutoFit/>
          </a:bodyPr>
          <a:lstStyle/>
          <a:p>
            <a:pPr algn="l">
              <a:lnSpc>
                <a:spcPts val="3643"/>
              </a:lnSpc>
            </a:pPr>
            <a:r>
              <a:rPr lang="en-US" sz="2300">
                <a:solidFill>
                  <a:srgbClr val="2C2926"/>
                </a:solidFill>
                <a:latin typeface="Inter"/>
                <a:ea typeface="Inter"/>
                <a:cs typeface="Inter"/>
                <a:sym typeface="Inter"/>
              </a:rPr>
              <a:t>Write a short target statement: one or two sentences that describe your ideal next role. Keep it visible while you apply — it helps tailor each application quickly.</a:t>
            </a:r>
          </a:p>
        </p:txBody>
      </p:sp>
      <p:sp>
        <p:nvSpPr>
          <p:cNvPr name="TextBox 25" id="25"/>
          <p:cNvSpPr txBox="true"/>
          <p:nvPr/>
        </p:nvSpPr>
        <p:spPr>
          <a:xfrm rot="0">
            <a:off x="1080049" y="8962730"/>
            <a:ext cx="17042311" cy="461962"/>
          </a:xfrm>
          <a:prstGeom prst="rect">
            <a:avLst/>
          </a:prstGeom>
        </p:spPr>
        <p:txBody>
          <a:bodyPr anchor="t" rtlCol="false" tIns="0" lIns="0" bIns="0" rIns="0">
            <a:spAutoFit/>
          </a:bodyPr>
          <a:lstStyle/>
          <a:p>
            <a:pPr algn="l">
              <a:lnSpc>
                <a:spcPts val="3009"/>
              </a:lnSpc>
            </a:pPr>
            <a:r>
              <a:rPr lang="en-US" sz="1900">
                <a:solidFill>
                  <a:srgbClr val="2C2926"/>
                </a:solidFill>
                <a:latin typeface="Inter"/>
                <a:ea typeface="Inter"/>
                <a:cs typeface="Inter"/>
                <a:sym typeface="Inter"/>
              </a:rPr>
              <a:t>Page 3 • Self‑clarity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sp>
        <p:nvSpPr>
          <p:cNvPr name="TextBox 6" id="6"/>
          <p:cNvSpPr txBox="true"/>
          <p:nvPr/>
        </p:nvSpPr>
        <p:spPr>
          <a:xfrm rot="0">
            <a:off x="1080049" y="901303"/>
            <a:ext cx="16127911" cy="842220"/>
          </a:xfrm>
          <a:prstGeom prst="rect">
            <a:avLst/>
          </a:prstGeom>
        </p:spPr>
        <p:txBody>
          <a:bodyPr anchor="t" rtlCol="false" tIns="0" lIns="0" bIns="0" rIns="0">
            <a:spAutoFit/>
          </a:bodyPr>
          <a:lstStyle/>
          <a:p>
            <a:pPr algn="l">
              <a:lnSpc>
                <a:spcPts val="6364"/>
              </a:lnSpc>
            </a:pPr>
            <a:r>
              <a:rPr lang="en-US" sz="5100">
                <a:solidFill>
                  <a:srgbClr val="2C2926"/>
                </a:solidFill>
                <a:latin typeface="Bricolage Grotesque"/>
                <a:ea typeface="Bricolage Grotesque"/>
                <a:cs typeface="Bricolage Grotesque"/>
                <a:sym typeface="Bricolage Grotesque"/>
              </a:rPr>
              <a:t>Gulf Job Search Preparation Checklist</a:t>
            </a:r>
          </a:p>
        </p:txBody>
      </p:sp>
      <p:sp>
        <p:nvSpPr>
          <p:cNvPr name="TextBox 7" id="7"/>
          <p:cNvSpPr txBox="true"/>
          <p:nvPr/>
        </p:nvSpPr>
        <p:spPr>
          <a:xfrm rot="0">
            <a:off x="1080049" y="2125713"/>
            <a:ext cx="16127911" cy="825398"/>
          </a:xfrm>
          <a:prstGeom prst="rect">
            <a:avLst/>
          </a:prstGeom>
        </p:spPr>
        <p:txBody>
          <a:bodyPr anchor="t" rtlCol="false" tIns="0" lIns="0" bIns="0" rIns="0">
            <a:spAutoFit/>
          </a:bodyPr>
          <a:lstStyle/>
          <a:p>
            <a:pPr algn="l">
              <a:lnSpc>
                <a:spcPts val="2952"/>
              </a:lnSpc>
            </a:pPr>
            <a:r>
              <a:rPr lang="en-US" sz="2000">
                <a:solidFill>
                  <a:srgbClr val="2C2926"/>
                </a:solidFill>
                <a:latin typeface="Inter"/>
                <a:ea typeface="Inter"/>
                <a:cs typeface="Inter"/>
                <a:sym typeface="Inter"/>
              </a:rPr>
              <a:t>Prepare the essentials so you can apply quickly and professionally. This checklist covers profile assets, documents and account setup.</a:t>
            </a:r>
          </a:p>
        </p:txBody>
      </p:sp>
      <p:grpSp>
        <p:nvGrpSpPr>
          <p:cNvPr name="Group 8" id="8"/>
          <p:cNvGrpSpPr/>
          <p:nvPr/>
        </p:nvGrpSpPr>
        <p:grpSpPr>
          <a:xfrm rot="0">
            <a:off x="1080049" y="3198171"/>
            <a:ext cx="520751" cy="325488"/>
            <a:chOff x="0" y="0"/>
            <a:chExt cx="694334" cy="433984"/>
          </a:xfrm>
        </p:grpSpPr>
        <p:sp>
          <p:nvSpPr>
            <p:cNvPr name="Freeform 9" id="9"/>
            <p:cNvSpPr/>
            <p:nvPr/>
          </p:nvSpPr>
          <p:spPr>
            <a:xfrm flipH="false" flipV="false" rot="0">
              <a:off x="0" y="0"/>
              <a:ext cx="694333" cy="433984"/>
            </a:xfrm>
            <a:custGeom>
              <a:avLst/>
              <a:gdLst/>
              <a:ahLst/>
              <a:cxnLst/>
              <a:rect r="r" b="b" t="t" l="l"/>
              <a:pathLst>
                <a:path h="433984" w="694333">
                  <a:moveTo>
                    <a:pt x="0" y="0"/>
                  </a:moveTo>
                  <a:lnTo>
                    <a:pt x="694333" y="0"/>
                  </a:lnTo>
                  <a:lnTo>
                    <a:pt x="694333" y="433984"/>
                  </a:lnTo>
                  <a:lnTo>
                    <a:pt x="0" y="433984"/>
                  </a:lnTo>
                  <a:close/>
                </a:path>
              </a:pathLst>
            </a:custGeom>
            <a:blipFill>
              <a:blip r:embed="rId4">
                <a:alphaModFix amt="0"/>
              </a:blip>
              <a:stretch>
                <a:fillRect l="-30194" t="0" r="-30194" b="0"/>
              </a:stretch>
            </a:blipFill>
          </p:spPr>
        </p:sp>
        <p:sp>
          <p:nvSpPr>
            <p:cNvPr name="TextBox 10" id="10"/>
            <p:cNvSpPr txBox="true"/>
            <p:nvPr/>
          </p:nvSpPr>
          <p:spPr>
            <a:xfrm>
              <a:off x="0" y="-9525"/>
              <a:ext cx="694334" cy="443509"/>
            </a:xfrm>
            <a:prstGeom prst="rect">
              <a:avLst/>
            </a:prstGeom>
          </p:spPr>
          <p:txBody>
            <a:bodyPr anchor="ctr" rtlCol="false" tIns="0" lIns="0" bIns="0" rIns="0"/>
            <a:lstStyle/>
            <a:p>
              <a:pPr algn="l">
                <a:lnSpc>
                  <a:spcPts val="2400"/>
                </a:lnSpc>
              </a:pPr>
              <a:r>
                <a:rPr lang="en-US" sz="2000">
                  <a:solidFill>
                    <a:srgbClr val="2C2926"/>
                  </a:solidFill>
                  <a:latin typeface="Bricolage Grotesque Light"/>
                  <a:ea typeface="Bricolage Grotesque Light"/>
                  <a:cs typeface="Bricolage Grotesque Light"/>
                  <a:sym typeface="Bricolage Grotesque Light"/>
                </a:rPr>
                <a:t>01</a:t>
              </a:r>
            </a:p>
          </p:txBody>
        </p:sp>
      </p:grpSp>
      <p:grpSp>
        <p:nvGrpSpPr>
          <p:cNvPr name="Group 11" id="11"/>
          <p:cNvGrpSpPr/>
          <p:nvPr/>
        </p:nvGrpSpPr>
        <p:grpSpPr>
          <a:xfrm rot="0">
            <a:off x="1080049" y="3612061"/>
            <a:ext cx="7954118" cy="28575"/>
            <a:chOff x="0" y="0"/>
            <a:chExt cx="10605491" cy="38100"/>
          </a:xfrm>
        </p:grpSpPr>
        <p:sp>
          <p:nvSpPr>
            <p:cNvPr name="Freeform 12" id="12"/>
            <p:cNvSpPr/>
            <p:nvPr/>
          </p:nvSpPr>
          <p:spPr>
            <a:xfrm flipH="false" flipV="false" rot="0">
              <a:off x="0" y="0"/>
              <a:ext cx="10605516" cy="38100"/>
            </a:xfrm>
            <a:custGeom>
              <a:avLst/>
              <a:gdLst/>
              <a:ahLst/>
              <a:cxnLst/>
              <a:rect r="r" b="b" t="t" l="l"/>
              <a:pathLst>
                <a:path h="38100" w="10605516">
                  <a:moveTo>
                    <a:pt x="0" y="0"/>
                  </a:moveTo>
                  <a:lnTo>
                    <a:pt x="10605516" y="0"/>
                  </a:lnTo>
                  <a:lnTo>
                    <a:pt x="10605516" y="38100"/>
                  </a:lnTo>
                  <a:lnTo>
                    <a:pt x="0" y="38100"/>
                  </a:lnTo>
                  <a:close/>
                </a:path>
              </a:pathLst>
            </a:custGeom>
            <a:solidFill>
              <a:srgbClr val="DA9B49"/>
            </a:solidFill>
          </p:spPr>
        </p:sp>
      </p:grpSp>
      <p:sp>
        <p:nvSpPr>
          <p:cNvPr name="TextBox 13" id="13"/>
          <p:cNvSpPr txBox="true"/>
          <p:nvPr/>
        </p:nvSpPr>
        <p:spPr>
          <a:xfrm rot="0">
            <a:off x="1080049" y="3780234"/>
            <a:ext cx="7954118" cy="425796"/>
          </a:xfrm>
          <a:prstGeom prst="rect">
            <a:avLst/>
          </a:prstGeom>
        </p:spPr>
        <p:txBody>
          <a:bodyPr anchor="t" rtlCol="false" tIns="0" lIns="0" bIns="0" rIns="0">
            <a:spAutoFit/>
          </a:bodyPr>
          <a:lstStyle/>
          <a:p>
            <a:pPr algn="l">
              <a:lnSpc>
                <a:spcPts val="3119"/>
              </a:lnSpc>
            </a:pPr>
            <a:r>
              <a:rPr lang="en-US" sz="2499">
                <a:solidFill>
                  <a:srgbClr val="2C2926"/>
                </a:solidFill>
                <a:latin typeface="Bricolage Grotesque"/>
                <a:ea typeface="Bricolage Grotesque"/>
                <a:cs typeface="Bricolage Grotesque"/>
                <a:sym typeface="Bricolage Grotesque"/>
              </a:rPr>
              <a:t>CV &amp; Resume</a:t>
            </a:r>
          </a:p>
        </p:txBody>
      </p:sp>
      <p:sp>
        <p:nvSpPr>
          <p:cNvPr name="TextBox 14" id="14"/>
          <p:cNvSpPr txBox="true"/>
          <p:nvPr/>
        </p:nvSpPr>
        <p:spPr>
          <a:xfrm rot="0">
            <a:off x="1080049" y="4280592"/>
            <a:ext cx="7954118" cy="825398"/>
          </a:xfrm>
          <a:prstGeom prst="rect">
            <a:avLst/>
          </a:prstGeom>
        </p:spPr>
        <p:txBody>
          <a:bodyPr anchor="t" rtlCol="false" tIns="0" lIns="0" bIns="0" rIns="0">
            <a:spAutoFit/>
          </a:bodyPr>
          <a:lstStyle/>
          <a:p>
            <a:pPr algn="l">
              <a:lnSpc>
                <a:spcPts val="2952"/>
              </a:lnSpc>
            </a:pPr>
            <a:r>
              <a:rPr lang="en-US" sz="2000">
                <a:solidFill>
                  <a:srgbClr val="2C2926"/>
                </a:solidFill>
                <a:latin typeface="Inter"/>
                <a:ea typeface="Inter"/>
                <a:cs typeface="Inter"/>
                <a:sym typeface="Inter"/>
              </a:rPr>
              <a:t>One-page concise resume, tailored for the role, with clear achievements and quantified results where possible.</a:t>
            </a:r>
          </a:p>
        </p:txBody>
      </p:sp>
      <p:grpSp>
        <p:nvGrpSpPr>
          <p:cNvPr name="Group 15" id="15"/>
          <p:cNvGrpSpPr/>
          <p:nvPr/>
        </p:nvGrpSpPr>
        <p:grpSpPr>
          <a:xfrm rot="0">
            <a:off x="9253833" y="3198171"/>
            <a:ext cx="520751" cy="325488"/>
            <a:chOff x="0" y="0"/>
            <a:chExt cx="694334" cy="433984"/>
          </a:xfrm>
        </p:grpSpPr>
        <p:sp>
          <p:nvSpPr>
            <p:cNvPr name="Freeform 16" id="16"/>
            <p:cNvSpPr/>
            <p:nvPr/>
          </p:nvSpPr>
          <p:spPr>
            <a:xfrm flipH="false" flipV="false" rot="0">
              <a:off x="0" y="0"/>
              <a:ext cx="694333" cy="433984"/>
            </a:xfrm>
            <a:custGeom>
              <a:avLst/>
              <a:gdLst/>
              <a:ahLst/>
              <a:cxnLst/>
              <a:rect r="r" b="b" t="t" l="l"/>
              <a:pathLst>
                <a:path h="433984" w="694333">
                  <a:moveTo>
                    <a:pt x="0" y="0"/>
                  </a:moveTo>
                  <a:lnTo>
                    <a:pt x="694333" y="0"/>
                  </a:lnTo>
                  <a:lnTo>
                    <a:pt x="694333" y="433984"/>
                  </a:lnTo>
                  <a:lnTo>
                    <a:pt x="0" y="433984"/>
                  </a:lnTo>
                  <a:close/>
                </a:path>
              </a:pathLst>
            </a:custGeom>
            <a:blipFill>
              <a:blip r:embed="rId4">
                <a:alphaModFix amt="0"/>
              </a:blip>
              <a:stretch>
                <a:fillRect l="-30194" t="0" r="-30194" b="0"/>
              </a:stretch>
            </a:blipFill>
          </p:spPr>
        </p:sp>
        <p:sp>
          <p:nvSpPr>
            <p:cNvPr name="TextBox 17" id="17"/>
            <p:cNvSpPr txBox="true"/>
            <p:nvPr/>
          </p:nvSpPr>
          <p:spPr>
            <a:xfrm>
              <a:off x="0" y="-9525"/>
              <a:ext cx="694334" cy="443509"/>
            </a:xfrm>
            <a:prstGeom prst="rect">
              <a:avLst/>
            </a:prstGeom>
          </p:spPr>
          <p:txBody>
            <a:bodyPr anchor="ctr" rtlCol="false" tIns="0" lIns="0" bIns="0" rIns="0"/>
            <a:lstStyle/>
            <a:p>
              <a:pPr algn="l">
                <a:lnSpc>
                  <a:spcPts val="2400"/>
                </a:lnSpc>
              </a:pPr>
              <a:r>
                <a:rPr lang="en-US" sz="2000">
                  <a:solidFill>
                    <a:srgbClr val="2C2926"/>
                  </a:solidFill>
                  <a:latin typeface="Bricolage Grotesque Light"/>
                  <a:ea typeface="Bricolage Grotesque Light"/>
                  <a:cs typeface="Bricolage Grotesque Light"/>
                  <a:sym typeface="Bricolage Grotesque Light"/>
                </a:rPr>
                <a:t>02</a:t>
              </a:r>
            </a:p>
          </p:txBody>
        </p:sp>
      </p:grpSp>
      <p:grpSp>
        <p:nvGrpSpPr>
          <p:cNvPr name="Group 18" id="18"/>
          <p:cNvGrpSpPr/>
          <p:nvPr/>
        </p:nvGrpSpPr>
        <p:grpSpPr>
          <a:xfrm rot="0">
            <a:off x="9253833" y="3612061"/>
            <a:ext cx="7954118" cy="28575"/>
            <a:chOff x="0" y="0"/>
            <a:chExt cx="10605491" cy="38100"/>
          </a:xfrm>
        </p:grpSpPr>
        <p:sp>
          <p:nvSpPr>
            <p:cNvPr name="Freeform 19" id="19"/>
            <p:cNvSpPr/>
            <p:nvPr/>
          </p:nvSpPr>
          <p:spPr>
            <a:xfrm flipH="false" flipV="false" rot="0">
              <a:off x="0" y="0"/>
              <a:ext cx="10605516" cy="38100"/>
            </a:xfrm>
            <a:custGeom>
              <a:avLst/>
              <a:gdLst/>
              <a:ahLst/>
              <a:cxnLst/>
              <a:rect r="r" b="b" t="t" l="l"/>
              <a:pathLst>
                <a:path h="38100" w="10605516">
                  <a:moveTo>
                    <a:pt x="0" y="0"/>
                  </a:moveTo>
                  <a:lnTo>
                    <a:pt x="10605516" y="0"/>
                  </a:lnTo>
                  <a:lnTo>
                    <a:pt x="10605516" y="38100"/>
                  </a:lnTo>
                  <a:lnTo>
                    <a:pt x="0" y="38100"/>
                  </a:lnTo>
                  <a:close/>
                </a:path>
              </a:pathLst>
            </a:custGeom>
            <a:solidFill>
              <a:srgbClr val="DA9B49"/>
            </a:solidFill>
          </p:spPr>
        </p:sp>
      </p:grpSp>
      <p:sp>
        <p:nvSpPr>
          <p:cNvPr name="TextBox 20" id="20"/>
          <p:cNvSpPr txBox="true"/>
          <p:nvPr/>
        </p:nvSpPr>
        <p:spPr>
          <a:xfrm rot="0">
            <a:off x="9253833" y="3780234"/>
            <a:ext cx="7954118" cy="425796"/>
          </a:xfrm>
          <a:prstGeom prst="rect">
            <a:avLst/>
          </a:prstGeom>
        </p:spPr>
        <p:txBody>
          <a:bodyPr anchor="t" rtlCol="false" tIns="0" lIns="0" bIns="0" rIns="0">
            <a:spAutoFit/>
          </a:bodyPr>
          <a:lstStyle/>
          <a:p>
            <a:pPr algn="l">
              <a:lnSpc>
                <a:spcPts val="3119"/>
              </a:lnSpc>
            </a:pPr>
            <a:r>
              <a:rPr lang="en-US" sz="2499">
                <a:solidFill>
                  <a:srgbClr val="2C2926"/>
                </a:solidFill>
                <a:latin typeface="Bricolage Grotesque"/>
                <a:ea typeface="Bricolage Grotesque"/>
                <a:cs typeface="Bricolage Grotesque"/>
                <a:sym typeface="Bricolage Grotesque"/>
              </a:rPr>
              <a:t>LinkedIn Profile</a:t>
            </a:r>
          </a:p>
        </p:txBody>
      </p:sp>
      <p:sp>
        <p:nvSpPr>
          <p:cNvPr name="TextBox 21" id="21"/>
          <p:cNvSpPr txBox="true"/>
          <p:nvPr/>
        </p:nvSpPr>
        <p:spPr>
          <a:xfrm rot="0">
            <a:off x="9253833" y="4280592"/>
            <a:ext cx="7954118" cy="825398"/>
          </a:xfrm>
          <a:prstGeom prst="rect">
            <a:avLst/>
          </a:prstGeom>
        </p:spPr>
        <p:txBody>
          <a:bodyPr anchor="t" rtlCol="false" tIns="0" lIns="0" bIns="0" rIns="0">
            <a:spAutoFit/>
          </a:bodyPr>
          <a:lstStyle/>
          <a:p>
            <a:pPr algn="l">
              <a:lnSpc>
                <a:spcPts val="2952"/>
              </a:lnSpc>
            </a:pPr>
            <a:r>
              <a:rPr lang="en-US" sz="2000">
                <a:solidFill>
                  <a:srgbClr val="2C2926"/>
                </a:solidFill>
                <a:latin typeface="Inter"/>
                <a:ea typeface="Inter"/>
                <a:cs typeface="Inter"/>
                <a:sym typeface="Inter"/>
              </a:rPr>
              <a:t>Professional photo, headline with role target, concise summary and up-to-date experience.</a:t>
            </a:r>
          </a:p>
        </p:txBody>
      </p:sp>
      <p:grpSp>
        <p:nvGrpSpPr>
          <p:cNvPr name="Group 22" id="22"/>
          <p:cNvGrpSpPr/>
          <p:nvPr/>
        </p:nvGrpSpPr>
        <p:grpSpPr>
          <a:xfrm rot="0">
            <a:off x="1080049" y="5520928"/>
            <a:ext cx="520751" cy="325488"/>
            <a:chOff x="0" y="0"/>
            <a:chExt cx="694334" cy="433984"/>
          </a:xfrm>
        </p:grpSpPr>
        <p:sp>
          <p:nvSpPr>
            <p:cNvPr name="Freeform 23" id="23"/>
            <p:cNvSpPr/>
            <p:nvPr/>
          </p:nvSpPr>
          <p:spPr>
            <a:xfrm flipH="false" flipV="false" rot="0">
              <a:off x="0" y="0"/>
              <a:ext cx="694333" cy="433984"/>
            </a:xfrm>
            <a:custGeom>
              <a:avLst/>
              <a:gdLst/>
              <a:ahLst/>
              <a:cxnLst/>
              <a:rect r="r" b="b" t="t" l="l"/>
              <a:pathLst>
                <a:path h="433984" w="694333">
                  <a:moveTo>
                    <a:pt x="0" y="0"/>
                  </a:moveTo>
                  <a:lnTo>
                    <a:pt x="694333" y="0"/>
                  </a:lnTo>
                  <a:lnTo>
                    <a:pt x="694333" y="433984"/>
                  </a:lnTo>
                  <a:lnTo>
                    <a:pt x="0" y="433984"/>
                  </a:lnTo>
                  <a:close/>
                </a:path>
              </a:pathLst>
            </a:custGeom>
            <a:blipFill>
              <a:blip r:embed="rId4">
                <a:alphaModFix amt="0"/>
              </a:blip>
              <a:stretch>
                <a:fillRect l="-30194" t="0" r="-30194" b="0"/>
              </a:stretch>
            </a:blipFill>
          </p:spPr>
        </p:sp>
        <p:sp>
          <p:nvSpPr>
            <p:cNvPr name="TextBox 24" id="24"/>
            <p:cNvSpPr txBox="true"/>
            <p:nvPr/>
          </p:nvSpPr>
          <p:spPr>
            <a:xfrm>
              <a:off x="0" y="-9525"/>
              <a:ext cx="694334" cy="443509"/>
            </a:xfrm>
            <a:prstGeom prst="rect">
              <a:avLst/>
            </a:prstGeom>
          </p:spPr>
          <p:txBody>
            <a:bodyPr anchor="ctr" rtlCol="false" tIns="0" lIns="0" bIns="0" rIns="0"/>
            <a:lstStyle/>
            <a:p>
              <a:pPr algn="l">
                <a:lnSpc>
                  <a:spcPts val="2400"/>
                </a:lnSpc>
              </a:pPr>
              <a:r>
                <a:rPr lang="en-US" sz="2000">
                  <a:solidFill>
                    <a:srgbClr val="2C2926"/>
                  </a:solidFill>
                  <a:latin typeface="Bricolage Grotesque Light"/>
                  <a:ea typeface="Bricolage Grotesque Light"/>
                  <a:cs typeface="Bricolage Grotesque Light"/>
                  <a:sym typeface="Bricolage Grotesque Light"/>
                </a:rPr>
                <a:t>03</a:t>
              </a:r>
            </a:p>
          </p:txBody>
        </p:sp>
      </p:grpSp>
      <p:grpSp>
        <p:nvGrpSpPr>
          <p:cNvPr name="Group 25" id="25"/>
          <p:cNvGrpSpPr/>
          <p:nvPr/>
        </p:nvGrpSpPr>
        <p:grpSpPr>
          <a:xfrm rot="0">
            <a:off x="1080049" y="5908919"/>
            <a:ext cx="7954118" cy="28575"/>
            <a:chOff x="0" y="0"/>
            <a:chExt cx="10605491" cy="38100"/>
          </a:xfrm>
        </p:grpSpPr>
        <p:sp>
          <p:nvSpPr>
            <p:cNvPr name="Freeform 26" id="26"/>
            <p:cNvSpPr/>
            <p:nvPr/>
          </p:nvSpPr>
          <p:spPr>
            <a:xfrm flipH="false" flipV="false" rot="0">
              <a:off x="0" y="0"/>
              <a:ext cx="10605516" cy="38100"/>
            </a:xfrm>
            <a:custGeom>
              <a:avLst/>
              <a:gdLst/>
              <a:ahLst/>
              <a:cxnLst/>
              <a:rect r="r" b="b" t="t" l="l"/>
              <a:pathLst>
                <a:path h="38100" w="10605516">
                  <a:moveTo>
                    <a:pt x="0" y="0"/>
                  </a:moveTo>
                  <a:lnTo>
                    <a:pt x="10605516" y="0"/>
                  </a:lnTo>
                  <a:lnTo>
                    <a:pt x="10605516" y="38100"/>
                  </a:lnTo>
                  <a:lnTo>
                    <a:pt x="0" y="38100"/>
                  </a:lnTo>
                  <a:close/>
                </a:path>
              </a:pathLst>
            </a:custGeom>
            <a:solidFill>
              <a:srgbClr val="DA9B49"/>
            </a:solidFill>
          </p:spPr>
        </p:sp>
      </p:grpSp>
      <p:sp>
        <p:nvSpPr>
          <p:cNvPr name="TextBox 27" id="27"/>
          <p:cNvSpPr txBox="true"/>
          <p:nvPr/>
        </p:nvSpPr>
        <p:spPr>
          <a:xfrm rot="0">
            <a:off x="1080049" y="6102991"/>
            <a:ext cx="7954118" cy="425796"/>
          </a:xfrm>
          <a:prstGeom prst="rect">
            <a:avLst/>
          </a:prstGeom>
        </p:spPr>
        <p:txBody>
          <a:bodyPr anchor="t" rtlCol="false" tIns="0" lIns="0" bIns="0" rIns="0">
            <a:spAutoFit/>
          </a:bodyPr>
          <a:lstStyle/>
          <a:p>
            <a:pPr algn="l">
              <a:lnSpc>
                <a:spcPts val="3119"/>
              </a:lnSpc>
            </a:pPr>
            <a:r>
              <a:rPr lang="en-US" sz="2499">
                <a:solidFill>
                  <a:srgbClr val="2C2926"/>
                </a:solidFill>
                <a:latin typeface="Bricolage Grotesque"/>
                <a:ea typeface="Bricolage Grotesque"/>
                <a:cs typeface="Bricolage Grotesque"/>
                <a:sym typeface="Bricolage Grotesque"/>
              </a:rPr>
              <a:t>Recruiter Profile</a:t>
            </a:r>
          </a:p>
        </p:txBody>
      </p:sp>
      <p:sp>
        <p:nvSpPr>
          <p:cNvPr name="TextBox 28" id="28"/>
          <p:cNvSpPr txBox="true"/>
          <p:nvPr/>
        </p:nvSpPr>
        <p:spPr>
          <a:xfrm rot="0">
            <a:off x="1080049" y="6603359"/>
            <a:ext cx="7954118" cy="825398"/>
          </a:xfrm>
          <a:prstGeom prst="rect">
            <a:avLst/>
          </a:prstGeom>
        </p:spPr>
        <p:txBody>
          <a:bodyPr anchor="t" rtlCol="false" tIns="0" lIns="0" bIns="0" rIns="0">
            <a:spAutoFit/>
          </a:bodyPr>
          <a:lstStyle/>
          <a:p>
            <a:pPr algn="l">
              <a:lnSpc>
                <a:spcPts val="2952"/>
              </a:lnSpc>
            </a:pPr>
            <a:r>
              <a:rPr lang="en-US" sz="2000">
                <a:solidFill>
                  <a:srgbClr val="2C2926"/>
                </a:solidFill>
                <a:latin typeface="Inter"/>
                <a:ea typeface="Inter"/>
                <a:cs typeface="Inter"/>
                <a:sym typeface="Inter"/>
              </a:rPr>
              <a:t>Create or update a Falayn profile with key skills, location and preferred contact method.</a:t>
            </a:r>
          </a:p>
        </p:txBody>
      </p:sp>
      <p:grpSp>
        <p:nvGrpSpPr>
          <p:cNvPr name="Group 29" id="29"/>
          <p:cNvGrpSpPr/>
          <p:nvPr/>
        </p:nvGrpSpPr>
        <p:grpSpPr>
          <a:xfrm rot="0">
            <a:off x="9253833" y="5520928"/>
            <a:ext cx="520751" cy="325488"/>
            <a:chOff x="0" y="0"/>
            <a:chExt cx="694334" cy="433984"/>
          </a:xfrm>
        </p:grpSpPr>
        <p:sp>
          <p:nvSpPr>
            <p:cNvPr name="Freeform 30" id="30"/>
            <p:cNvSpPr/>
            <p:nvPr/>
          </p:nvSpPr>
          <p:spPr>
            <a:xfrm flipH="false" flipV="false" rot="0">
              <a:off x="0" y="0"/>
              <a:ext cx="694333" cy="433984"/>
            </a:xfrm>
            <a:custGeom>
              <a:avLst/>
              <a:gdLst/>
              <a:ahLst/>
              <a:cxnLst/>
              <a:rect r="r" b="b" t="t" l="l"/>
              <a:pathLst>
                <a:path h="433984" w="694333">
                  <a:moveTo>
                    <a:pt x="0" y="0"/>
                  </a:moveTo>
                  <a:lnTo>
                    <a:pt x="694333" y="0"/>
                  </a:lnTo>
                  <a:lnTo>
                    <a:pt x="694333" y="433984"/>
                  </a:lnTo>
                  <a:lnTo>
                    <a:pt x="0" y="433984"/>
                  </a:lnTo>
                  <a:close/>
                </a:path>
              </a:pathLst>
            </a:custGeom>
            <a:blipFill>
              <a:blip r:embed="rId4">
                <a:alphaModFix amt="0"/>
              </a:blip>
              <a:stretch>
                <a:fillRect l="-30194" t="0" r="-30194" b="0"/>
              </a:stretch>
            </a:blipFill>
          </p:spPr>
        </p:sp>
        <p:sp>
          <p:nvSpPr>
            <p:cNvPr name="TextBox 31" id="31"/>
            <p:cNvSpPr txBox="true"/>
            <p:nvPr/>
          </p:nvSpPr>
          <p:spPr>
            <a:xfrm>
              <a:off x="0" y="-9525"/>
              <a:ext cx="694334" cy="443509"/>
            </a:xfrm>
            <a:prstGeom prst="rect">
              <a:avLst/>
            </a:prstGeom>
          </p:spPr>
          <p:txBody>
            <a:bodyPr anchor="ctr" rtlCol="false" tIns="0" lIns="0" bIns="0" rIns="0"/>
            <a:lstStyle/>
            <a:p>
              <a:pPr algn="l">
                <a:lnSpc>
                  <a:spcPts val="2400"/>
                </a:lnSpc>
              </a:pPr>
              <a:r>
                <a:rPr lang="en-US" sz="2000">
                  <a:solidFill>
                    <a:srgbClr val="2C2926"/>
                  </a:solidFill>
                  <a:latin typeface="Bricolage Grotesque Light"/>
                  <a:ea typeface="Bricolage Grotesque Light"/>
                  <a:cs typeface="Bricolage Grotesque Light"/>
                  <a:sym typeface="Bricolage Grotesque Light"/>
                </a:rPr>
                <a:t>04</a:t>
              </a:r>
            </a:p>
          </p:txBody>
        </p:sp>
      </p:grpSp>
      <p:grpSp>
        <p:nvGrpSpPr>
          <p:cNvPr name="Group 32" id="32"/>
          <p:cNvGrpSpPr/>
          <p:nvPr/>
        </p:nvGrpSpPr>
        <p:grpSpPr>
          <a:xfrm rot="0">
            <a:off x="9253833" y="5908919"/>
            <a:ext cx="7954118" cy="28575"/>
            <a:chOff x="0" y="0"/>
            <a:chExt cx="10605491" cy="38100"/>
          </a:xfrm>
        </p:grpSpPr>
        <p:sp>
          <p:nvSpPr>
            <p:cNvPr name="Freeform 33" id="33"/>
            <p:cNvSpPr/>
            <p:nvPr/>
          </p:nvSpPr>
          <p:spPr>
            <a:xfrm flipH="false" flipV="false" rot="0">
              <a:off x="0" y="0"/>
              <a:ext cx="10605516" cy="38100"/>
            </a:xfrm>
            <a:custGeom>
              <a:avLst/>
              <a:gdLst/>
              <a:ahLst/>
              <a:cxnLst/>
              <a:rect r="r" b="b" t="t" l="l"/>
              <a:pathLst>
                <a:path h="38100" w="10605516">
                  <a:moveTo>
                    <a:pt x="0" y="0"/>
                  </a:moveTo>
                  <a:lnTo>
                    <a:pt x="10605516" y="0"/>
                  </a:lnTo>
                  <a:lnTo>
                    <a:pt x="10605516" y="38100"/>
                  </a:lnTo>
                  <a:lnTo>
                    <a:pt x="0" y="38100"/>
                  </a:lnTo>
                  <a:close/>
                </a:path>
              </a:pathLst>
            </a:custGeom>
            <a:solidFill>
              <a:srgbClr val="DA9B49"/>
            </a:solidFill>
          </p:spPr>
        </p:sp>
      </p:grpSp>
      <p:sp>
        <p:nvSpPr>
          <p:cNvPr name="TextBox 34" id="34"/>
          <p:cNvSpPr txBox="true"/>
          <p:nvPr/>
        </p:nvSpPr>
        <p:spPr>
          <a:xfrm rot="0">
            <a:off x="9253833" y="6102991"/>
            <a:ext cx="7954118" cy="425796"/>
          </a:xfrm>
          <a:prstGeom prst="rect">
            <a:avLst/>
          </a:prstGeom>
        </p:spPr>
        <p:txBody>
          <a:bodyPr anchor="t" rtlCol="false" tIns="0" lIns="0" bIns="0" rIns="0">
            <a:spAutoFit/>
          </a:bodyPr>
          <a:lstStyle/>
          <a:p>
            <a:pPr algn="l">
              <a:lnSpc>
                <a:spcPts val="3119"/>
              </a:lnSpc>
            </a:pPr>
            <a:r>
              <a:rPr lang="en-US" sz="2499">
                <a:solidFill>
                  <a:srgbClr val="2C2926"/>
                </a:solidFill>
                <a:latin typeface="Bricolage Grotesque"/>
                <a:ea typeface="Bricolage Grotesque"/>
                <a:cs typeface="Bricolage Grotesque"/>
                <a:sym typeface="Bricolage Grotesque"/>
              </a:rPr>
              <a:t>Documents</a:t>
            </a:r>
          </a:p>
        </p:txBody>
      </p:sp>
      <p:sp>
        <p:nvSpPr>
          <p:cNvPr name="TextBox 35" id="35"/>
          <p:cNvSpPr txBox="true"/>
          <p:nvPr/>
        </p:nvSpPr>
        <p:spPr>
          <a:xfrm rot="0">
            <a:off x="9253833" y="6603359"/>
            <a:ext cx="7954118" cy="825398"/>
          </a:xfrm>
          <a:prstGeom prst="rect">
            <a:avLst/>
          </a:prstGeom>
        </p:spPr>
        <p:txBody>
          <a:bodyPr anchor="t" rtlCol="false" tIns="0" lIns="0" bIns="0" rIns="0">
            <a:spAutoFit/>
          </a:bodyPr>
          <a:lstStyle/>
          <a:p>
            <a:pPr algn="l">
              <a:lnSpc>
                <a:spcPts val="2952"/>
              </a:lnSpc>
            </a:pPr>
            <a:r>
              <a:rPr lang="en-US" sz="2000">
                <a:solidFill>
                  <a:srgbClr val="2C2926"/>
                </a:solidFill>
                <a:latin typeface="Inter"/>
                <a:ea typeface="Inter"/>
                <a:cs typeface="Inter"/>
                <a:sym typeface="Inter"/>
              </a:rPr>
              <a:t>Organise scanned degrees, certificates and references in one folder for quick sharing.</a:t>
            </a:r>
          </a:p>
        </p:txBody>
      </p:sp>
      <p:grpSp>
        <p:nvGrpSpPr>
          <p:cNvPr name="Group 36" id="36"/>
          <p:cNvGrpSpPr/>
          <p:nvPr/>
        </p:nvGrpSpPr>
        <p:grpSpPr>
          <a:xfrm rot="0">
            <a:off x="1080049" y="7819130"/>
            <a:ext cx="16127911" cy="931516"/>
            <a:chOff x="0" y="0"/>
            <a:chExt cx="21503881" cy="1242022"/>
          </a:xfrm>
        </p:grpSpPr>
        <p:sp>
          <p:nvSpPr>
            <p:cNvPr name="Freeform 37" id="37"/>
            <p:cNvSpPr/>
            <p:nvPr/>
          </p:nvSpPr>
          <p:spPr>
            <a:xfrm flipH="false" flipV="false" rot="0">
              <a:off x="0" y="0"/>
              <a:ext cx="21503894" cy="1242060"/>
            </a:xfrm>
            <a:custGeom>
              <a:avLst/>
              <a:gdLst/>
              <a:ahLst/>
              <a:cxnLst/>
              <a:rect r="r" b="b" t="t" l="l"/>
              <a:pathLst>
                <a:path h="1242060" w="21503894">
                  <a:moveTo>
                    <a:pt x="0" y="145796"/>
                  </a:moveTo>
                  <a:cubicBezTo>
                    <a:pt x="0" y="65278"/>
                    <a:pt x="65278" y="0"/>
                    <a:pt x="145796" y="0"/>
                  </a:cubicBezTo>
                  <a:lnTo>
                    <a:pt x="21358098" y="0"/>
                  </a:lnTo>
                  <a:cubicBezTo>
                    <a:pt x="21438615" y="0"/>
                    <a:pt x="21503894" y="65278"/>
                    <a:pt x="21503894" y="145796"/>
                  </a:cubicBezTo>
                  <a:lnTo>
                    <a:pt x="21503894" y="1096264"/>
                  </a:lnTo>
                  <a:cubicBezTo>
                    <a:pt x="21503894" y="1176782"/>
                    <a:pt x="21438615" y="1242060"/>
                    <a:pt x="21358098" y="1242060"/>
                  </a:cubicBezTo>
                  <a:lnTo>
                    <a:pt x="145796" y="1242060"/>
                  </a:lnTo>
                  <a:cubicBezTo>
                    <a:pt x="65278" y="1242060"/>
                    <a:pt x="0" y="1176782"/>
                    <a:pt x="0" y="1096264"/>
                  </a:cubicBezTo>
                  <a:close/>
                </a:path>
              </a:pathLst>
            </a:custGeom>
            <a:solidFill>
              <a:srgbClr val="F8ECD3"/>
            </a:solidFill>
          </p:spPr>
        </p:sp>
      </p:grpSp>
      <p:grpSp>
        <p:nvGrpSpPr>
          <p:cNvPr name="Group 38" id="38"/>
          <p:cNvGrpSpPr/>
          <p:nvPr/>
        </p:nvGrpSpPr>
        <p:grpSpPr>
          <a:xfrm rot="0">
            <a:off x="1340348" y="8133159"/>
            <a:ext cx="325488" cy="260299"/>
            <a:chOff x="0" y="0"/>
            <a:chExt cx="433984" cy="347066"/>
          </a:xfrm>
        </p:grpSpPr>
        <p:sp>
          <p:nvSpPr>
            <p:cNvPr name="Freeform 39" id="39" descr="preencoded.png"/>
            <p:cNvSpPr/>
            <p:nvPr/>
          </p:nvSpPr>
          <p:spPr>
            <a:xfrm flipH="false" flipV="false" rot="0">
              <a:off x="0" y="0"/>
              <a:ext cx="433959" cy="347091"/>
            </a:xfrm>
            <a:custGeom>
              <a:avLst/>
              <a:gdLst/>
              <a:ahLst/>
              <a:cxnLst/>
              <a:rect r="r" b="b" t="t" l="l"/>
              <a:pathLst>
                <a:path h="347091" w="433959">
                  <a:moveTo>
                    <a:pt x="0" y="0"/>
                  </a:moveTo>
                  <a:lnTo>
                    <a:pt x="433959" y="0"/>
                  </a:lnTo>
                  <a:lnTo>
                    <a:pt x="433959" y="347091"/>
                  </a:lnTo>
                  <a:lnTo>
                    <a:pt x="0" y="347091"/>
                  </a:lnTo>
                  <a:lnTo>
                    <a:pt x="0" y="0"/>
                  </a:lnTo>
                  <a:close/>
                </a:path>
              </a:pathLst>
            </a:custGeom>
            <a:blipFill>
              <a:blip r:embed="rId5"/>
              <a:stretch>
                <a:fillRect l="0" t="-18" r="-5" b="-10"/>
              </a:stretch>
            </a:blipFill>
          </p:spPr>
        </p:sp>
      </p:grpSp>
      <p:sp>
        <p:nvSpPr>
          <p:cNvPr name="TextBox 40" id="40"/>
          <p:cNvSpPr txBox="true"/>
          <p:nvPr/>
        </p:nvSpPr>
        <p:spPr>
          <a:xfrm rot="0">
            <a:off x="1926136" y="8098631"/>
            <a:ext cx="15935916" cy="441274"/>
          </a:xfrm>
          <a:prstGeom prst="rect">
            <a:avLst/>
          </a:prstGeom>
        </p:spPr>
        <p:txBody>
          <a:bodyPr anchor="t" rtlCol="false" tIns="0" lIns="0" bIns="0" rIns="0">
            <a:spAutoFit/>
          </a:bodyPr>
          <a:lstStyle/>
          <a:p>
            <a:pPr algn="l">
              <a:lnSpc>
                <a:spcPts val="2952"/>
              </a:lnSpc>
            </a:pPr>
            <a:r>
              <a:rPr lang="en-US" sz="2000">
                <a:solidFill>
                  <a:srgbClr val="000000"/>
                </a:solidFill>
                <a:latin typeface="Inter"/>
                <a:ea typeface="Inter"/>
                <a:cs typeface="Inter"/>
                <a:sym typeface="Inter"/>
              </a:rPr>
              <a:t>Tip: Save CV versions named with role and company for easy tracking (e.g., CV-Marketing-CompanyX.pdf).</a:t>
            </a:r>
          </a:p>
        </p:txBody>
      </p:sp>
      <p:sp>
        <p:nvSpPr>
          <p:cNvPr name="TextBox 41" id="41"/>
          <p:cNvSpPr txBox="true"/>
          <p:nvPr/>
        </p:nvSpPr>
        <p:spPr>
          <a:xfrm rot="0">
            <a:off x="1080049" y="9002020"/>
            <a:ext cx="17042311" cy="354959"/>
          </a:xfrm>
          <a:prstGeom prst="rect">
            <a:avLst/>
          </a:prstGeom>
        </p:spPr>
        <p:txBody>
          <a:bodyPr anchor="t" rtlCol="false" tIns="0" lIns="0" bIns="0" rIns="0">
            <a:spAutoFit/>
          </a:bodyPr>
          <a:lstStyle/>
          <a:p>
            <a:pPr algn="l">
              <a:lnSpc>
                <a:spcPts val="2361"/>
              </a:lnSpc>
            </a:pPr>
            <a:r>
              <a:rPr lang="en-US" sz="1600">
                <a:solidFill>
                  <a:srgbClr val="2C2926"/>
                </a:solidFill>
                <a:latin typeface="Inter"/>
                <a:ea typeface="Inter"/>
                <a:cs typeface="Inter"/>
                <a:sym typeface="Inter"/>
              </a:rPr>
              <a:t>Page 4 • Checklist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sp>
        <p:nvSpPr>
          <p:cNvPr name="TextBox 6" id="6"/>
          <p:cNvSpPr txBox="true"/>
          <p:nvPr/>
        </p:nvSpPr>
        <p:spPr>
          <a:xfrm rot="0">
            <a:off x="1080049" y="1449581"/>
            <a:ext cx="16127911" cy="992981"/>
          </a:xfrm>
          <a:prstGeom prst="rect">
            <a:avLst/>
          </a:prstGeom>
        </p:spPr>
        <p:txBody>
          <a:bodyPr anchor="t" rtlCol="false" tIns="0" lIns="0" bIns="0" rIns="0">
            <a:spAutoFit/>
          </a:bodyPr>
          <a:lstStyle/>
          <a:p>
            <a:pPr algn="l">
              <a:lnSpc>
                <a:spcPts val="7488"/>
              </a:lnSpc>
            </a:pPr>
            <a:r>
              <a:rPr lang="en-US" sz="6000">
                <a:solidFill>
                  <a:srgbClr val="2C2926"/>
                </a:solidFill>
                <a:latin typeface="Bricolage Grotesque"/>
                <a:ea typeface="Bricolage Grotesque"/>
                <a:cs typeface="Bricolage Grotesque"/>
                <a:sym typeface="Bricolage Grotesque"/>
              </a:rPr>
              <a:t>How to Search for Opportunities</a:t>
            </a:r>
          </a:p>
        </p:txBody>
      </p:sp>
      <p:sp>
        <p:nvSpPr>
          <p:cNvPr name="TextBox 7" id="7"/>
          <p:cNvSpPr txBox="true"/>
          <p:nvPr/>
        </p:nvSpPr>
        <p:spPr>
          <a:xfrm rot="0">
            <a:off x="1080049" y="2964504"/>
            <a:ext cx="16127911" cy="1082878"/>
          </a:xfrm>
          <a:prstGeom prst="rect">
            <a:avLst/>
          </a:prstGeom>
        </p:spPr>
        <p:txBody>
          <a:bodyPr anchor="t" rtlCol="false" tIns="0" lIns="0" bIns="0" rIns="0">
            <a:spAutoFit/>
          </a:bodyPr>
          <a:lstStyle/>
          <a:p>
            <a:pPr algn="l">
              <a:lnSpc>
                <a:spcPts val="3830"/>
              </a:lnSpc>
            </a:pPr>
            <a:r>
              <a:rPr lang="en-US" sz="2400">
                <a:solidFill>
                  <a:srgbClr val="2C2926"/>
                </a:solidFill>
                <a:latin typeface="Inter"/>
                <a:ea typeface="Inter"/>
                <a:cs typeface="Inter"/>
                <a:sym typeface="Inter"/>
              </a:rPr>
              <a:t>Combine direct applications with network and recruiter outreach. Use targeted filters on job boards, follow company careers pages and set alerts for keywords matching your target statement.</a:t>
            </a:r>
          </a:p>
        </p:txBody>
      </p:sp>
      <p:sp>
        <p:nvSpPr>
          <p:cNvPr name="TextBox 8" id="8"/>
          <p:cNvSpPr txBox="true"/>
          <p:nvPr/>
        </p:nvSpPr>
        <p:spPr>
          <a:xfrm rot="0">
            <a:off x="1080049" y="4576915"/>
            <a:ext cx="9375572" cy="3381823"/>
          </a:xfrm>
          <a:prstGeom prst="rect">
            <a:avLst/>
          </a:prstGeom>
        </p:spPr>
        <p:txBody>
          <a:bodyPr anchor="t" rtlCol="false" tIns="0" lIns="0" bIns="0" rIns="0">
            <a:spAutoFit/>
          </a:bodyPr>
          <a:lstStyle/>
          <a:p>
            <a:pPr algn="l" marL="579120" indent="-289560" lvl="1">
              <a:lnSpc>
                <a:spcPts val="3830"/>
              </a:lnSpc>
              <a:buFont typeface="Arial"/>
              <a:buChar char="•"/>
            </a:pPr>
            <a:r>
              <a:rPr lang="en-US" sz="2400">
                <a:solidFill>
                  <a:srgbClr val="2C2926"/>
                </a:solidFill>
                <a:latin typeface="Inter"/>
                <a:ea typeface="Inter"/>
                <a:cs typeface="Inter"/>
                <a:sym typeface="Inter"/>
              </a:rPr>
              <a:t>Use role + location keywords (e.g., "Junior Accountant Dubai")</a:t>
            </a:r>
          </a:p>
          <a:p>
            <a:pPr algn="l" marL="579120" indent="-289560" lvl="1">
              <a:lnSpc>
                <a:spcPts val="3830"/>
              </a:lnSpc>
              <a:buFont typeface="Arial"/>
              <a:buChar char="•"/>
            </a:pPr>
            <a:r>
              <a:rPr lang="en-US" sz="2400">
                <a:solidFill>
                  <a:srgbClr val="2C2926"/>
                </a:solidFill>
                <a:latin typeface="Inter"/>
                <a:ea typeface="Inter"/>
                <a:cs typeface="Inter"/>
                <a:sym typeface="Inter"/>
              </a:rPr>
              <a:t>Set daily alerts and prioritise freshly posted roles</a:t>
            </a:r>
          </a:p>
          <a:p>
            <a:pPr algn="l" marL="579120" indent="-289560" lvl="1">
              <a:lnSpc>
                <a:spcPts val="3830"/>
              </a:lnSpc>
              <a:buFont typeface="Arial"/>
              <a:buChar char="•"/>
            </a:pPr>
            <a:r>
              <a:rPr lang="en-US" sz="2400">
                <a:solidFill>
                  <a:srgbClr val="2C2926"/>
                </a:solidFill>
                <a:latin typeface="Inter"/>
                <a:ea typeface="Inter"/>
                <a:cs typeface="Inter"/>
                <a:sym typeface="Inter"/>
              </a:rPr>
              <a:t>Follow industry recruiters and hiring managers on LinkedIn</a:t>
            </a:r>
          </a:p>
          <a:p>
            <a:pPr algn="l" marL="579120" indent="-289560" lvl="1">
              <a:lnSpc>
                <a:spcPts val="3830"/>
              </a:lnSpc>
              <a:buFont typeface="Arial"/>
              <a:buChar char="•"/>
            </a:pPr>
            <a:r>
              <a:rPr lang="en-US" sz="2400">
                <a:solidFill>
                  <a:srgbClr val="2C2926"/>
                </a:solidFill>
                <a:latin typeface="Inter"/>
                <a:ea typeface="Inter"/>
                <a:cs typeface="Inter"/>
                <a:sym typeface="Inter"/>
              </a:rPr>
              <a:t>Apply early — the Gulf market moves quickly for in‑demand roles</a:t>
            </a:r>
          </a:p>
        </p:txBody>
      </p:sp>
      <p:grpSp>
        <p:nvGrpSpPr>
          <p:cNvPr name="Group 9" id="9"/>
          <p:cNvGrpSpPr/>
          <p:nvPr/>
        </p:nvGrpSpPr>
        <p:grpSpPr>
          <a:xfrm rot="0">
            <a:off x="10995717" y="4394444"/>
            <a:ext cx="6443815" cy="3672183"/>
            <a:chOff x="0" y="0"/>
            <a:chExt cx="8591753" cy="4896244"/>
          </a:xfrm>
        </p:grpSpPr>
        <p:sp>
          <p:nvSpPr>
            <p:cNvPr name="Freeform 10" id="10"/>
            <p:cNvSpPr/>
            <p:nvPr/>
          </p:nvSpPr>
          <p:spPr>
            <a:xfrm flipH="false" flipV="false" rot="0">
              <a:off x="0" y="0"/>
              <a:ext cx="8591804" cy="4896231"/>
            </a:xfrm>
            <a:custGeom>
              <a:avLst/>
              <a:gdLst/>
              <a:ahLst/>
              <a:cxnLst/>
              <a:rect r="r" b="b" t="t" l="l"/>
              <a:pathLst>
                <a:path h="4896231" w="8591804">
                  <a:moveTo>
                    <a:pt x="0" y="296291"/>
                  </a:moveTo>
                  <a:cubicBezTo>
                    <a:pt x="0" y="132588"/>
                    <a:pt x="132588" y="0"/>
                    <a:pt x="296291" y="0"/>
                  </a:cubicBezTo>
                  <a:lnTo>
                    <a:pt x="8295513" y="0"/>
                  </a:lnTo>
                  <a:cubicBezTo>
                    <a:pt x="8459089" y="0"/>
                    <a:pt x="8591804" y="132588"/>
                    <a:pt x="8591804" y="296291"/>
                  </a:cubicBezTo>
                  <a:lnTo>
                    <a:pt x="8591804" y="4599940"/>
                  </a:lnTo>
                  <a:cubicBezTo>
                    <a:pt x="8591804" y="4763516"/>
                    <a:pt x="8459216" y="4896231"/>
                    <a:pt x="8295513" y="4896231"/>
                  </a:cubicBezTo>
                  <a:lnTo>
                    <a:pt x="296291" y="4896231"/>
                  </a:lnTo>
                  <a:cubicBezTo>
                    <a:pt x="132588" y="4896231"/>
                    <a:pt x="0" y="4763643"/>
                    <a:pt x="0" y="4599940"/>
                  </a:cubicBezTo>
                  <a:close/>
                </a:path>
              </a:pathLst>
            </a:custGeom>
            <a:solidFill>
              <a:srgbClr val="E7BF6A">
                <a:alpha val="90196"/>
              </a:srgbClr>
            </a:solidFill>
          </p:spPr>
        </p:sp>
      </p:grpSp>
      <p:sp>
        <p:nvSpPr>
          <p:cNvPr name="TextBox 11" id="11"/>
          <p:cNvSpPr txBox="true"/>
          <p:nvPr/>
        </p:nvSpPr>
        <p:spPr>
          <a:xfrm rot="0">
            <a:off x="11304241" y="4683919"/>
            <a:ext cx="5826766" cy="501253"/>
          </a:xfrm>
          <a:prstGeom prst="rect">
            <a:avLst/>
          </a:prstGeom>
        </p:spPr>
        <p:txBody>
          <a:bodyPr anchor="t" rtlCol="false" tIns="0" lIns="0" bIns="0" rIns="0">
            <a:spAutoFit/>
          </a:bodyPr>
          <a:lstStyle/>
          <a:p>
            <a:pPr algn="l">
              <a:lnSpc>
                <a:spcPts val="3744"/>
              </a:lnSpc>
            </a:pPr>
            <a:r>
              <a:rPr lang="en-US" sz="3000">
                <a:solidFill>
                  <a:srgbClr val="2C2926"/>
                </a:solidFill>
                <a:latin typeface="Bricolage Grotesque"/>
                <a:ea typeface="Bricolage Grotesque"/>
                <a:cs typeface="Bricolage Grotesque"/>
                <a:sym typeface="Bricolage Grotesque"/>
              </a:rPr>
              <a:t>Quick Tools</a:t>
            </a:r>
          </a:p>
        </p:txBody>
      </p:sp>
      <p:sp>
        <p:nvSpPr>
          <p:cNvPr name="TextBox 12" id="12"/>
          <p:cNvSpPr txBox="true"/>
          <p:nvPr/>
        </p:nvSpPr>
        <p:spPr>
          <a:xfrm rot="0">
            <a:off x="11304241" y="5398446"/>
            <a:ext cx="5826766" cy="1792491"/>
          </a:xfrm>
          <a:prstGeom prst="rect">
            <a:avLst/>
          </a:prstGeom>
        </p:spPr>
        <p:txBody>
          <a:bodyPr anchor="t" rtlCol="false" tIns="0" lIns="0" bIns="0" rIns="0">
            <a:spAutoFit/>
          </a:bodyPr>
          <a:lstStyle/>
          <a:p>
            <a:pPr algn="l" marL="579120" indent="-289560" lvl="1">
              <a:lnSpc>
                <a:spcPts val="3830"/>
              </a:lnSpc>
              <a:buFont typeface="Arial"/>
              <a:buChar char="•"/>
            </a:pPr>
            <a:r>
              <a:rPr lang="en-US" sz="2400">
                <a:solidFill>
                  <a:srgbClr val="2C2926"/>
                </a:solidFill>
                <a:latin typeface="Inter"/>
                <a:ea typeface="Inter"/>
                <a:cs typeface="Inter"/>
                <a:sym typeface="Inter"/>
              </a:rPr>
              <a:t>Falayn profile &amp; alerts</a:t>
            </a:r>
          </a:p>
          <a:p>
            <a:pPr algn="l" marL="579120" indent="-289560" lvl="1">
              <a:lnSpc>
                <a:spcPts val="3830"/>
              </a:lnSpc>
              <a:buFont typeface="Arial"/>
              <a:buChar char="•"/>
            </a:pPr>
            <a:r>
              <a:rPr lang="en-US" sz="2400">
                <a:solidFill>
                  <a:srgbClr val="2C2926"/>
                </a:solidFill>
                <a:latin typeface="Inter"/>
                <a:ea typeface="Inter"/>
                <a:cs typeface="Inter"/>
                <a:sym typeface="Inter"/>
              </a:rPr>
              <a:t>LinkedIn saved searches</a:t>
            </a:r>
          </a:p>
          <a:p>
            <a:pPr algn="l" marL="579120" indent="-289560" lvl="1">
              <a:lnSpc>
                <a:spcPts val="3830"/>
              </a:lnSpc>
              <a:buFont typeface="Arial"/>
              <a:buChar char="•"/>
            </a:pPr>
            <a:r>
              <a:rPr lang="en-US" sz="2400">
                <a:solidFill>
                  <a:srgbClr val="2C2926"/>
                </a:solidFill>
                <a:latin typeface="Inter"/>
                <a:ea typeface="Inter"/>
                <a:cs typeface="Inter"/>
                <a:sym typeface="Inter"/>
              </a:rPr>
              <a:t>Company career pages</a:t>
            </a:r>
          </a:p>
        </p:txBody>
      </p:sp>
      <p:sp>
        <p:nvSpPr>
          <p:cNvPr name="TextBox 13" id="13"/>
          <p:cNvSpPr txBox="true"/>
          <p:nvPr/>
        </p:nvSpPr>
        <p:spPr>
          <a:xfrm rot="0">
            <a:off x="1080049" y="8337499"/>
            <a:ext cx="17042311" cy="471192"/>
          </a:xfrm>
          <a:prstGeom prst="rect">
            <a:avLst/>
          </a:prstGeom>
        </p:spPr>
        <p:txBody>
          <a:bodyPr anchor="t" rtlCol="false" tIns="0" lIns="0" bIns="0" rIns="0">
            <a:spAutoFit/>
          </a:bodyPr>
          <a:lstStyle/>
          <a:p>
            <a:pPr algn="l">
              <a:lnSpc>
                <a:spcPts val="3032"/>
              </a:lnSpc>
            </a:pPr>
            <a:r>
              <a:rPr lang="en-US" sz="1900">
                <a:solidFill>
                  <a:srgbClr val="2C2926"/>
                </a:solidFill>
                <a:latin typeface="Inter"/>
                <a:ea typeface="Inter"/>
                <a:cs typeface="Inter"/>
                <a:sym typeface="Inter"/>
              </a:rPr>
              <a:t>Page 5 • Search tactics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sp>
        <p:nvSpPr>
          <p:cNvPr name="TextBox 6" id="6"/>
          <p:cNvSpPr txBox="true"/>
          <p:nvPr/>
        </p:nvSpPr>
        <p:spPr>
          <a:xfrm rot="0">
            <a:off x="1080049" y="1212209"/>
            <a:ext cx="16127911" cy="992981"/>
          </a:xfrm>
          <a:prstGeom prst="rect">
            <a:avLst/>
          </a:prstGeom>
        </p:spPr>
        <p:txBody>
          <a:bodyPr anchor="t" rtlCol="false" tIns="0" lIns="0" bIns="0" rIns="0">
            <a:spAutoFit/>
          </a:bodyPr>
          <a:lstStyle/>
          <a:p>
            <a:pPr algn="l">
              <a:lnSpc>
                <a:spcPts val="7488"/>
              </a:lnSpc>
            </a:pPr>
            <a:r>
              <a:rPr lang="en-US" sz="6000">
                <a:solidFill>
                  <a:srgbClr val="2C2926"/>
                </a:solidFill>
                <a:latin typeface="Bricolage Grotesque"/>
                <a:ea typeface="Bricolage Grotesque"/>
                <a:cs typeface="Bricolage Grotesque"/>
                <a:sym typeface="Bricolage Grotesque"/>
              </a:rPr>
              <a:t>How to Approach Recruiters</a:t>
            </a:r>
          </a:p>
        </p:txBody>
      </p:sp>
      <p:sp>
        <p:nvSpPr>
          <p:cNvPr name="TextBox 7" id="7"/>
          <p:cNvSpPr txBox="true"/>
          <p:nvPr/>
        </p:nvSpPr>
        <p:spPr>
          <a:xfrm rot="0">
            <a:off x="1080049" y="2727122"/>
            <a:ext cx="16127911" cy="1082878"/>
          </a:xfrm>
          <a:prstGeom prst="rect">
            <a:avLst/>
          </a:prstGeom>
        </p:spPr>
        <p:txBody>
          <a:bodyPr anchor="t" rtlCol="false" tIns="0" lIns="0" bIns="0" rIns="0">
            <a:spAutoFit/>
          </a:bodyPr>
          <a:lstStyle/>
          <a:p>
            <a:pPr algn="l">
              <a:lnSpc>
                <a:spcPts val="3830"/>
              </a:lnSpc>
            </a:pPr>
            <a:r>
              <a:rPr lang="en-US" sz="2400">
                <a:solidFill>
                  <a:srgbClr val="2C2926"/>
                </a:solidFill>
                <a:latin typeface="Inter"/>
                <a:ea typeface="Inter"/>
                <a:cs typeface="Inter"/>
                <a:sym typeface="Inter"/>
              </a:rPr>
              <a:t>Recruiters value clarity and responsiveness. Lead with your target role, key skills and availability. Keep messages short, professional and tailored — make it obvious why you’re a match.</a:t>
            </a:r>
          </a:p>
        </p:txBody>
      </p:sp>
      <p:sp>
        <p:nvSpPr>
          <p:cNvPr name="Freeform 8" id="8" descr="preencoded.png"/>
          <p:cNvSpPr/>
          <p:nvPr/>
        </p:nvSpPr>
        <p:spPr>
          <a:xfrm flipH="false" flipV="false" rot="0">
            <a:off x="1080049" y="4157072"/>
            <a:ext cx="771525" cy="771525"/>
          </a:xfrm>
          <a:custGeom>
            <a:avLst/>
            <a:gdLst/>
            <a:ahLst/>
            <a:cxnLst/>
            <a:rect r="r" b="b" t="t" l="l"/>
            <a:pathLst>
              <a:path h="771525" w="771525">
                <a:moveTo>
                  <a:pt x="0" y="0"/>
                </a:moveTo>
                <a:lnTo>
                  <a:pt x="771525" y="0"/>
                </a:lnTo>
                <a:lnTo>
                  <a:pt x="771525" y="771525"/>
                </a:lnTo>
                <a:lnTo>
                  <a:pt x="0" y="771525"/>
                </a:lnTo>
                <a:lnTo>
                  <a:pt x="0" y="0"/>
                </a:lnTo>
                <a:close/>
              </a:path>
            </a:pathLst>
          </a:custGeom>
          <a:blipFill>
            <a:blip r:embed="rId4">
              <a:extLst>
                <a:ext uri="{96DAC541-7B7A-43D3-8B79-37D633B846F1}">
                  <asvg:svgBlip xmlns:asvg="http://schemas.microsoft.com/office/drawing/2016/SVG/main" r:embed="rId5"/>
                </a:ext>
              </a:extLst>
            </a:blip>
            <a:stretch>
              <a:fillRect l="-6097" t="0" r="-6097" b="0"/>
            </a:stretch>
          </a:blipFill>
        </p:spPr>
      </p:sp>
      <p:sp>
        <p:nvSpPr>
          <p:cNvPr name="TextBox 9" id="9"/>
          <p:cNvSpPr txBox="true"/>
          <p:nvPr/>
        </p:nvSpPr>
        <p:spPr>
          <a:xfrm rot="0">
            <a:off x="1080049" y="5295300"/>
            <a:ext cx="5118792" cy="501253"/>
          </a:xfrm>
          <a:prstGeom prst="rect">
            <a:avLst/>
          </a:prstGeom>
        </p:spPr>
        <p:txBody>
          <a:bodyPr anchor="t" rtlCol="false" tIns="0" lIns="0" bIns="0" rIns="0">
            <a:spAutoFit/>
          </a:bodyPr>
          <a:lstStyle/>
          <a:p>
            <a:pPr algn="l">
              <a:lnSpc>
                <a:spcPts val="3744"/>
              </a:lnSpc>
            </a:pPr>
            <a:r>
              <a:rPr lang="en-US" sz="3000">
                <a:solidFill>
                  <a:srgbClr val="2C2926"/>
                </a:solidFill>
                <a:latin typeface="Bricolage Grotesque"/>
                <a:ea typeface="Bricolage Grotesque"/>
                <a:cs typeface="Bricolage Grotesque"/>
                <a:sym typeface="Bricolage Grotesque"/>
              </a:rPr>
              <a:t>Be Concise</a:t>
            </a:r>
          </a:p>
        </p:txBody>
      </p:sp>
      <p:sp>
        <p:nvSpPr>
          <p:cNvPr name="TextBox 10" id="10"/>
          <p:cNvSpPr txBox="true"/>
          <p:nvPr/>
        </p:nvSpPr>
        <p:spPr>
          <a:xfrm rot="0">
            <a:off x="1080049" y="5886450"/>
            <a:ext cx="5118792" cy="1082878"/>
          </a:xfrm>
          <a:prstGeom prst="rect">
            <a:avLst/>
          </a:prstGeom>
        </p:spPr>
        <p:txBody>
          <a:bodyPr anchor="t" rtlCol="false" tIns="0" lIns="0" bIns="0" rIns="0">
            <a:spAutoFit/>
          </a:bodyPr>
          <a:lstStyle/>
          <a:p>
            <a:pPr algn="l">
              <a:lnSpc>
                <a:spcPts val="3830"/>
              </a:lnSpc>
            </a:pPr>
            <a:r>
              <a:rPr lang="en-US" sz="2400">
                <a:solidFill>
                  <a:srgbClr val="2C2926"/>
                </a:solidFill>
                <a:latin typeface="Inter"/>
                <a:ea typeface="Inter"/>
                <a:cs typeface="Inter"/>
                <a:sym typeface="Inter"/>
              </a:rPr>
              <a:t>Two–three lines summarising your fit and availability.</a:t>
            </a:r>
          </a:p>
        </p:txBody>
      </p:sp>
      <p:sp>
        <p:nvSpPr>
          <p:cNvPr name="Freeform 11" id="11" descr="preencoded.png"/>
          <p:cNvSpPr/>
          <p:nvPr/>
        </p:nvSpPr>
        <p:spPr>
          <a:xfrm flipH="false" flipV="false" rot="0">
            <a:off x="6584604" y="4157072"/>
            <a:ext cx="771525" cy="771525"/>
          </a:xfrm>
          <a:custGeom>
            <a:avLst/>
            <a:gdLst/>
            <a:ahLst/>
            <a:cxnLst/>
            <a:rect r="r" b="b" t="t" l="l"/>
            <a:pathLst>
              <a:path h="771525" w="771525">
                <a:moveTo>
                  <a:pt x="0" y="0"/>
                </a:moveTo>
                <a:lnTo>
                  <a:pt x="771525" y="0"/>
                </a:lnTo>
                <a:lnTo>
                  <a:pt x="771525" y="771525"/>
                </a:lnTo>
                <a:lnTo>
                  <a:pt x="0" y="771525"/>
                </a:lnTo>
                <a:lnTo>
                  <a:pt x="0" y="0"/>
                </a:lnTo>
                <a:close/>
              </a:path>
            </a:pathLst>
          </a:custGeom>
          <a:blipFill>
            <a:blip r:embed="rId6">
              <a:extLst>
                <a:ext uri="{96DAC541-7B7A-43D3-8B79-37D633B846F1}">
                  <asvg:svgBlip xmlns:asvg="http://schemas.microsoft.com/office/drawing/2016/SVG/main" r:embed="rId7"/>
                </a:ext>
              </a:extLst>
            </a:blip>
            <a:stretch>
              <a:fillRect l="0" t="-2439" r="0" b="-2438"/>
            </a:stretch>
          </a:blipFill>
        </p:spPr>
      </p:sp>
      <p:sp>
        <p:nvSpPr>
          <p:cNvPr name="TextBox 12" id="12"/>
          <p:cNvSpPr txBox="true"/>
          <p:nvPr/>
        </p:nvSpPr>
        <p:spPr>
          <a:xfrm rot="0">
            <a:off x="6584604" y="5295300"/>
            <a:ext cx="5118792" cy="501253"/>
          </a:xfrm>
          <a:prstGeom prst="rect">
            <a:avLst/>
          </a:prstGeom>
        </p:spPr>
        <p:txBody>
          <a:bodyPr anchor="t" rtlCol="false" tIns="0" lIns="0" bIns="0" rIns="0">
            <a:spAutoFit/>
          </a:bodyPr>
          <a:lstStyle/>
          <a:p>
            <a:pPr algn="l">
              <a:lnSpc>
                <a:spcPts val="3744"/>
              </a:lnSpc>
            </a:pPr>
            <a:r>
              <a:rPr lang="en-US" sz="3000">
                <a:solidFill>
                  <a:srgbClr val="2C2926"/>
                </a:solidFill>
                <a:latin typeface="Bricolage Grotesque"/>
                <a:ea typeface="Bricolage Grotesque"/>
                <a:cs typeface="Bricolage Grotesque"/>
                <a:sym typeface="Bricolage Grotesque"/>
              </a:rPr>
              <a:t>Include Essentials</a:t>
            </a:r>
          </a:p>
        </p:txBody>
      </p:sp>
      <p:sp>
        <p:nvSpPr>
          <p:cNvPr name="TextBox 13" id="13"/>
          <p:cNvSpPr txBox="true"/>
          <p:nvPr/>
        </p:nvSpPr>
        <p:spPr>
          <a:xfrm rot="0">
            <a:off x="6584604" y="5886450"/>
            <a:ext cx="5118792" cy="1082878"/>
          </a:xfrm>
          <a:prstGeom prst="rect">
            <a:avLst/>
          </a:prstGeom>
        </p:spPr>
        <p:txBody>
          <a:bodyPr anchor="t" rtlCol="false" tIns="0" lIns="0" bIns="0" rIns="0">
            <a:spAutoFit/>
          </a:bodyPr>
          <a:lstStyle/>
          <a:p>
            <a:pPr algn="l">
              <a:lnSpc>
                <a:spcPts val="3830"/>
              </a:lnSpc>
            </a:pPr>
            <a:r>
              <a:rPr lang="en-US" sz="2400">
                <a:solidFill>
                  <a:srgbClr val="2C2926"/>
                </a:solidFill>
                <a:latin typeface="Inter"/>
                <a:ea typeface="Inter"/>
                <a:cs typeface="Inter"/>
                <a:sym typeface="Inter"/>
              </a:rPr>
              <a:t>Role target, top 2 skills, current location and notice period.</a:t>
            </a:r>
          </a:p>
        </p:txBody>
      </p:sp>
      <p:sp>
        <p:nvSpPr>
          <p:cNvPr name="Freeform 14" id="14" descr="preencoded.png"/>
          <p:cNvSpPr/>
          <p:nvPr/>
        </p:nvSpPr>
        <p:spPr>
          <a:xfrm flipH="false" flipV="false" rot="0">
            <a:off x="12089159" y="4157072"/>
            <a:ext cx="771525" cy="771525"/>
          </a:xfrm>
          <a:custGeom>
            <a:avLst/>
            <a:gdLst/>
            <a:ahLst/>
            <a:cxnLst/>
            <a:rect r="r" b="b" t="t" l="l"/>
            <a:pathLst>
              <a:path h="771525" w="771525">
                <a:moveTo>
                  <a:pt x="0" y="0"/>
                </a:moveTo>
                <a:lnTo>
                  <a:pt x="771525" y="0"/>
                </a:lnTo>
                <a:lnTo>
                  <a:pt x="771525" y="771525"/>
                </a:lnTo>
                <a:lnTo>
                  <a:pt x="0" y="771525"/>
                </a:lnTo>
                <a:lnTo>
                  <a:pt x="0" y="0"/>
                </a:lnTo>
                <a:close/>
              </a:path>
            </a:pathLst>
          </a:custGeom>
          <a:blipFill>
            <a:blip r:embed="rId8">
              <a:extLst>
                <a:ext uri="{96DAC541-7B7A-43D3-8B79-37D633B846F1}">
                  <asvg:svgBlip xmlns:asvg="http://schemas.microsoft.com/office/drawing/2016/SVG/main" r:embed="rId9"/>
                </a:ext>
              </a:extLst>
            </a:blip>
            <a:stretch>
              <a:fillRect l="0" t="-3658" r="0" b="-3659"/>
            </a:stretch>
          </a:blipFill>
        </p:spPr>
      </p:sp>
      <p:sp>
        <p:nvSpPr>
          <p:cNvPr name="TextBox 15" id="15"/>
          <p:cNvSpPr txBox="true"/>
          <p:nvPr/>
        </p:nvSpPr>
        <p:spPr>
          <a:xfrm rot="0">
            <a:off x="12089159" y="5295300"/>
            <a:ext cx="5118792" cy="501253"/>
          </a:xfrm>
          <a:prstGeom prst="rect">
            <a:avLst/>
          </a:prstGeom>
        </p:spPr>
        <p:txBody>
          <a:bodyPr anchor="t" rtlCol="false" tIns="0" lIns="0" bIns="0" rIns="0">
            <a:spAutoFit/>
          </a:bodyPr>
          <a:lstStyle/>
          <a:p>
            <a:pPr algn="l">
              <a:lnSpc>
                <a:spcPts val="3744"/>
              </a:lnSpc>
            </a:pPr>
            <a:r>
              <a:rPr lang="en-US" sz="3000">
                <a:solidFill>
                  <a:srgbClr val="2C2926"/>
                </a:solidFill>
                <a:latin typeface="Bricolage Grotesque"/>
                <a:ea typeface="Bricolage Grotesque"/>
                <a:cs typeface="Bricolage Grotesque"/>
                <a:sym typeface="Bricolage Grotesque"/>
              </a:rPr>
              <a:t>Attach CV</a:t>
            </a:r>
          </a:p>
        </p:txBody>
      </p:sp>
      <p:sp>
        <p:nvSpPr>
          <p:cNvPr name="TextBox 16" id="16"/>
          <p:cNvSpPr txBox="true"/>
          <p:nvPr/>
        </p:nvSpPr>
        <p:spPr>
          <a:xfrm rot="0">
            <a:off x="12089159" y="5886450"/>
            <a:ext cx="5118792" cy="1082878"/>
          </a:xfrm>
          <a:prstGeom prst="rect">
            <a:avLst/>
          </a:prstGeom>
        </p:spPr>
        <p:txBody>
          <a:bodyPr anchor="t" rtlCol="false" tIns="0" lIns="0" bIns="0" rIns="0">
            <a:spAutoFit/>
          </a:bodyPr>
          <a:lstStyle/>
          <a:p>
            <a:pPr algn="l">
              <a:lnSpc>
                <a:spcPts val="3830"/>
              </a:lnSpc>
            </a:pPr>
            <a:r>
              <a:rPr lang="en-US" sz="2400">
                <a:solidFill>
                  <a:srgbClr val="2C2926"/>
                </a:solidFill>
                <a:latin typeface="Inter"/>
                <a:ea typeface="Inter"/>
                <a:cs typeface="Inter"/>
                <a:sym typeface="Inter"/>
              </a:rPr>
              <a:t>Attach a role-tailored CV and mention it briefly in the message.</a:t>
            </a:r>
          </a:p>
        </p:txBody>
      </p:sp>
      <p:sp>
        <p:nvSpPr>
          <p:cNvPr name="TextBox 17" id="17"/>
          <p:cNvSpPr txBox="true"/>
          <p:nvPr/>
        </p:nvSpPr>
        <p:spPr>
          <a:xfrm rot="0">
            <a:off x="1080049" y="7221141"/>
            <a:ext cx="16127911" cy="1082878"/>
          </a:xfrm>
          <a:prstGeom prst="rect">
            <a:avLst/>
          </a:prstGeom>
        </p:spPr>
        <p:txBody>
          <a:bodyPr anchor="t" rtlCol="false" tIns="0" lIns="0" bIns="0" rIns="0">
            <a:spAutoFit/>
          </a:bodyPr>
          <a:lstStyle/>
          <a:p>
            <a:pPr algn="l">
              <a:lnSpc>
                <a:spcPts val="3830"/>
              </a:lnSpc>
            </a:pPr>
            <a:r>
              <a:rPr lang="en-US" sz="2400">
                <a:solidFill>
                  <a:srgbClr val="2C2926"/>
                </a:solidFill>
                <a:latin typeface="Inter"/>
                <a:ea typeface="Inter"/>
                <a:cs typeface="Inter"/>
                <a:sym typeface="Inter"/>
              </a:rPr>
              <a:t>Use a polite close with a clear CTA: ask if they’d like your CV or a quick call. Respond quickly when recruiters reply — speed matters.</a:t>
            </a:r>
          </a:p>
        </p:txBody>
      </p:sp>
      <p:sp>
        <p:nvSpPr>
          <p:cNvPr name="TextBox 18" id="18"/>
          <p:cNvSpPr txBox="true"/>
          <p:nvPr/>
        </p:nvSpPr>
        <p:spPr>
          <a:xfrm rot="0">
            <a:off x="1080049" y="8574881"/>
            <a:ext cx="17042311" cy="471192"/>
          </a:xfrm>
          <a:prstGeom prst="rect">
            <a:avLst/>
          </a:prstGeom>
        </p:spPr>
        <p:txBody>
          <a:bodyPr anchor="t" rtlCol="false" tIns="0" lIns="0" bIns="0" rIns="0">
            <a:spAutoFit/>
          </a:bodyPr>
          <a:lstStyle/>
          <a:p>
            <a:pPr algn="l">
              <a:lnSpc>
                <a:spcPts val="3032"/>
              </a:lnSpc>
            </a:pPr>
            <a:r>
              <a:rPr lang="en-US" sz="1900">
                <a:solidFill>
                  <a:srgbClr val="2C2926"/>
                </a:solidFill>
                <a:latin typeface="Inter"/>
                <a:ea typeface="Inter"/>
                <a:cs typeface="Inter"/>
                <a:sym typeface="Inter"/>
              </a:rPr>
              <a:t>Page 6 • Recruiter outreach</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sp>
        <p:nvSpPr>
          <p:cNvPr name="TextBox 6" id="6"/>
          <p:cNvSpPr txBox="true"/>
          <p:nvPr/>
        </p:nvSpPr>
        <p:spPr>
          <a:xfrm rot="0">
            <a:off x="1080049" y="865137"/>
            <a:ext cx="16127911" cy="781945"/>
          </a:xfrm>
          <a:prstGeom prst="rect">
            <a:avLst/>
          </a:prstGeom>
        </p:spPr>
        <p:txBody>
          <a:bodyPr anchor="t" rtlCol="false" tIns="0" lIns="0" bIns="0" rIns="0">
            <a:spAutoFit/>
          </a:bodyPr>
          <a:lstStyle/>
          <a:p>
            <a:pPr algn="l">
              <a:lnSpc>
                <a:spcPts val="5865"/>
              </a:lnSpc>
            </a:pPr>
            <a:r>
              <a:rPr lang="en-US" sz="4700">
                <a:solidFill>
                  <a:srgbClr val="2C2926"/>
                </a:solidFill>
                <a:latin typeface="Bricolage Grotesque"/>
                <a:ea typeface="Bricolage Grotesque"/>
                <a:cs typeface="Bricolage Grotesque"/>
                <a:sym typeface="Bricolage Grotesque"/>
              </a:rPr>
              <a:t>25 Ready-to-Send Recruiter Messages</a:t>
            </a:r>
          </a:p>
        </p:txBody>
      </p:sp>
      <p:sp>
        <p:nvSpPr>
          <p:cNvPr name="TextBox 7" id="7"/>
          <p:cNvSpPr txBox="true"/>
          <p:nvPr/>
        </p:nvSpPr>
        <p:spPr>
          <a:xfrm rot="0">
            <a:off x="1080049" y="1985667"/>
            <a:ext cx="16127911" cy="725091"/>
          </a:xfrm>
          <a:prstGeom prst="rect">
            <a:avLst/>
          </a:prstGeom>
        </p:spPr>
        <p:txBody>
          <a:bodyPr anchor="t" rtlCol="false" tIns="0" lIns="0" bIns="0" rIns="0">
            <a:spAutoFit/>
          </a:bodyPr>
          <a:lstStyle/>
          <a:p>
            <a:pPr algn="l">
              <a:lnSpc>
                <a:spcPts val="2570"/>
              </a:lnSpc>
            </a:pPr>
            <a:r>
              <a:rPr lang="en-US" sz="1800">
                <a:solidFill>
                  <a:srgbClr val="2C2926"/>
                </a:solidFill>
                <a:latin typeface="Inter"/>
                <a:ea typeface="Inter"/>
                <a:cs typeface="Inter"/>
                <a:sym typeface="Inter"/>
              </a:rPr>
              <a:t>This collection is the premium value of the guide. Each message is short, customisable and designed to fit common recruiter scenarios. Copy, paste and adapt to your context.</a:t>
            </a:r>
          </a:p>
        </p:txBody>
      </p:sp>
      <p:grpSp>
        <p:nvGrpSpPr>
          <p:cNvPr name="Group 8" id="8"/>
          <p:cNvGrpSpPr/>
          <p:nvPr/>
        </p:nvGrpSpPr>
        <p:grpSpPr>
          <a:xfrm rot="0">
            <a:off x="1080049" y="2922537"/>
            <a:ext cx="2296268" cy="2296268"/>
            <a:chOff x="0" y="0"/>
            <a:chExt cx="3061691" cy="3061691"/>
          </a:xfrm>
        </p:grpSpPr>
        <p:sp>
          <p:nvSpPr>
            <p:cNvPr name="Freeform 9" id="9" descr="preencoded.png"/>
            <p:cNvSpPr/>
            <p:nvPr/>
          </p:nvSpPr>
          <p:spPr>
            <a:xfrm flipH="false" flipV="false" rot="0">
              <a:off x="0" y="0"/>
              <a:ext cx="3061716" cy="3061716"/>
            </a:xfrm>
            <a:custGeom>
              <a:avLst/>
              <a:gdLst/>
              <a:ahLst/>
              <a:cxnLst/>
              <a:rect r="r" b="b" t="t" l="l"/>
              <a:pathLst>
                <a:path h="3061716" w="3061716">
                  <a:moveTo>
                    <a:pt x="0" y="0"/>
                  </a:moveTo>
                  <a:lnTo>
                    <a:pt x="3061716" y="0"/>
                  </a:lnTo>
                  <a:lnTo>
                    <a:pt x="3061716" y="3061716"/>
                  </a:lnTo>
                  <a:lnTo>
                    <a:pt x="0" y="3061716"/>
                  </a:lnTo>
                  <a:lnTo>
                    <a:pt x="0" y="0"/>
                  </a:lnTo>
                  <a:close/>
                </a:path>
              </a:pathLst>
            </a:custGeom>
            <a:blipFill>
              <a:blip r:embed="rId4"/>
              <a:stretch>
                <a:fillRect l="0" t="0" r="0" b="0"/>
              </a:stretch>
            </a:blipFill>
          </p:spPr>
        </p:sp>
      </p:grpSp>
      <p:sp>
        <p:nvSpPr>
          <p:cNvPr name="TextBox 10" id="10"/>
          <p:cNvSpPr txBox="true"/>
          <p:nvPr/>
        </p:nvSpPr>
        <p:spPr>
          <a:xfrm rot="0">
            <a:off x="1080049" y="5444728"/>
            <a:ext cx="5218957" cy="386210"/>
          </a:xfrm>
          <a:prstGeom prst="rect">
            <a:avLst/>
          </a:prstGeom>
        </p:spPr>
        <p:txBody>
          <a:bodyPr anchor="t" rtlCol="false" tIns="0" lIns="0" bIns="0" rIns="0">
            <a:spAutoFit/>
          </a:bodyPr>
          <a:lstStyle/>
          <a:p>
            <a:pPr algn="l">
              <a:lnSpc>
                <a:spcPts val="2870"/>
              </a:lnSpc>
            </a:pPr>
            <a:r>
              <a:rPr lang="en-US" sz="2300">
                <a:solidFill>
                  <a:srgbClr val="2C2926"/>
                </a:solidFill>
                <a:latin typeface="Bricolage Grotesque"/>
                <a:ea typeface="Bricolage Grotesque"/>
                <a:cs typeface="Bricolage Grotesque"/>
                <a:sym typeface="Bricolage Grotesque"/>
              </a:rPr>
              <a:t>1. Interest after seeing role</a:t>
            </a:r>
          </a:p>
        </p:txBody>
      </p:sp>
      <p:sp>
        <p:nvSpPr>
          <p:cNvPr name="TextBox 11" id="11"/>
          <p:cNvSpPr txBox="true"/>
          <p:nvPr/>
        </p:nvSpPr>
        <p:spPr>
          <a:xfrm rot="0">
            <a:off x="1080049" y="5905795"/>
            <a:ext cx="5218957" cy="1068591"/>
          </a:xfrm>
          <a:prstGeom prst="rect">
            <a:avLst/>
          </a:prstGeom>
        </p:spPr>
        <p:txBody>
          <a:bodyPr anchor="t" rtlCol="false" tIns="0" lIns="0" bIns="0" rIns="0">
            <a:spAutoFit/>
          </a:bodyPr>
          <a:lstStyle/>
          <a:p>
            <a:pPr algn="l">
              <a:lnSpc>
                <a:spcPts val="2570"/>
              </a:lnSpc>
            </a:pPr>
            <a:r>
              <a:rPr lang="en-US" sz="1800">
                <a:solidFill>
                  <a:srgbClr val="2C2926"/>
                </a:solidFill>
                <a:latin typeface="Inter"/>
                <a:ea typeface="Inter"/>
                <a:cs typeface="Inter"/>
                <a:sym typeface="Inter"/>
              </a:rPr>
              <a:t>Hi [Name], I saw your posting for [Role]. I’m a [Title] with experience in [Skill]. I’ve attached my CV and am available to speak this week.</a:t>
            </a:r>
          </a:p>
        </p:txBody>
      </p:sp>
      <p:grpSp>
        <p:nvGrpSpPr>
          <p:cNvPr name="Group 12" id="12"/>
          <p:cNvGrpSpPr/>
          <p:nvPr/>
        </p:nvGrpSpPr>
        <p:grpSpPr>
          <a:xfrm rot="0">
            <a:off x="6534445" y="2922537"/>
            <a:ext cx="2296268" cy="2296268"/>
            <a:chOff x="0" y="0"/>
            <a:chExt cx="3061691" cy="3061691"/>
          </a:xfrm>
        </p:grpSpPr>
        <p:sp>
          <p:nvSpPr>
            <p:cNvPr name="Freeform 13" id="13" descr="preencoded.png"/>
            <p:cNvSpPr/>
            <p:nvPr/>
          </p:nvSpPr>
          <p:spPr>
            <a:xfrm flipH="false" flipV="false" rot="0">
              <a:off x="0" y="0"/>
              <a:ext cx="3061716" cy="3061716"/>
            </a:xfrm>
            <a:custGeom>
              <a:avLst/>
              <a:gdLst/>
              <a:ahLst/>
              <a:cxnLst/>
              <a:rect r="r" b="b" t="t" l="l"/>
              <a:pathLst>
                <a:path h="3061716" w="3061716">
                  <a:moveTo>
                    <a:pt x="0" y="0"/>
                  </a:moveTo>
                  <a:lnTo>
                    <a:pt x="3061716" y="0"/>
                  </a:lnTo>
                  <a:lnTo>
                    <a:pt x="3061716" y="3061716"/>
                  </a:lnTo>
                  <a:lnTo>
                    <a:pt x="0" y="3061716"/>
                  </a:lnTo>
                  <a:lnTo>
                    <a:pt x="0" y="0"/>
                  </a:lnTo>
                  <a:close/>
                </a:path>
              </a:pathLst>
            </a:custGeom>
            <a:blipFill>
              <a:blip r:embed="rId5"/>
              <a:stretch>
                <a:fillRect l="0" t="0" r="0" b="0"/>
              </a:stretch>
            </a:blipFill>
          </p:spPr>
        </p:sp>
      </p:grpSp>
      <p:sp>
        <p:nvSpPr>
          <p:cNvPr name="TextBox 14" id="14"/>
          <p:cNvSpPr txBox="true"/>
          <p:nvPr/>
        </p:nvSpPr>
        <p:spPr>
          <a:xfrm rot="0">
            <a:off x="6534445" y="5444728"/>
            <a:ext cx="5218957" cy="386210"/>
          </a:xfrm>
          <a:prstGeom prst="rect">
            <a:avLst/>
          </a:prstGeom>
        </p:spPr>
        <p:txBody>
          <a:bodyPr anchor="t" rtlCol="false" tIns="0" lIns="0" bIns="0" rIns="0">
            <a:spAutoFit/>
          </a:bodyPr>
          <a:lstStyle/>
          <a:p>
            <a:pPr algn="l">
              <a:lnSpc>
                <a:spcPts val="2870"/>
              </a:lnSpc>
            </a:pPr>
            <a:r>
              <a:rPr lang="en-US" sz="2300">
                <a:solidFill>
                  <a:srgbClr val="2C2926"/>
                </a:solidFill>
                <a:latin typeface="Bricolage Grotesque"/>
                <a:ea typeface="Bricolage Grotesque"/>
                <a:cs typeface="Bricolage Grotesque"/>
                <a:sym typeface="Bricolage Grotesque"/>
              </a:rPr>
              <a:t>2. Short follow-up</a:t>
            </a:r>
          </a:p>
        </p:txBody>
      </p:sp>
      <p:sp>
        <p:nvSpPr>
          <p:cNvPr name="TextBox 15" id="15"/>
          <p:cNvSpPr txBox="true"/>
          <p:nvPr/>
        </p:nvSpPr>
        <p:spPr>
          <a:xfrm rot="0">
            <a:off x="6534445" y="5905795"/>
            <a:ext cx="5218957" cy="1068591"/>
          </a:xfrm>
          <a:prstGeom prst="rect">
            <a:avLst/>
          </a:prstGeom>
        </p:spPr>
        <p:txBody>
          <a:bodyPr anchor="t" rtlCol="false" tIns="0" lIns="0" bIns="0" rIns="0">
            <a:spAutoFit/>
          </a:bodyPr>
          <a:lstStyle/>
          <a:p>
            <a:pPr algn="l">
              <a:lnSpc>
                <a:spcPts val="2570"/>
              </a:lnSpc>
            </a:pPr>
            <a:r>
              <a:rPr lang="en-US" sz="1800">
                <a:solidFill>
                  <a:srgbClr val="2C2926"/>
                </a:solidFill>
                <a:latin typeface="Inter"/>
                <a:ea typeface="Inter"/>
                <a:cs typeface="Inter"/>
                <a:sym typeface="Inter"/>
              </a:rPr>
              <a:t>Hi [Name], checking in on my application for [Role]. I remain very interested and can be available for interview at short notice.</a:t>
            </a:r>
          </a:p>
        </p:txBody>
      </p:sp>
      <p:grpSp>
        <p:nvGrpSpPr>
          <p:cNvPr name="Group 16" id="16"/>
          <p:cNvGrpSpPr/>
          <p:nvPr/>
        </p:nvGrpSpPr>
        <p:grpSpPr>
          <a:xfrm rot="0">
            <a:off x="11988851" y="2922537"/>
            <a:ext cx="2296268" cy="2296268"/>
            <a:chOff x="0" y="0"/>
            <a:chExt cx="3061691" cy="3061691"/>
          </a:xfrm>
        </p:grpSpPr>
        <p:sp>
          <p:nvSpPr>
            <p:cNvPr name="Freeform 17" id="17" descr="preencoded.png"/>
            <p:cNvSpPr/>
            <p:nvPr/>
          </p:nvSpPr>
          <p:spPr>
            <a:xfrm flipH="false" flipV="false" rot="0">
              <a:off x="0" y="0"/>
              <a:ext cx="3061716" cy="3061716"/>
            </a:xfrm>
            <a:custGeom>
              <a:avLst/>
              <a:gdLst/>
              <a:ahLst/>
              <a:cxnLst/>
              <a:rect r="r" b="b" t="t" l="l"/>
              <a:pathLst>
                <a:path h="3061716" w="3061716">
                  <a:moveTo>
                    <a:pt x="0" y="0"/>
                  </a:moveTo>
                  <a:lnTo>
                    <a:pt x="3061716" y="0"/>
                  </a:lnTo>
                  <a:lnTo>
                    <a:pt x="3061716" y="3061716"/>
                  </a:lnTo>
                  <a:lnTo>
                    <a:pt x="0" y="3061716"/>
                  </a:lnTo>
                  <a:lnTo>
                    <a:pt x="0" y="0"/>
                  </a:lnTo>
                  <a:close/>
                </a:path>
              </a:pathLst>
            </a:custGeom>
            <a:blipFill>
              <a:blip r:embed="rId6"/>
              <a:stretch>
                <a:fillRect l="0" t="0" r="0" b="0"/>
              </a:stretch>
            </a:blipFill>
          </p:spPr>
        </p:sp>
      </p:grpSp>
      <p:sp>
        <p:nvSpPr>
          <p:cNvPr name="TextBox 18" id="18"/>
          <p:cNvSpPr txBox="true"/>
          <p:nvPr/>
        </p:nvSpPr>
        <p:spPr>
          <a:xfrm rot="0">
            <a:off x="11988851" y="5444728"/>
            <a:ext cx="5218957" cy="386210"/>
          </a:xfrm>
          <a:prstGeom prst="rect">
            <a:avLst/>
          </a:prstGeom>
        </p:spPr>
        <p:txBody>
          <a:bodyPr anchor="t" rtlCol="false" tIns="0" lIns="0" bIns="0" rIns="0">
            <a:spAutoFit/>
          </a:bodyPr>
          <a:lstStyle/>
          <a:p>
            <a:pPr algn="l">
              <a:lnSpc>
                <a:spcPts val="2870"/>
              </a:lnSpc>
            </a:pPr>
            <a:r>
              <a:rPr lang="en-US" sz="2300">
                <a:solidFill>
                  <a:srgbClr val="2C2926"/>
                </a:solidFill>
                <a:latin typeface="Bricolage Grotesque"/>
                <a:ea typeface="Bricolage Grotesque"/>
                <a:cs typeface="Bricolage Grotesque"/>
                <a:sym typeface="Bricolage Grotesque"/>
              </a:rPr>
              <a:t>3. Available immediately</a:t>
            </a:r>
          </a:p>
        </p:txBody>
      </p:sp>
      <p:sp>
        <p:nvSpPr>
          <p:cNvPr name="TextBox 19" id="19"/>
          <p:cNvSpPr txBox="true"/>
          <p:nvPr/>
        </p:nvSpPr>
        <p:spPr>
          <a:xfrm rot="0">
            <a:off x="11988851" y="5905795"/>
            <a:ext cx="5218957" cy="1068591"/>
          </a:xfrm>
          <a:prstGeom prst="rect">
            <a:avLst/>
          </a:prstGeom>
        </p:spPr>
        <p:txBody>
          <a:bodyPr anchor="t" rtlCol="false" tIns="0" lIns="0" bIns="0" rIns="0">
            <a:spAutoFit/>
          </a:bodyPr>
          <a:lstStyle/>
          <a:p>
            <a:pPr algn="l">
              <a:lnSpc>
                <a:spcPts val="2570"/>
              </a:lnSpc>
            </a:pPr>
            <a:r>
              <a:rPr lang="en-US" sz="1800">
                <a:solidFill>
                  <a:srgbClr val="2C2926"/>
                </a:solidFill>
                <a:latin typeface="Inter"/>
                <a:ea typeface="Inter"/>
                <a:cs typeface="Inter"/>
                <a:sym typeface="Inter"/>
              </a:rPr>
              <a:t>Hi [Name], I’m currently available to start immediately. My CV is attached — happy to discuss next steps.</a:t>
            </a:r>
          </a:p>
        </p:txBody>
      </p:sp>
      <p:sp>
        <p:nvSpPr>
          <p:cNvPr name="TextBox 20" id="20"/>
          <p:cNvSpPr txBox="true"/>
          <p:nvPr/>
        </p:nvSpPr>
        <p:spPr>
          <a:xfrm rot="0">
            <a:off x="1080049" y="7148065"/>
            <a:ext cx="16127911" cy="725091"/>
          </a:xfrm>
          <a:prstGeom prst="rect">
            <a:avLst/>
          </a:prstGeom>
        </p:spPr>
        <p:txBody>
          <a:bodyPr anchor="t" rtlCol="false" tIns="0" lIns="0" bIns="0" rIns="0">
            <a:spAutoFit/>
          </a:bodyPr>
          <a:lstStyle/>
          <a:p>
            <a:pPr algn="l">
              <a:lnSpc>
                <a:spcPts val="2570"/>
              </a:lnSpc>
            </a:pPr>
            <a:r>
              <a:rPr lang="en-US" sz="1800">
                <a:solidFill>
                  <a:srgbClr val="2C2926"/>
                </a:solidFill>
                <a:latin typeface="Inter"/>
                <a:ea typeface="Inter"/>
                <a:cs typeface="Inter"/>
                <a:sym typeface="Inter"/>
              </a:rPr>
              <a:t>Note: The full set contains 25 templates covering cold outreach, referral requests, role clarifications, salary conversations and polite rejections. Keep templates nearby and personalise quickly before sending.</a:t>
            </a:r>
          </a:p>
        </p:txBody>
      </p:sp>
      <p:grpSp>
        <p:nvGrpSpPr>
          <p:cNvPr name="Group 21" id="21"/>
          <p:cNvGrpSpPr/>
          <p:nvPr/>
        </p:nvGrpSpPr>
        <p:grpSpPr>
          <a:xfrm rot="0">
            <a:off x="1080049" y="8084944"/>
            <a:ext cx="16127911" cy="821827"/>
            <a:chOff x="0" y="0"/>
            <a:chExt cx="21503881" cy="1095769"/>
          </a:xfrm>
        </p:grpSpPr>
        <p:sp>
          <p:nvSpPr>
            <p:cNvPr name="Freeform 22" id="22"/>
            <p:cNvSpPr/>
            <p:nvPr/>
          </p:nvSpPr>
          <p:spPr>
            <a:xfrm flipH="false" flipV="false" rot="0">
              <a:off x="0" y="0"/>
              <a:ext cx="21503894" cy="1095756"/>
            </a:xfrm>
            <a:custGeom>
              <a:avLst/>
              <a:gdLst/>
              <a:ahLst/>
              <a:cxnLst/>
              <a:rect r="r" b="b" t="t" l="l"/>
              <a:pathLst>
                <a:path h="1095756" w="21503894">
                  <a:moveTo>
                    <a:pt x="0" y="135001"/>
                  </a:moveTo>
                  <a:cubicBezTo>
                    <a:pt x="0" y="60452"/>
                    <a:pt x="60452" y="0"/>
                    <a:pt x="135001" y="0"/>
                  </a:cubicBezTo>
                  <a:lnTo>
                    <a:pt x="21368893" y="0"/>
                  </a:lnTo>
                  <a:cubicBezTo>
                    <a:pt x="21443442" y="0"/>
                    <a:pt x="21503894" y="60452"/>
                    <a:pt x="21503894" y="135001"/>
                  </a:cubicBezTo>
                  <a:lnTo>
                    <a:pt x="21503894" y="960755"/>
                  </a:lnTo>
                  <a:cubicBezTo>
                    <a:pt x="21503894" y="1035304"/>
                    <a:pt x="21443442" y="1095756"/>
                    <a:pt x="21368893" y="1095756"/>
                  </a:cubicBezTo>
                  <a:lnTo>
                    <a:pt x="135001" y="1095756"/>
                  </a:lnTo>
                  <a:cubicBezTo>
                    <a:pt x="60452" y="1095756"/>
                    <a:pt x="0" y="1035304"/>
                    <a:pt x="0" y="960755"/>
                  </a:cubicBezTo>
                  <a:close/>
                </a:path>
              </a:pathLst>
            </a:custGeom>
            <a:solidFill>
              <a:srgbClr val="F8ECD3"/>
            </a:solidFill>
          </p:spPr>
        </p:sp>
      </p:grpSp>
      <p:grpSp>
        <p:nvGrpSpPr>
          <p:cNvPr name="Group 23" id="23"/>
          <p:cNvGrpSpPr/>
          <p:nvPr/>
        </p:nvGrpSpPr>
        <p:grpSpPr>
          <a:xfrm rot="0">
            <a:off x="1321146" y="8360569"/>
            <a:ext cx="301381" cy="241106"/>
            <a:chOff x="0" y="0"/>
            <a:chExt cx="401841" cy="321475"/>
          </a:xfrm>
        </p:grpSpPr>
        <p:sp>
          <p:nvSpPr>
            <p:cNvPr name="Freeform 24" id="24" descr="preencoded.png"/>
            <p:cNvSpPr/>
            <p:nvPr/>
          </p:nvSpPr>
          <p:spPr>
            <a:xfrm flipH="false" flipV="false" rot="0">
              <a:off x="0" y="0"/>
              <a:ext cx="401828" cy="321437"/>
            </a:xfrm>
            <a:custGeom>
              <a:avLst/>
              <a:gdLst/>
              <a:ahLst/>
              <a:cxnLst/>
              <a:rect r="r" b="b" t="t" l="l"/>
              <a:pathLst>
                <a:path h="321437" w="401828">
                  <a:moveTo>
                    <a:pt x="0" y="0"/>
                  </a:moveTo>
                  <a:lnTo>
                    <a:pt x="401828" y="0"/>
                  </a:lnTo>
                  <a:lnTo>
                    <a:pt x="401828" y="321437"/>
                  </a:lnTo>
                  <a:lnTo>
                    <a:pt x="0" y="321437"/>
                  </a:lnTo>
                  <a:lnTo>
                    <a:pt x="0" y="0"/>
                  </a:lnTo>
                  <a:close/>
                </a:path>
              </a:pathLst>
            </a:custGeom>
            <a:blipFill>
              <a:blip r:embed="rId7"/>
              <a:stretch>
                <a:fillRect l="0" t="-782" r="-3" b="-790"/>
              </a:stretch>
            </a:blipFill>
          </p:spPr>
        </p:sp>
      </p:grpSp>
      <p:sp>
        <p:nvSpPr>
          <p:cNvPr name="TextBox 25" id="25"/>
          <p:cNvSpPr txBox="true"/>
          <p:nvPr/>
        </p:nvSpPr>
        <p:spPr>
          <a:xfrm rot="0">
            <a:off x="1863623" y="8295380"/>
            <a:ext cx="16017631" cy="381600"/>
          </a:xfrm>
          <a:prstGeom prst="rect">
            <a:avLst/>
          </a:prstGeom>
        </p:spPr>
        <p:txBody>
          <a:bodyPr anchor="t" rtlCol="false" tIns="0" lIns="0" bIns="0" rIns="0">
            <a:spAutoFit/>
          </a:bodyPr>
          <a:lstStyle/>
          <a:p>
            <a:pPr algn="l">
              <a:lnSpc>
                <a:spcPts val="2570"/>
              </a:lnSpc>
            </a:pPr>
            <a:r>
              <a:rPr lang="en-US" sz="1800">
                <a:solidFill>
                  <a:srgbClr val="000000"/>
                </a:solidFill>
                <a:latin typeface="Inter"/>
                <a:ea typeface="Inter"/>
                <a:cs typeface="Inter"/>
                <a:sym typeface="Inter"/>
              </a:rPr>
              <a:t>Falayn users can store and send templates directly from their profile for faster outreach.</a:t>
            </a:r>
          </a:p>
        </p:txBody>
      </p:sp>
      <p:sp>
        <p:nvSpPr>
          <p:cNvPr name="TextBox 26" id="26"/>
          <p:cNvSpPr txBox="true"/>
          <p:nvPr/>
        </p:nvSpPr>
        <p:spPr>
          <a:xfrm rot="0">
            <a:off x="1080049" y="9080449"/>
            <a:ext cx="17042311" cy="312839"/>
          </a:xfrm>
          <a:prstGeom prst="rect">
            <a:avLst/>
          </a:prstGeom>
        </p:spPr>
        <p:txBody>
          <a:bodyPr anchor="t" rtlCol="false" tIns="0" lIns="0" bIns="0" rIns="0">
            <a:spAutoFit/>
          </a:bodyPr>
          <a:lstStyle/>
          <a:p>
            <a:pPr algn="l">
              <a:lnSpc>
                <a:spcPts val="2142"/>
              </a:lnSpc>
            </a:pPr>
            <a:r>
              <a:rPr lang="en-US" sz="1500">
                <a:solidFill>
                  <a:srgbClr val="2C2926"/>
                </a:solidFill>
                <a:latin typeface="Inter"/>
                <a:ea typeface="Inter"/>
                <a:cs typeface="Inter"/>
                <a:sym typeface="Inter"/>
              </a:rPr>
              <a:t>Page 7 • Templates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sp>
        <p:nvSpPr>
          <p:cNvPr name="TextBox 6" id="6"/>
          <p:cNvSpPr txBox="true"/>
          <p:nvPr/>
        </p:nvSpPr>
        <p:spPr>
          <a:xfrm rot="0">
            <a:off x="1080049" y="846239"/>
            <a:ext cx="16127911" cy="736702"/>
          </a:xfrm>
          <a:prstGeom prst="rect">
            <a:avLst/>
          </a:prstGeom>
        </p:spPr>
        <p:txBody>
          <a:bodyPr anchor="t" rtlCol="false" tIns="0" lIns="0" bIns="0" rIns="0">
            <a:spAutoFit/>
          </a:bodyPr>
          <a:lstStyle/>
          <a:p>
            <a:pPr algn="l">
              <a:lnSpc>
                <a:spcPts val="5491"/>
              </a:lnSpc>
            </a:pPr>
            <a:r>
              <a:rPr lang="en-US" sz="4400">
                <a:solidFill>
                  <a:srgbClr val="2C2926"/>
                </a:solidFill>
                <a:latin typeface="Bricolage Grotesque"/>
                <a:ea typeface="Bricolage Grotesque"/>
                <a:cs typeface="Bricolage Grotesque"/>
                <a:sym typeface="Bricolage Grotesque"/>
              </a:rPr>
              <a:t>How to Follow Up After Applying</a:t>
            </a:r>
          </a:p>
        </p:txBody>
      </p:sp>
      <p:sp>
        <p:nvSpPr>
          <p:cNvPr name="TextBox 7" id="7"/>
          <p:cNvSpPr txBox="true"/>
          <p:nvPr/>
        </p:nvSpPr>
        <p:spPr>
          <a:xfrm rot="0">
            <a:off x="1080049" y="1887141"/>
            <a:ext cx="16127911" cy="657520"/>
          </a:xfrm>
          <a:prstGeom prst="rect">
            <a:avLst/>
          </a:prstGeom>
        </p:spPr>
        <p:txBody>
          <a:bodyPr anchor="t" rtlCol="false" tIns="0" lIns="0" bIns="0" rIns="0">
            <a:spAutoFit/>
          </a:bodyPr>
          <a:lstStyle/>
          <a:p>
            <a:pPr algn="l">
              <a:lnSpc>
                <a:spcPts val="2366"/>
              </a:lnSpc>
            </a:pPr>
            <a:r>
              <a:rPr lang="en-US" sz="1700">
                <a:solidFill>
                  <a:srgbClr val="2C2926"/>
                </a:solidFill>
                <a:latin typeface="Inter"/>
                <a:ea typeface="Inter"/>
                <a:cs typeface="Inter"/>
                <a:sym typeface="Inter"/>
              </a:rPr>
              <a:t>Follow-up shows interest without pestering. Wait 5–7 business days after applying, then send a concise, polite message referencing the role and reiterating your fit. If you’ve already spoken, follow up within 48–72 hours with a thank-you and next steps question.</a:t>
            </a:r>
          </a:p>
        </p:txBody>
      </p:sp>
      <p:grpSp>
        <p:nvGrpSpPr>
          <p:cNvPr name="Group 8" id="8"/>
          <p:cNvGrpSpPr/>
          <p:nvPr/>
        </p:nvGrpSpPr>
        <p:grpSpPr>
          <a:xfrm rot="0">
            <a:off x="2872978" y="2731894"/>
            <a:ext cx="12541891" cy="5740003"/>
            <a:chOff x="0" y="0"/>
            <a:chExt cx="16722522" cy="7653338"/>
          </a:xfrm>
        </p:grpSpPr>
        <p:sp>
          <p:nvSpPr>
            <p:cNvPr name="Freeform 9" id="9" descr="preencoded.png"/>
            <p:cNvSpPr/>
            <p:nvPr/>
          </p:nvSpPr>
          <p:spPr>
            <a:xfrm flipH="false" flipV="false" rot="0">
              <a:off x="0" y="0"/>
              <a:ext cx="16722471" cy="7653401"/>
            </a:xfrm>
            <a:custGeom>
              <a:avLst/>
              <a:gdLst/>
              <a:ahLst/>
              <a:cxnLst/>
              <a:rect r="r" b="b" t="t" l="l"/>
              <a:pathLst>
                <a:path h="7653401" w="16722471">
                  <a:moveTo>
                    <a:pt x="0" y="0"/>
                  </a:moveTo>
                  <a:lnTo>
                    <a:pt x="16722471" y="0"/>
                  </a:lnTo>
                  <a:lnTo>
                    <a:pt x="16722471" y="7653401"/>
                  </a:lnTo>
                  <a:lnTo>
                    <a:pt x="0" y="7653401"/>
                  </a:lnTo>
                  <a:lnTo>
                    <a:pt x="0" y="0"/>
                  </a:lnTo>
                  <a:close/>
                </a:path>
              </a:pathLst>
            </a:custGeom>
            <a:blipFill>
              <a:blip r:embed="rId4"/>
              <a:stretch>
                <a:fillRect l="0" t="-21" r="0" b="-20"/>
              </a:stretch>
            </a:blipFill>
          </p:spPr>
        </p:sp>
      </p:grpSp>
      <p:sp>
        <p:nvSpPr>
          <p:cNvPr name="TextBox 10" id="10"/>
          <p:cNvSpPr txBox="true"/>
          <p:nvPr/>
        </p:nvSpPr>
        <p:spPr>
          <a:xfrm rot="0">
            <a:off x="12476359" y="6872497"/>
            <a:ext cx="2354647" cy="916705"/>
          </a:xfrm>
          <a:prstGeom prst="rect">
            <a:avLst/>
          </a:prstGeom>
        </p:spPr>
        <p:txBody>
          <a:bodyPr anchor="t" rtlCol="false" tIns="0" lIns="0" bIns="0" rIns="0">
            <a:spAutoFit/>
          </a:bodyPr>
          <a:lstStyle/>
          <a:p>
            <a:pPr algn="ctr">
              <a:lnSpc>
                <a:spcPts val="3494"/>
              </a:lnSpc>
            </a:pPr>
            <a:r>
              <a:rPr lang="en-US" sz="2799">
                <a:solidFill>
                  <a:srgbClr val="2C2926"/>
                </a:solidFill>
                <a:latin typeface="Bricolage Grotesque"/>
                <a:ea typeface="Bricolage Grotesque"/>
                <a:cs typeface="Bricolage Grotesque"/>
                <a:sym typeface="Bricolage Grotesque"/>
              </a:rPr>
              <a:t>Ask about timeline</a:t>
            </a:r>
          </a:p>
        </p:txBody>
      </p:sp>
      <p:sp>
        <p:nvSpPr>
          <p:cNvPr name="TextBox 11" id="11"/>
          <p:cNvSpPr txBox="true"/>
          <p:nvPr/>
        </p:nvSpPr>
        <p:spPr>
          <a:xfrm rot="0">
            <a:off x="9508865" y="6872497"/>
            <a:ext cx="2354647" cy="916705"/>
          </a:xfrm>
          <a:prstGeom prst="rect">
            <a:avLst/>
          </a:prstGeom>
        </p:spPr>
        <p:txBody>
          <a:bodyPr anchor="t" rtlCol="false" tIns="0" lIns="0" bIns="0" rIns="0">
            <a:spAutoFit/>
          </a:bodyPr>
          <a:lstStyle/>
          <a:p>
            <a:pPr algn="ctr">
              <a:lnSpc>
                <a:spcPts val="3494"/>
              </a:lnSpc>
            </a:pPr>
            <a:r>
              <a:rPr lang="en-US" sz="2799">
                <a:solidFill>
                  <a:srgbClr val="2C2926"/>
                </a:solidFill>
                <a:latin typeface="Bricolage Grotesque"/>
                <a:ea typeface="Bricolage Grotesque"/>
                <a:cs typeface="Bricolage Grotesque"/>
                <a:sym typeface="Bricolage Grotesque"/>
              </a:rPr>
              <a:t>Thank you 48–72h</a:t>
            </a:r>
          </a:p>
        </p:txBody>
      </p:sp>
      <p:sp>
        <p:nvSpPr>
          <p:cNvPr name="TextBox 12" id="12"/>
          <p:cNvSpPr txBox="true"/>
          <p:nvPr/>
        </p:nvSpPr>
        <p:spPr>
          <a:xfrm rot="0">
            <a:off x="6557496" y="6872497"/>
            <a:ext cx="2354647" cy="916705"/>
          </a:xfrm>
          <a:prstGeom prst="rect">
            <a:avLst/>
          </a:prstGeom>
        </p:spPr>
        <p:txBody>
          <a:bodyPr anchor="t" rtlCol="false" tIns="0" lIns="0" bIns="0" rIns="0">
            <a:spAutoFit/>
          </a:bodyPr>
          <a:lstStyle/>
          <a:p>
            <a:pPr algn="ctr">
              <a:lnSpc>
                <a:spcPts val="3494"/>
              </a:lnSpc>
            </a:pPr>
            <a:r>
              <a:rPr lang="en-US" sz="2799">
                <a:solidFill>
                  <a:srgbClr val="2C2926"/>
                </a:solidFill>
                <a:latin typeface="Bricolage Grotesque"/>
                <a:ea typeface="Bricolage Grotesque"/>
                <a:cs typeface="Bricolage Grotesque"/>
                <a:sym typeface="Bricolage Grotesque"/>
              </a:rPr>
              <a:t>Send concise inquiry</a:t>
            </a:r>
          </a:p>
        </p:txBody>
      </p:sp>
      <p:sp>
        <p:nvSpPr>
          <p:cNvPr name="TextBox 13" id="13"/>
          <p:cNvSpPr txBox="true"/>
          <p:nvPr/>
        </p:nvSpPr>
        <p:spPr>
          <a:xfrm rot="0">
            <a:off x="3541614" y="6872497"/>
            <a:ext cx="2354647" cy="916705"/>
          </a:xfrm>
          <a:prstGeom prst="rect">
            <a:avLst/>
          </a:prstGeom>
        </p:spPr>
        <p:txBody>
          <a:bodyPr anchor="t" rtlCol="false" tIns="0" lIns="0" bIns="0" rIns="0">
            <a:spAutoFit/>
          </a:bodyPr>
          <a:lstStyle/>
          <a:p>
            <a:pPr algn="ctr">
              <a:lnSpc>
                <a:spcPts val="3494"/>
              </a:lnSpc>
            </a:pPr>
            <a:r>
              <a:rPr lang="en-US" sz="2799">
                <a:solidFill>
                  <a:srgbClr val="2C2926"/>
                </a:solidFill>
                <a:latin typeface="Bricolage Grotesque"/>
                <a:ea typeface="Bricolage Grotesque"/>
                <a:cs typeface="Bricolage Grotesque"/>
                <a:sym typeface="Bricolage Grotesque"/>
              </a:rPr>
              <a:t>Wait 5–7 days</a:t>
            </a:r>
          </a:p>
        </p:txBody>
      </p:sp>
      <p:sp>
        <p:nvSpPr>
          <p:cNvPr name="TextBox 14" id="14"/>
          <p:cNvSpPr txBox="true"/>
          <p:nvPr/>
        </p:nvSpPr>
        <p:spPr>
          <a:xfrm rot="0">
            <a:off x="1080049" y="8630545"/>
            <a:ext cx="17042311" cy="343052"/>
          </a:xfrm>
          <a:prstGeom prst="rect">
            <a:avLst/>
          </a:prstGeom>
        </p:spPr>
        <p:txBody>
          <a:bodyPr anchor="t" rtlCol="false" tIns="0" lIns="0" bIns="0" rIns="0">
            <a:spAutoFit/>
          </a:bodyPr>
          <a:lstStyle/>
          <a:p>
            <a:pPr algn="l">
              <a:lnSpc>
                <a:spcPts val="2366"/>
              </a:lnSpc>
            </a:pPr>
            <a:r>
              <a:rPr lang="en-US" sz="1700">
                <a:solidFill>
                  <a:srgbClr val="2C2926"/>
                </a:solidFill>
                <a:latin typeface="Inter"/>
                <a:ea typeface="Inter"/>
                <a:cs typeface="Inter"/>
                <a:sym typeface="Inter"/>
              </a:rPr>
              <a:t>Keep a simple tracker (company, role, date applied, recruiter, follow-up dates) to avoid duplicate or missed messages.</a:t>
            </a:r>
          </a:p>
        </p:txBody>
      </p:sp>
      <p:sp>
        <p:nvSpPr>
          <p:cNvPr name="TextBox 15" id="15"/>
          <p:cNvSpPr txBox="true"/>
          <p:nvPr/>
        </p:nvSpPr>
        <p:spPr>
          <a:xfrm rot="0">
            <a:off x="1080049" y="9132246"/>
            <a:ext cx="17042311" cy="279949"/>
          </a:xfrm>
          <a:prstGeom prst="rect">
            <a:avLst/>
          </a:prstGeom>
        </p:spPr>
        <p:txBody>
          <a:bodyPr anchor="t" rtlCol="false" tIns="0" lIns="0" bIns="0" rIns="0">
            <a:spAutoFit/>
          </a:bodyPr>
          <a:lstStyle/>
          <a:p>
            <a:pPr algn="l">
              <a:lnSpc>
                <a:spcPts val="1948"/>
              </a:lnSpc>
            </a:pPr>
            <a:r>
              <a:rPr lang="en-US" sz="1399">
                <a:solidFill>
                  <a:srgbClr val="2C2926"/>
                </a:solidFill>
                <a:latin typeface="Inter"/>
                <a:ea typeface="Inter"/>
                <a:cs typeface="Inter"/>
                <a:sym typeface="Inter"/>
              </a:rPr>
              <a:t>Page 8 • Follow up</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sp>
        <p:nvSpPr>
          <p:cNvPr name="TextBox 6" id="6"/>
          <p:cNvSpPr txBox="true"/>
          <p:nvPr/>
        </p:nvSpPr>
        <p:spPr>
          <a:xfrm rot="0">
            <a:off x="1080049" y="873471"/>
            <a:ext cx="16127911" cy="827189"/>
          </a:xfrm>
          <a:prstGeom prst="rect">
            <a:avLst/>
          </a:prstGeom>
        </p:spPr>
        <p:txBody>
          <a:bodyPr anchor="t" rtlCol="false" tIns="0" lIns="0" bIns="0" rIns="0">
            <a:spAutoFit/>
          </a:bodyPr>
          <a:lstStyle/>
          <a:p>
            <a:pPr algn="l">
              <a:lnSpc>
                <a:spcPts val="6239"/>
              </a:lnSpc>
            </a:pPr>
            <a:r>
              <a:rPr lang="en-US" sz="4999">
                <a:solidFill>
                  <a:srgbClr val="2C2926"/>
                </a:solidFill>
                <a:latin typeface="Bricolage Grotesque"/>
                <a:ea typeface="Bricolage Grotesque"/>
                <a:cs typeface="Bricolage Grotesque"/>
                <a:sym typeface="Bricolage Grotesque"/>
              </a:rPr>
              <a:t>Interview Preparation Checklist</a:t>
            </a:r>
          </a:p>
        </p:txBody>
      </p:sp>
      <p:sp>
        <p:nvSpPr>
          <p:cNvPr name="TextBox 7" id="7"/>
          <p:cNvSpPr txBox="true"/>
          <p:nvPr/>
        </p:nvSpPr>
        <p:spPr>
          <a:xfrm rot="0">
            <a:off x="1080049" y="2066773"/>
            <a:ext cx="17042311" cy="430854"/>
          </a:xfrm>
          <a:prstGeom prst="rect">
            <a:avLst/>
          </a:prstGeom>
        </p:spPr>
        <p:txBody>
          <a:bodyPr anchor="t" rtlCol="false" tIns="0" lIns="0" bIns="0" rIns="0">
            <a:spAutoFit/>
          </a:bodyPr>
          <a:lstStyle/>
          <a:p>
            <a:pPr algn="l">
              <a:lnSpc>
                <a:spcPts val="2928"/>
              </a:lnSpc>
            </a:pPr>
            <a:r>
              <a:rPr lang="en-US" sz="2000">
                <a:solidFill>
                  <a:srgbClr val="2C2926"/>
                </a:solidFill>
                <a:latin typeface="Inter"/>
                <a:ea typeface="Inter"/>
                <a:cs typeface="Inter"/>
                <a:sym typeface="Inter"/>
              </a:rPr>
              <a:t>Preparation increases confidence. Use this checklist to cover logistics, company research and practice.</a:t>
            </a:r>
          </a:p>
        </p:txBody>
      </p:sp>
      <p:grpSp>
        <p:nvGrpSpPr>
          <p:cNvPr name="Group 8" id="8"/>
          <p:cNvGrpSpPr/>
          <p:nvPr/>
        </p:nvGrpSpPr>
        <p:grpSpPr>
          <a:xfrm rot="0">
            <a:off x="1075287" y="3114075"/>
            <a:ext cx="7967662" cy="265062"/>
            <a:chOff x="0" y="0"/>
            <a:chExt cx="10623550" cy="353416"/>
          </a:xfrm>
        </p:grpSpPr>
        <p:sp>
          <p:nvSpPr>
            <p:cNvPr name="Freeform 9" id="9"/>
            <p:cNvSpPr/>
            <p:nvPr/>
          </p:nvSpPr>
          <p:spPr>
            <a:xfrm flipH="false" flipV="false" rot="0">
              <a:off x="0" y="0"/>
              <a:ext cx="10623550" cy="353441"/>
            </a:xfrm>
            <a:custGeom>
              <a:avLst/>
              <a:gdLst/>
              <a:ahLst/>
              <a:cxnLst/>
              <a:rect r="r" b="b" t="t" l="l"/>
              <a:pathLst>
                <a:path h="353441" w="10623550">
                  <a:moveTo>
                    <a:pt x="0" y="148463"/>
                  </a:moveTo>
                  <a:cubicBezTo>
                    <a:pt x="0" y="66421"/>
                    <a:pt x="66421" y="0"/>
                    <a:pt x="148463" y="0"/>
                  </a:cubicBezTo>
                  <a:lnTo>
                    <a:pt x="10475087" y="0"/>
                  </a:lnTo>
                  <a:cubicBezTo>
                    <a:pt x="10557129" y="0"/>
                    <a:pt x="10623550" y="66421"/>
                    <a:pt x="10623550" y="148463"/>
                  </a:cubicBezTo>
                  <a:lnTo>
                    <a:pt x="10623550" y="204978"/>
                  </a:lnTo>
                  <a:cubicBezTo>
                    <a:pt x="10623550" y="287020"/>
                    <a:pt x="10557129" y="353441"/>
                    <a:pt x="10475087" y="353441"/>
                  </a:cubicBezTo>
                  <a:lnTo>
                    <a:pt x="148463" y="353441"/>
                  </a:lnTo>
                  <a:cubicBezTo>
                    <a:pt x="66421" y="353441"/>
                    <a:pt x="0" y="286893"/>
                    <a:pt x="0" y="204978"/>
                  </a:cubicBezTo>
                  <a:close/>
                </a:path>
              </a:pathLst>
            </a:custGeom>
            <a:solidFill>
              <a:srgbClr val="FFFFFF"/>
            </a:solidFill>
            <a:ln w="9526" cap="sq">
              <a:solidFill>
                <a:srgbClr val="F8ECD3"/>
              </a:solidFill>
              <a:prstDash val="solid"/>
              <a:miter/>
            </a:ln>
          </p:spPr>
        </p:sp>
      </p:grpSp>
      <p:sp>
        <p:nvSpPr>
          <p:cNvPr name="TextBox 10" id="10"/>
          <p:cNvSpPr txBox="true"/>
          <p:nvPr/>
        </p:nvSpPr>
        <p:spPr>
          <a:xfrm rot="0">
            <a:off x="1335586" y="3566960"/>
            <a:ext cx="7447064" cy="418357"/>
          </a:xfrm>
          <a:prstGeom prst="rect">
            <a:avLst/>
          </a:prstGeom>
        </p:spPr>
        <p:txBody>
          <a:bodyPr anchor="t" rtlCol="false" tIns="0" lIns="0" bIns="0" rIns="0">
            <a:spAutoFit/>
          </a:bodyPr>
          <a:lstStyle/>
          <a:p>
            <a:pPr algn="l">
              <a:lnSpc>
                <a:spcPts val="3119"/>
              </a:lnSpc>
            </a:pPr>
            <a:r>
              <a:rPr lang="en-US" sz="2499">
                <a:solidFill>
                  <a:srgbClr val="2C2926"/>
                </a:solidFill>
                <a:latin typeface="Bricolage Grotesque"/>
                <a:ea typeface="Bricolage Grotesque"/>
                <a:cs typeface="Bricolage Grotesque"/>
                <a:sym typeface="Bricolage Grotesque"/>
              </a:rPr>
              <a:t>Research the Company</a:t>
            </a:r>
          </a:p>
        </p:txBody>
      </p:sp>
      <p:sp>
        <p:nvSpPr>
          <p:cNvPr name="TextBox 11" id="11"/>
          <p:cNvSpPr txBox="true"/>
          <p:nvPr/>
        </p:nvSpPr>
        <p:spPr>
          <a:xfrm rot="0">
            <a:off x="1335586" y="4055116"/>
            <a:ext cx="7447064" cy="804567"/>
          </a:xfrm>
          <a:prstGeom prst="rect">
            <a:avLst/>
          </a:prstGeom>
        </p:spPr>
        <p:txBody>
          <a:bodyPr anchor="t" rtlCol="false" tIns="0" lIns="0" bIns="0" rIns="0">
            <a:spAutoFit/>
          </a:bodyPr>
          <a:lstStyle/>
          <a:p>
            <a:pPr algn="l">
              <a:lnSpc>
                <a:spcPts val="2928"/>
              </a:lnSpc>
            </a:pPr>
            <a:r>
              <a:rPr lang="en-US" sz="2000">
                <a:solidFill>
                  <a:srgbClr val="2C2926"/>
                </a:solidFill>
                <a:latin typeface="Inter"/>
                <a:ea typeface="Inter"/>
                <a:cs typeface="Inter"/>
                <a:sym typeface="Inter"/>
              </a:rPr>
              <a:t>Understand core products, values and the role’s place within the team.</a:t>
            </a:r>
          </a:p>
        </p:txBody>
      </p:sp>
      <p:grpSp>
        <p:nvGrpSpPr>
          <p:cNvPr name="Group 12" id="12"/>
          <p:cNvGrpSpPr/>
          <p:nvPr/>
        </p:nvGrpSpPr>
        <p:grpSpPr>
          <a:xfrm rot="0">
            <a:off x="9245051" y="2730846"/>
            <a:ext cx="7967662" cy="265062"/>
            <a:chOff x="0" y="0"/>
            <a:chExt cx="10623550" cy="353416"/>
          </a:xfrm>
        </p:grpSpPr>
        <p:sp>
          <p:nvSpPr>
            <p:cNvPr name="Freeform 13" id="13"/>
            <p:cNvSpPr/>
            <p:nvPr/>
          </p:nvSpPr>
          <p:spPr>
            <a:xfrm flipH="false" flipV="false" rot="0">
              <a:off x="0" y="0"/>
              <a:ext cx="10623550" cy="353441"/>
            </a:xfrm>
            <a:custGeom>
              <a:avLst/>
              <a:gdLst/>
              <a:ahLst/>
              <a:cxnLst/>
              <a:rect r="r" b="b" t="t" l="l"/>
              <a:pathLst>
                <a:path h="353441" w="10623550">
                  <a:moveTo>
                    <a:pt x="0" y="148463"/>
                  </a:moveTo>
                  <a:cubicBezTo>
                    <a:pt x="0" y="66421"/>
                    <a:pt x="66421" y="0"/>
                    <a:pt x="148463" y="0"/>
                  </a:cubicBezTo>
                  <a:lnTo>
                    <a:pt x="10475087" y="0"/>
                  </a:lnTo>
                  <a:cubicBezTo>
                    <a:pt x="10557129" y="0"/>
                    <a:pt x="10623550" y="66421"/>
                    <a:pt x="10623550" y="148463"/>
                  </a:cubicBezTo>
                  <a:lnTo>
                    <a:pt x="10623550" y="204978"/>
                  </a:lnTo>
                  <a:cubicBezTo>
                    <a:pt x="10623550" y="287020"/>
                    <a:pt x="10557129" y="353441"/>
                    <a:pt x="10475087" y="353441"/>
                  </a:cubicBezTo>
                  <a:lnTo>
                    <a:pt x="148463" y="353441"/>
                  </a:lnTo>
                  <a:cubicBezTo>
                    <a:pt x="66421" y="353441"/>
                    <a:pt x="0" y="286893"/>
                    <a:pt x="0" y="204978"/>
                  </a:cubicBezTo>
                  <a:close/>
                </a:path>
              </a:pathLst>
            </a:custGeom>
            <a:solidFill>
              <a:srgbClr val="FFFFFF"/>
            </a:solidFill>
            <a:ln w="9526" cap="sq">
              <a:solidFill>
                <a:srgbClr val="F8ECD3"/>
              </a:solidFill>
              <a:prstDash val="solid"/>
              <a:miter/>
            </a:ln>
          </p:spPr>
        </p:sp>
      </p:grpSp>
      <p:sp>
        <p:nvSpPr>
          <p:cNvPr name="TextBox 14" id="14"/>
          <p:cNvSpPr txBox="true"/>
          <p:nvPr/>
        </p:nvSpPr>
        <p:spPr>
          <a:xfrm rot="0">
            <a:off x="9505350" y="3183731"/>
            <a:ext cx="7447064" cy="418357"/>
          </a:xfrm>
          <a:prstGeom prst="rect">
            <a:avLst/>
          </a:prstGeom>
        </p:spPr>
        <p:txBody>
          <a:bodyPr anchor="t" rtlCol="false" tIns="0" lIns="0" bIns="0" rIns="0">
            <a:spAutoFit/>
          </a:bodyPr>
          <a:lstStyle/>
          <a:p>
            <a:pPr algn="l">
              <a:lnSpc>
                <a:spcPts val="3119"/>
              </a:lnSpc>
            </a:pPr>
            <a:r>
              <a:rPr lang="en-US" sz="2499">
                <a:solidFill>
                  <a:srgbClr val="2C2926"/>
                </a:solidFill>
                <a:latin typeface="Bricolage Grotesque"/>
                <a:ea typeface="Bricolage Grotesque"/>
                <a:cs typeface="Bricolage Grotesque"/>
                <a:sym typeface="Bricolage Grotesque"/>
              </a:rPr>
              <a:t>Prepare STAR Stories</a:t>
            </a:r>
          </a:p>
        </p:txBody>
      </p:sp>
      <p:sp>
        <p:nvSpPr>
          <p:cNvPr name="TextBox 15" id="15"/>
          <p:cNvSpPr txBox="true"/>
          <p:nvPr/>
        </p:nvSpPr>
        <p:spPr>
          <a:xfrm rot="0">
            <a:off x="9505350" y="3671888"/>
            <a:ext cx="7447064" cy="804567"/>
          </a:xfrm>
          <a:prstGeom prst="rect">
            <a:avLst/>
          </a:prstGeom>
        </p:spPr>
        <p:txBody>
          <a:bodyPr anchor="t" rtlCol="false" tIns="0" lIns="0" bIns="0" rIns="0">
            <a:spAutoFit/>
          </a:bodyPr>
          <a:lstStyle/>
          <a:p>
            <a:pPr algn="l">
              <a:lnSpc>
                <a:spcPts val="2928"/>
              </a:lnSpc>
            </a:pPr>
            <a:r>
              <a:rPr lang="en-US" sz="2000">
                <a:solidFill>
                  <a:srgbClr val="2C2926"/>
                </a:solidFill>
                <a:latin typeface="Inter"/>
                <a:ea typeface="Inter"/>
                <a:cs typeface="Inter"/>
                <a:sym typeface="Inter"/>
              </a:rPr>
              <a:t>Three concise examples for common competencies: teamwork, problem-solving, initiative.</a:t>
            </a:r>
          </a:p>
        </p:txBody>
      </p:sp>
      <p:grpSp>
        <p:nvGrpSpPr>
          <p:cNvPr name="Group 16" id="16"/>
          <p:cNvGrpSpPr/>
          <p:nvPr/>
        </p:nvGrpSpPr>
        <p:grpSpPr>
          <a:xfrm rot="0">
            <a:off x="1075287" y="5705323"/>
            <a:ext cx="7967662" cy="265062"/>
            <a:chOff x="0" y="0"/>
            <a:chExt cx="10623550" cy="353416"/>
          </a:xfrm>
        </p:grpSpPr>
        <p:sp>
          <p:nvSpPr>
            <p:cNvPr name="Freeform 17" id="17"/>
            <p:cNvSpPr/>
            <p:nvPr/>
          </p:nvSpPr>
          <p:spPr>
            <a:xfrm flipH="false" flipV="false" rot="0">
              <a:off x="0" y="0"/>
              <a:ext cx="10623550" cy="353441"/>
            </a:xfrm>
            <a:custGeom>
              <a:avLst/>
              <a:gdLst/>
              <a:ahLst/>
              <a:cxnLst/>
              <a:rect r="r" b="b" t="t" l="l"/>
              <a:pathLst>
                <a:path h="353441" w="10623550">
                  <a:moveTo>
                    <a:pt x="0" y="148463"/>
                  </a:moveTo>
                  <a:cubicBezTo>
                    <a:pt x="0" y="66421"/>
                    <a:pt x="66421" y="0"/>
                    <a:pt x="148463" y="0"/>
                  </a:cubicBezTo>
                  <a:lnTo>
                    <a:pt x="10475087" y="0"/>
                  </a:lnTo>
                  <a:cubicBezTo>
                    <a:pt x="10557129" y="0"/>
                    <a:pt x="10623550" y="66421"/>
                    <a:pt x="10623550" y="148463"/>
                  </a:cubicBezTo>
                  <a:lnTo>
                    <a:pt x="10623550" y="204978"/>
                  </a:lnTo>
                  <a:cubicBezTo>
                    <a:pt x="10623550" y="287020"/>
                    <a:pt x="10557129" y="353441"/>
                    <a:pt x="10475087" y="353441"/>
                  </a:cubicBezTo>
                  <a:lnTo>
                    <a:pt x="148463" y="353441"/>
                  </a:lnTo>
                  <a:cubicBezTo>
                    <a:pt x="66421" y="353441"/>
                    <a:pt x="0" y="286893"/>
                    <a:pt x="0" y="204978"/>
                  </a:cubicBezTo>
                  <a:close/>
                </a:path>
              </a:pathLst>
            </a:custGeom>
            <a:solidFill>
              <a:srgbClr val="FFFFFF"/>
            </a:solidFill>
            <a:ln w="9526" cap="sq">
              <a:solidFill>
                <a:srgbClr val="F8ECD3"/>
              </a:solidFill>
              <a:prstDash val="solid"/>
              <a:miter/>
            </a:ln>
          </p:spPr>
        </p:sp>
      </p:grpSp>
      <p:sp>
        <p:nvSpPr>
          <p:cNvPr name="TextBox 18" id="18"/>
          <p:cNvSpPr txBox="true"/>
          <p:nvPr/>
        </p:nvSpPr>
        <p:spPr>
          <a:xfrm rot="0">
            <a:off x="1335586" y="6158208"/>
            <a:ext cx="7447064" cy="418357"/>
          </a:xfrm>
          <a:prstGeom prst="rect">
            <a:avLst/>
          </a:prstGeom>
        </p:spPr>
        <p:txBody>
          <a:bodyPr anchor="t" rtlCol="false" tIns="0" lIns="0" bIns="0" rIns="0">
            <a:spAutoFit/>
          </a:bodyPr>
          <a:lstStyle/>
          <a:p>
            <a:pPr algn="l">
              <a:lnSpc>
                <a:spcPts val="3119"/>
              </a:lnSpc>
            </a:pPr>
            <a:r>
              <a:rPr lang="en-US" sz="2499">
                <a:solidFill>
                  <a:srgbClr val="2C2926"/>
                </a:solidFill>
                <a:latin typeface="Bricolage Grotesque"/>
                <a:ea typeface="Bricolage Grotesque"/>
                <a:cs typeface="Bricolage Grotesque"/>
                <a:sym typeface="Bricolage Grotesque"/>
              </a:rPr>
              <a:t>Practical Checks</a:t>
            </a:r>
          </a:p>
        </p:txBody>
      </p:sp>
      <p:sp>
        <p:nvSpPr>
          <p:cNvPr name="TextBox 19" id="19"/>
          <p:cNvSpPr txBox="true"/>
          <p:nvPr/>
        </p:nvSpPr>
        <p:spPr>
          <a:xfrm rot="0">
            <a:off x="1335586" y="6646364"/>
            <a:ext cx="7447064" cy="804567"/>
          </a:xfrm>
          <a:prstGeom prst="rect">
            <a:avLst/>
          </a:prstGeom>
        </p:spPr>
        <p:txBody>
          <a:bodyPr anchor="t" rtlCol="false" tIns="0" lIns="0" bIns="0" rIns="0">
            <a:spAutoFit/>
          </a:bodyPr>
          <a:lstStyle/>
          <a:p>
            <a:pPr algn="l">
              <a:lnSpc>
                <a:spcPts val="2928"/>
              </a:lnSpc>
            </a:pPr>
            <a:r>
              <a:rPr lang="en-US" sz="2000">
                <a:solidFill>
                  <a:srgbClr val="2C2926"/>
                </a:solidFill>
                <a:latin typeface="Inter"/>
                <a:ea typeface="Inter"/>
                <a:cs typeface="Inter"/>
                <a:sym typeface="Inter"/>
              </a:rPr>
              <a:t>Test tech (camera/mic), plan route for in-person, prepare documents to share.</a:t>
            </a:r>
          </a:p>
        </p:txBody>
      </p:sp>
      <p:grpSp>
        <p:nvGrpSpPr>
          <p:cNvPr name="Group 20" id="20"/>
          <p:cNvGrpSpPr/>
          <p:nvPr/>
        </p:nvGrpSpPr>
        <p:grpSpPr>
          <a:xfrm rot="0">
            <a:off x="9245051" y="5322094"/>
            <a:ext cx="7967662" cy="265062"/>
            <a:chOff x="0" y="0"/>
            <a:chExt cx="10623550" cy="353416"/>
          </a:xfrm>
        </p:grpSpPr>
        <p:sp>
          <p:nvSpPr>
            <p:cNvPr name="Freeform 21" id="21"/>
            <p:cNvSpPr/>
            <p:nvPr/>
          </p:nvSpPr>
          <p:spPr>
            <a:xfrm flipH="false" flipV="false" rot="0">
              <a:off x="0" y="0"/>
              <a:ext cx="10623550" cy="353441"/>
            </a:xfrm>
            <a:custGeom>
              <a:avLst/>
              <a:gdLst/>
              <a:ahLst/>
              <a:cxnLst/>
              <a:rect r="r" b="b" t="t" l="l"/>
              <a:pathLst>
                <a:path h="353441" w="10623550">
                  <a:moveTo>
                    <a:pt x="0" y="148463"/>
                  </a:moveTo>
                  <a:cubicBezTo>
                    <a:pt x="0" y="66421"/>
                    <a:pt x="66421" y="0"/>
                    <a:pt x="148463" y="0"/>
                  </a:cubicBezTo>
                  <a:lnTo>
                    <a:pt x="10475087" y="0"/>
                  </a:lnTo>
                  <a:cubicBezTo>
                    <a:pt x="10557129" y="0"/>
                    <a:pt x="10623550" y="66421"/>
                    <a:pt x="10623550" y="148463"/>
                  </a:cubicBezTo>
                  <a:lnTo>
                    <a:pt x="10623550" y="204978"/>
                  </a:lnTo>
                  <a:cubicBezTo>
                    <a:pt x="10623550" y="287020"/>
                    <a:pt x="10557129" y="353441"/>
                    <a:pt x="10475087" y="353441"/>
                  </a:cubicBezTo>
                  <a:lnTo>
                    <a:pt x="148463" y="353441"/>
                  </a:lnTo>
                  <a:cubicBezTo>
                    <a:pt x="66421" y="353441"/>
                    <a:pt x="0" y="286893"/>
                    <a:pt x="0" y="204978"/>
                  </a:cubicBezTo>
                  <a:close/>
                </a:path>
              </a:pathLst>
            </a:custGeom>
            <a:solidFill>
              <a:srgbClr val="FFFFFF"/>
            </a:solidFill>
            <a:ln w="9526" cap="sq">
              <a:solidFill>
                <a:srgbClr val="F8ECD3"/>
              </a:solidFill>
              <a:prstDash val="solid"/>
              <a:miter/>
            </a:ln>
          </p:spPr>
        </p:sp>
      </p:grpSp>
      <p:sp>
        <p:nvSpPr>
          <p:cNvPr name="TextBox 22" id="22"/>
          <p:cNvSpPr txBox="true"/>
          <p:nvPr/>
        </p:nvSpPr>
        <p:spPr>
          <a:xfrm rot="0">
            <a:off x="9505350" y="5774979"/>
            <a:ext cx="7447064" cy="418357"/>
          </a:xfrm>
          <a:prstGeom prst="rect">
            <a:avLst/>
          </a:prstGeom>
        </p:spPr>
        <p:txBody>
          <a:bodyPr anchor="t" rtlCol="false" tIns="0" lIns="0" bIns="0" rIns="0">
            <a:spAutoFit/>
          </a:bodyPr>
          <a:lstStyle/>
          <a:p>
            <a:pPr algn="l">
              <a:lnSpc>
                <a:spcPts val="3119"/>
              </a:lnSpc>
            </a:pPr>
            <a:r>
              <a:rPr lang="en-US" sz="2499">
                <a:solidFill>
                  <a:srgbClr val="2C2926"/>
                </a:solidFill>
                <a:latin typeface="Bricolage Grotesque"/>
                <a:ea typeface="Bricolage Grotesque"/>
                <a:cs typeface="Bricolage Grotesque"/>
                <a:sym typeface="Bricolage Grotesque"/>
              </a:rPr>
              <a:t>Questions for Interviewer</a:t>
            </a:r>
          </a:p>
        </p:txBody>
      </p:sp>
      <p:sp>
        <p:nvSpPr>
          <p:cNvPr name="TextBox 23" id="23"/>
          <p:cNvSpPr txBox="true"/>
          <p:nvPr/>
        </p:nvSpPr>
        <p:spPr>
          <a:xfrm rot="0">
            <a:off x="9505350" y="6263135"/>
            <a:ext cx="7447064" cy="804567"/>
          </a:xfrm>
          <a:prstGeom prst="rect">
            <a:avLst/>
          </a:prstGeom>
        </p:spPr>
        <p:txBody>
          <a:bodyPr anchor="t" rtlCol="false" tIns="0" lIns="0" bIns="0" rIns="0">
            <a:spAutoFit/>
          </a:bodyPr>
          <a:lstStyle/>
          <a:p>
            <a:pPr algn="l">
              <a:lnSpc>
                <a:spcPts val="2928"/>
              </a:lnSpc>
            </a:pPr>
            <a:r>
              <a:rPr lang="en-US" sz="2000">
                <a:solidFill>
                  <a:srgbClr val="2C2926"/>
                </a:solidFill>
                <a:latin typeface="Inter"/>
                <a:ea typeface="Inter"/>
                <a:cs typeface="Inter"/>
                <a:sym typeface="Inter"/>
              </a:rPr>
              <a:t>Prepare 3 thoughtful questions about role expectations, team and next steps.</a:t>
            </a:r>
          </a:p>
        </p:txBody>
      </p:sp>
      <p:grpSp>
        <p:nvGrpSpPr>
          <p:cNvPr name="Group 24" id="24"/>
          <p:cNvGrpSpPr/>
          <p:nvPr/>
        </p:nvGrpSpPr>
        <p:grpSpPr>
          <a:xfrm rot="0">
            <a:off x="1080049" y="7944450"/>
            <a:ext cx="16127911" cy="903389"/>
            <a:chOff x="0" y="0"/>
            <a:chExt cx="21503881" cy="1204519"/>
          </a:xfrm>
        </p:grpSpPr>
        <p:sp>
          <p:nvSpPr>
            <p:cNvPr name="Freeform 25" id="25"/>
            <p:cNvSpPr/>
            <p:nvPr/>
          </p:nvSpPr>
          <p:spPr>
            <a:xfrm flipH="false" flipV="false" rot="0">
              <a:off x="0" y="0"/>
              <a:ext cx="21503894" cy="1204468"/>
            </a:xfrm>
            <a:custGeom>
              <a:avLst/>
              <a:gdLst/>
              <a:ahLst/>
              <a:cxnLst/>
              <a:rect r="r" b="b" t="t" l="l"/>
              <a:pathLst>
                <a:path h="1204468" w="21503894">
                  <a:moveTo>
                    <a:pt x="0" y="143129"/>
                  </a:moveTo>
                  <a:cubicBezTo>
                    <a:pt x="0" y="64135"/>
                    <a:pt x="64135" y="0"/>
                    <a:pt x="143129" y="0"/>
                  </a:cubicBezTo>
                  <a:lnTo>
                    <a:pt x="21360764" y="0"/>
                  </a:lnTo>
                  <a:cubicBezTo>
                    <a:pt x="21439758" y="0"/>
                    <a:pt x="21503894" y="64135"/>
                    <a:pt x="21503894" y="143129"/>
                  </a:cubicBezTo>
                  <a:lnTo>
                    <a:pt x="21503894" y="1061339"/>
                  </a:lnTo>
                  <a:cubicBezTo>
                    <a:pt x="21503894" y="1140333"/>
                    <a:pt x="21439758" y="1204468"/>
                    <a:pt x="21360764" y="1204468"/>
                  </a:cubicBezTo>
                  <a:lnTo>
                    <a:pt x="143129" y="1204468"/>
                  </a:lnTo>
                  <a:cubicBezTo>
                    <a:pt x="64135" y="1204468"/>
                    <a:pt x="0" y="1140460"/>
                    <a:pt x="0" y="1061339"/>
                  </a:cubicBezTo>
                  <a:close/>
                </a:path>
              </a:pathLst>
            </a:custGeom>
            <a:solidFill>
              <a:srgbClr val="F8ECD3"/>
            </a:solidFill>
          </p:spPr>
        </p:sp>
      </p:grpSp>
      <p:grpSp>
        <p:nvGrpSpPr>
          <p:cNvPr name="Group 26" id="26"/>
          <p:cNvGrpSpPr/>
          <p:nvPr/>
        </p:nvGrpSpPr>
        <p:grpSpPr>
          <a:xfrm rot="0">
            <a:off x="1335586" y="8253412"/>
            <a:ext cx="319383" cy="255537"/>
            <a:chOff x="0" y="0"/>
            <a:chExt cx="425844" cy="340716"/>
          </a:xfrm>
        </p:grpSpPr>
        <p:sp>
          <p:nvSpPr>
            <p:cNvPr name="Freeform 27" id="27" descr="preencoded.png"/>
            <p:cNvSpPr/>
            <p:nvPr/>
          </p:nvSpPr>
          <p:spPr>
            <a:xfrm flipH="false" flipV="false" rot="0">
              <a:off x="0" y="0"/>
              <a:ext cx="425831" cy="340741"/>
            </a:xfrm>
            <a:custGeom>
              <a:avLst/>
              <a:gdLst/>
              <a:ahLst/>
              <a:cxnLst/>
              <a:rect r="r" b="b" t="t" l="l"/>
              <a:pathLst>
                <a:path h="340741" w="425831">
                  <a:moveTo>
                    <a:pt x="0" y="0"/>
                  </a:moveTo>
                  <a:lnTo>
                    <a:pt x="425831" y="0"/>
                  </a:lnTo>
                  <a:lnTo>
                    <a:pt x="425831" y="340741"/>
                  </a:lnTo>
                  <a:lnTo>
                    <a:pt x="0" y="340741"/>
                  </a:lnTo>
                  <a:lnTo>
                    <a:pt x="0" y="0"/>
                  </a:lnTo>
                  <a:close/>
                </a:path>
              </a:pathLst>
            </a:custGeom>
            <a:blipFill>
              <a:blip r:embed="rId4"/>
              <a:stretch>
                <a:fillRect l="-375" t="0" r="-381" b="7"/>
              </a:stretch>
            </a:blipFill>
          </p:spPr>
        </p:sp>
      </p:grpSp>
      <p:sp>
        <p:nvSpPr>
          <p:cNvPr name="TextBox 28" id="28"/>
          <p:cNvSpPr txBox="true"/>
          <p:nvPr/>
        </p:nvSpPr>
        <p:spPr>
          <a:xfrm rot="0">
            <a:off x="1910505" y="8162773"/>
            <a:ext cx="15956309" cy="430854"/>
          </a:xfrm>
          <a:prstGeom prst="rect">
            <a:avLst/>
          </a:prstGeom>
        </p:spPr>
        <p:txBody>
          <a:bodyPr anchor="t" rtlCol="false" tIns="0" lIns="0" bIns="0" rIns="0">
            <a:spAutoFit/>
          </a:bodyPr>
          <a:lstStyle/>
          <a:p>
            <a:pPr algn="l">
              <a:lnSpc>
                <a:spcPts val="2928"/>
              </a:lnSpc>
            </a:pPr>
            <a:r>
              <a:rPr lang="en-US" sz="2000">
                <a:solidFill>
                  <a:srgbClr val="000000"/>
                </a:solidFill>
                <a:latin typeface="Inter"/>
                <a:ea typeface="Inter"/>
                <a:cs typeface="Inter"/>
                <a:sym typeface="Inter"/>
              </a:rPr>
              <a:t>Print or save a one-page interview brief with your STAR stories and role-specific notes.</a:t>
            </a:r>
          </a:p>
        </p:txBody>
      </p:sp>
      <p:sp>
        <p:nvSpPr>
          <p:cNvPr name="TextBox 29" id="29"/>
          <p:cNvSpPr txBox="true"/>
          <p:nvPr/>
        </p:nvSpPr>
        <p:spPr>
          <a:xfrm rot="0">
            <a:off x="1080049" y="9038187"/>
            <a:ext cx="17042311" cy="346624"/>
          </a:xfrm>
          <a:prstGeom prst="rect">
            <a:avLst/>
          </a:prstGeom>
        </p:spPr>
        <p:txBody>
          <a:bodyPr anchor="t" rtlCol="false" tIns="0" lIns="0" bIns="0" rIns="0">
            <a:spAutoFit/>
          </a:bodyPr>
          <a:lstStyle/>
          <a:p>
            <a:pPr algn="l">
              <a:lnSpc>
                <a:spcPts val="2342"/>
              </a:lnSpc>
            </a:pPr>
            <a:r>
              <a:rPr lang="en-US" sz="1600">
                <a:solidFill>
                  <a:srgbClr val="2C2926"/>
                </a:solidFill>
                <a:latin typeface="Inter"/>
                <a:ea typeface="Inter"/>
                <a:cs typeface="Inter"/>
                <a:sym typeface="Inter"/>
              </a:rPr>
              <a:t>Page 9 • Interview prep</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sp>
        <p:nvSpPr>
          <p:cNvPr name="TextBox 6" id="6"/>
          <p:cNvSpPr txBox="true"/>
          <p:nvPr/>
        </p:nvSpPr>
        <p:spPr>
          <a:xfrm rot="0">
            <a:off x="1080049" y="829570"/>
            <a:ext cx="16127911" cy="501253"/>
          </a:xfrm>
          <a:prstGeom prst="rect">
            <a:avLst/>
          </a:prstGeom>
        </p:spPr>
        <p:txBody>
          <a:bodyPr anchor="t" rtlCol="false" tIns="0" lIns="0" bIns="0" rIns="0">
            <a:spAutoFit/>
          </a:bodyPr>
          <a:lstStyle/>
          <a:p>
            <a:pPr algn="l">
              <a:lnSpc>
                <a:spcPts val="3744"/>
              </a:lnSpc>
            </a:pPr>
            <a:r>
              <a:rPr lang="en-US" sz="3000">
                <a:solidFill>
                  <a:srgbClr val="2C2926"/>
                </a:solidFill>
                <a:latin typeface="Bricolage Grotesque"/>
                <a:ea typeface="Bricolage Grotesque"/>
                <a:cs typeface="Bricolage Grotesque"/>
                <a:sym typeface="Bricolage Grotesque"/>
              </a:rPr>
              <a:t>Final Checks, Mistakes to Avoid &amp; Next Steps</a:t>
            </a:r>
          </a:p>
        </p:txBody>
      </p:sp>
      <p:sp>
        <p:nvSpPr>
          <p:cNvPr name="TextBox 7" id="7"/>
          <p:cNvSpPr txBox="true"/>
          <p:nvPr/>
        </p:nvSpPr>
        <p:spPr>
          <a:xfrm rot="0">
            <a:off x="1080049" y="1475480"/>
            <a:ext cx="16127911" cy="379809"/>
          </a:xfrm>
          <a:prstGeom prst="rect">
            <a:avLst/>
          </a:prstGeom>
        </p:spPr>
        <p:txBody>
          <a:bodyPr anchor="t" rtlCol="false" tIns="0" lIns="0" bIns="0" rIns="0">
            <a:spAutoFit/>
          </a:bodyPr>
          <a:lstStyle/>
          <a:p>
            <a:pPr algn="l">
              <a:lnSpc>
                <a:spcPts val="1439"/>
              </a:lnSpc>
            </a:pPr>
            <a:r>
              <a:rPr lang="en-US" sz="1200">
                <a:solidFill>
                  <a:srgbClr val="2C2926"/>
                </a:solidFill>
                <a:latin typeface="Inter"/>
                <a:ea typeface="Inter"/>
                <a:cs typeface="Inter"/>
                <a:sym typeface="Inter"/>
              </a:rPr>
              <a:t>Before submitting any application or message, run a final checklist: tailored CV, customised message, correct contact and attachments. Avoid common mistakes: generic messages, unclear role target, missing contact info and late replies.</a:t>
            </a:r>
          </a:p>
        </p:txBody>
      </p:sp>
      <p:sp>
        <p:nvSpPr>
          <p:cNvPr name="Freeform 8" id="8" descr="preencoded.png"/>
          <p:cNvSpPr/>
          <p:nvPr/>
        </p:nvSpPr>
        <p:spPr>
          <a:xfrm flipH="false" flipV="false" rot="0">
            <a:off x="1080049" y="1942062"/>
            <a:ext cx="8025413" cy="1262958"/>
          </a:xfrm>
          <a:custGeom>
            <a:avLst/>
            <a:gdLst/>
            <a:ahLst/>
            <a:cxnLst/>
            <a:rect r="r" b="b" t="t" l="l"/>
            <a:pathLst>
              <a:path h="1262958" w="8025413">
                <a:moveTo>
                  <a:pt x="0" y="0"/>
                </a:moveTo>
                <a:lnTo>
                  <a:pt x="8025413" y="0"/>
                </a:lnTo>
                <a:lnTo>
                  <a:pt x="8025413" y="1262958"/>
                </a:lnTo>
                <a:lnTo>
                  <a:pt x="0" y="1262958"/>
                </a:lnTo>
                <a:lnTo>
                  <a:pt x="0" y="0"/>
                </a:lnTo>
                <a:close/>
              </a:path>
            </a:pathLst>
          </a:custGeom>
          <a:blipFill>
            <a:blip r:embed="rId4">
              <a:extLst>
                <a:ext uri="{96DAC541-7B7A-43D3-8B79-37D633B846F1}">
                  <asvg:svgBlip xmlns:asvg="http://schemas.microsoft.com/office/drawing/2016/SVG/main" r:embed="rId5"/>
                </a:ext>
              </a:extLst>
            </a:blip>
            <a:stretch>
              <a:fillRect l="0" t="-503" r="0" b="-503"/>
            </a:stretch>
          </a:blipFill>
        </p:spPr>
      </p:sp>
      <p:grpSp>
        <p:nvGrpSpPr>
          <p:cNvPr name="Group 9" id="9"/>
          <p:cNvGrpSpPr/>
          <p:nvPr/>
        </p:nvGrpSpPr>
        <p:grpSpPr>
          <a:xfrm rot="0">
            <a:off x="5000177" y="2057695"/>
            <a:ext cx="185137" cy="231429"/>
            <a:chOff x="0" y="0"/>
            <a:chExt cx="246850" cy="308572"/>
          </a:xfrm>
        </p:grpSpPr>
        <p:sp>
          <p:nvSpPr>
            <p:cNvPr name="Freeform 10" id="10"/>
            <p:cNvSpPr/>
            <p:nvPr/>
          </p:nvSpPr>
          <p:spPr>
            <a:xfrm flipH="false" flipV="false" rot="0">
              <a:off x="0" y="0"/>
              <a:ext cx="246856" cy="308571"/>
            </a:xfrm>
            <a:custGeom>
              <a:avLst/>
              <a:gdLst/>
              <a:ahLst/>
              <a:cxnLst/>
              <a:rect r="r" b="b" t="t" l="l"/>
              <a:pathLst>
                <a:path h="308571" w="246856">
                  <a:moveTo>
                    <a:pt x="0" y="0"/>
                  </a:moveTo>
                  <a:lnTo>
                    <a:pt x="246856" y="0"/>
                  </a:lnTo>
                  <a:lnTo>
                    <a:pt x="246856" y="308571"/>
                  </a:lnTo>
                  <a:lnTo>
                    <a:pt x="0" y="308571"/>
                  </a:lnTo>
                  <a:close/>
                </a:path>
              </a:pathLst>
            </a:custGeom>
            <a:blipFill>
              <a:blip r:embed="rId6">
                <a:alphaModFix amt="0"/>
              </a:blip>
              <a:stretch>
                <a:fillRect l="-110381" t="0" r="-110379" b="0"/>
              </a:stretch>
            </a:blipFill>
          </p:spPr>
        </p:sp>
        <p:sp>
          <p:nvSpPr>
            <p:cNvPr name="TextBox 11" id="11"/>
            <p:cNvSpPr txBox="true"/>
            <p:nvPr/>
          </p:nvSpPr>
          <p:spPr>
            <a:xfrm>
              <a:off x="0" y="0"/>
              <a:ext cx="246850" cy="308572"/>
            </a:xfrm>
            <a:prstGeom prst="rect">
              <a:avLst/>
            </a:prstGeom>
          </p:spPr>
          <p:txBody>
            <a:bodyPr anchor="ctr" rtlCol="false" tIns="0" lIns="0" bIns="0" rIns="0"/>
            <a:lstStyle/>
            <a:p>
              <a:pPr algn="ctr">
                <a:lnSpc>
                  <a:spcPts val="1679"/>
                </a:lnSpc>
              </a:pPr>
              <a:r>
                <a:rPr lang="en-US" sz="1399">
                  <a:solidFill>
                    <a:srgbClr val="000000"/>
                  </a:solidFill>
                  <a:latin typeface="Bricolage Grotesque"/>
                  <a:ea typeface="Bricolage Grotesque"/>
                  <a:cs typeface="Bricolage Grotesque"/>
                  <a:sym typeface="Bricolage Grotesque"/>
                </a:rPr>
                <a:t>1</a:t>
              </a:r>
            </a:p>
          </p:txBody>
        </p:sp>
      </p:grpSp>
      <p:sp>
        <p:nvSpPr>
          <p:cNvPr name="TextBox 12" id="12"/>
          <p:cNvSpPr txBox="true"/>
          <p:nvPr/>
        </p:nvSpPr>
        <p:spPr>
          <a:xfrm rot="0">
            <a:off x="1253280" y="2549719"/>
            <a:ext cx="7678941" cy="250631"/>
          </a:xfrm>
          <a:prstGeom prst="rect">
            <a:avLst/>
          </a:prstGeom>
        </p:spPr>
        <p:txBody>
          <a:bodyPr anchor="t" rtlCol="false" tIns="0" lIns="0" bIns="0" rIns="0">
            <a:spAutoFit/>
          </a:bodyPr>
          <a:lstStyle/>
          <a:p>
            <a:pPr algn="l">
              <a:lnSpc>
                <a:spcPts val="1872"/>
              </a:lnSpc>
            </a:pPr>
            <a:r>
              <a:rPr lang="en-US" sz="1500">
                <a:solidFill>
                  <a:srgbClr val="2C2926"/>
                </a:solidFill>
                <a:latin typeface="Bricolage Grotesque"/>
                <a:ea typeface="Bricolage Grotesque"/>
                <a:cs typeface="Bricolage Grotesque"/>
                <a:sym typeface="Bricolage Grotesque"/>
              </a:rPr>
              <a:t>Common Mistakes</a:t>
            </a:r>
          </a:p>
        </p:txBody>
      </p:sp>
      <p:sp>
        <p:nvSpPr>
          <p:cNvPr name="TextBox 13" id="13"/>
          <p:cNvSpPr txBox="true"/>
          <p:nvPr/>
        </p:nvSpPr>
        <p:spPr>
          <a:xfrm rot="0">
            <a:off x="1253280" y="2837107"/>
            <a:ext cx="7678941" cy="194662"/>
          </a:xfrm>
          <a:prstGeom prst="rect">
            <a:avLst/>
          </a:prstGeom>
        </p:spPr>
        <p:txBody>
          <a:bodyPr anchor="t" rtlCol="false" tIns="0" lIns="0" bIns="0" rIns="0">
            <a:spAutoFit/>
          </a:bodyPr>
          <a:lstStyle/>
          <a:p>
            <a:pPr algn="l">
              <a:lnSpc>
                <a:spcPts val="1439"/>
              </a:lnSpc>
            </a:pPr>
            <a:r>
              <a:rPr lang="en-US" sz="1200">
                <a:solidFill>
                  <a:srgbClr val="2C2926"/>
                </a:solidFill>
                <a:latin typeface="Inter"/>
                <a:ea typeface="Inter"/>
                <a:cs typeface="Inter"/>
                <a:sym typeface="Inter"/>
              </a:rPr>
              <a:t>Using one CV for all roles; ignoring recruiter instructions; long messages without clarity.</a:t>
            </a:r>
          </a:p>
        </p:txBody>
      </p:sp>
      <p:sp>
        <p:nvSpPr>
          <p:cNvPr name="Freeform 14" id="14" descr="preencoded.png"/>
          <p:cNvSpPr/>
          <p:nvPr/>
        </p:nvSpPr>
        <p:spPr>
          <a:xfrm flipH="false" flipV="false" rot="0">
            <a:off x="9182548" y="1942062"/>
            <a:ext cx="8025413" cy="1262958"/>
          </a:xfrm>
          <a:custGeom>
            <a:avLst/>
            <a:gdLst/>
            <a:ahLst/>
            <a:cxnLst/>
            <a:rect r="r" b="b" t="t" l="l"/>
            <a:pathLst>
              <a:path h="1262958" w="8025413">
                <a:moveTo>
                  <a:pt x="0" y="0"/>
                </a:moveTo>
                <a:lnTo>
                  <a:pt x="8025412" y="0"/>
                </a:lnTo>
                <a:lnTo>
                  <a:pt x="8025412" y="1262958"/>
                </a:lnTo>
                <a:lnTo>
                  <a:pt x="0" y="1262958"/>
                </a:lnTo>
                <a:lnTo>
                  <a:pt x="0" y="0"/>
                </a:lnTo>
                <a:close/>
              </a:path>
            </a:pathLst>
          </a:custGeom>
          <a:blipFill>
            <a:blip r:embed="rId4">
              <a:extLst>
                <a:ext uri="{96DAC541-7B7A-43D3-8B79-37D633B846F1}">
                  <asvg:svgBlip xmlns:asvg="http://schemas.microsoft.com/office/drawing/2016/SVG/main" r:embed="rId5"/>
                </a:ext>
              </a:extLst>
            </a:blip>
            <a:stretch>
              <a:fillRect l="0" t="-503" r="0" b="-503"/>
            </a:stretch>
          </a:blipFill>
        </p:spPr>
      </p:sp>
      <p:grpSp>
        <p:nvGrpSpPr>
          <p:cNvPr name="Group 15" id="15"/>
          <p:cNvGrpSpPr/>
          <p:nvPr/>
        </p:nvGrpSpPr>
        <p:grpSpPr>
          <a:xfrm rot="0">
            <a:off x="13102676" y="2057695"/>
            <a:ext cx="185137" cy="231429"/>
            <a:chOff x="0" y="0"/>
            <a:chExt cx="246850" cy="308572"/>
          </a:xfrm>
        </p:grpSpPr>
        <p:sp>
          <p:nvSpPr>
            <p:cNvPr name="Freeform 16" id="16"/>
            <p:cNvSpPr/>
            <p:nvPr/>
          </p:nvSpPr>
          <p:spPr>
            <a:xfrm flipH="false" flipV="false" rot="0">
              <a:off x="0" y="0"/>
              <a:ext cx="246856" cy="308571"/>
            </a:xfrm>
            <a:custGeom>
              <a:avLst/>
              <a:gdLst/>
              <a:ahLst/>
              <a:cxnLst/>
              <a:rect r="r" b="b" t="t" l="l"/>
              <a:pathLst>
                <a:path h="308571" w="246856">
                  <a:moveTo>
                    <a:pt x="0" y="0"/>
                  </a:moveTo>
                  <a:lnTo>
                    <a:pt x="246856" y="0"/>
                  </a:lnTo>
                  <a:lnTo>
                    <a:pt x="246856" y="308571"/>
                  </a:lnTo>
                  <a:lnTo>
                    <a:pt x="0" y="308571"/>
                  </a:lnTo>
                  <a:close/>
                </a:path>
              </a:pathLst>
            </a:custGeom>
            <a:blipFill>
              <a:blip r:embed="rId6">
                <a:alphaModFix amt="0"/>
              </a:blip>
              <a:stretch>
                <a:fillRect l="-110381" t="0" r="-110379" b="0"/>
              </a:stretch>
            </a:blipFill>
          </p:spPr>
        </p:sp>
        <p:sp>
          <p:nvSpPr>
            <p:cNvPr name="TextBox 17" id="17"/>
            <p:cNvSpPr txBox="true"/>
            <p:nvPr/>
          </p:nvSpPr>
          <p:spPr>
            <a:xfrm>
              <a:off x="0" y="0"/>
              <a:ext cx="246850" cy="308572"/>
            </a:xfrm>
            <a:prstGeom prst="rect">
              <a:avLst/>
            </a:prstGeom>
          </p:spPr>
          <p:txBody>
            <a:bodyPr anchor="ctr" rtlCol="false" tIns="0" lIns="0" bIns="0" rIns="0"/>
            <a:lstStyle/>
            <a:p>
              <a:pPr algn="ctr">
                <a:lnSpc>
                  <a:spcPts val="1679"/>
                </a:lnSpc>
              </a:pPr>
              <a:r>
                <a:rPr lang="en-US" sz="1399">
                  <a:solidFill>
                    <a:srgbClr val="000000"/>
                  </a:solidFill>
                  <a:latin typeface="Bricolage Grotesque"/>
                  <a:ea typeface="Bricolage Grotesque"/>
                  <a:cs typeface="Bricolage Grotesque"/>
                  <a:sym typeface="Bricolage Grotesque"/>
                </a:rPr>
                <a:t>2</a:t>
              </a:r>
            </a:p>
          </p:txBody>
        </p:sp>
      </p:grpSp>
      <p:sp>
        <p:nvSpPr>
          <p:cNvPr name="TextBox 18" id="18"/>
          <p:cNvSpPr txBox="true"/>
          <p:nvPr/>
        </p:nvSpPr>
        <p:spPr>
          <a:xfrm rot="0">
            <a:off x="9355779" y="2549719"/>
            <a:ext cx="7678941" cy="250631"/>
          </a:xfrm>
          <a:prstGeom prst="rect">
            <a:avLst/>
          </a:prstGeom>
        </p:spPr>
        <p:txBody>
          <a:bodyPr anchor="t" rtlCol="false" tIns="0" lIns="0" bIns="0" rIns="0">
            <a:spAutoFit/>
          </a:bodyPr>
          <a:lstStyle/>
          <a:p>
            <a:pPr algn="l">
              <a:lnSpc>
                <a:spcPts val="1872"/>
              </a:lnSpc>
            </a:pPr>
            <a:r>
              <a:rPr lang="en-US" sz="1500">
                <a:solidFill>
                  <a:srgbClr val="2C2926"/>
                </a:solidFill>
                <a:latin typeface="Bricolage Grotesque"/>
                <a:ea typeface="Bricolage Grotesque"/>
                <a:cs typeface="Bricolage Grotesque"/>
                <a:sym typeface="Bricolage Grotesque"/>
              </a:rPr>
              <a:t>7-Day Action Plan</a:t>
            </a:r>
          </a:p>
        </p:txBody>
      </p:sp>
      <p:sp>
        <p:nvSpPr>
          <p:cNvPr name="TextBox 19" id="19"/>
          <p:cNvSpPr txBox="true"/>
          <p:nvPr/>
        </p:nvSpPr>
        <p:spPr>
          <a:xfrm rot="0">
            <a:off x="9355779" y="2837107"/>
            <a:ext cx="7678941" cy="194662"/>
          </a:xfrm>
          <a:prstGeom prst="rect">
            <a:avLst/>
          </a:prstGeom>
        </p:spPr>
        <p:txBody>
          <a:bodyPr anchor="t" rtlCol="false" tIns="0" lIns="0" bIns="0" rIns="0">
            <a:spAutoFit/>
          </a:bodyPr>
          <a:lstStyle/>
          <a:p>
            <a:pPr algn="l">
              <a:lnSpc>
                <a:spcPts val="1439"/>
              </a:lnSpc>
            </a:pPr>
            <a:r>
              <a:rPr lang="en-US" sz="1200">
                <a:solidFill>
                  <a:srgbClr val="2C2926"/>
                </a:solidFill>
                <a:latin typeface="Inter"/>
                <a:ea typeface="Inter"/>
                <a:cs typeface="Inter"/>
                <a:sym typeface="Inter"/>
              </a:rPr>
              <a:t>Day-by-day tasks to network, apply to targeted roles and follow up (see inside guide for details).</a:t>
            </a:r>
          </a:p>
        </p:txBody>
      </p:sp>
      <p:sp>
        <p:nvSpPr>
          <p:cNvPr name="Freeform 20" id="20" descr="preencoded.png"/>
          <p:cNvSpPr/>
          <p:nvPr/>
        </p:nvSpPr>
        <p:spPr>
          <a:xfrm flipH="false" flipV="false" rot="0">
            <a:off x="1080049" y="3282105"/>
            <a:ext cx="8025413" cy="1448095"/>
          </a:xfrm>
          <a:custGeom>
            <a:avLst/>
            <a:gdLst/>
            <a:ahLst/>
            <a:cxnLst/>
            <a:rect r="r" b="b" t="t" l="l"/>
            <a:pathLst>
              <a:path h="1448095" w="8025413">
                <a:moveTo>
                  <a:pt x="0" y="0"/>
                </a:moveTo>
                <a:lnTo>
                  <a:pt x="8025413" y="0"/>
                </a:lnTo>
                <a:lnTo>
                  <a:pt x="8025413" y="1448096"/>
                </a:lnTo>
                <a:lnTo>
                  <a:pt x="0" y="1448096"/>
                </a:lnTo>
                <a:lnTo>
                  <a:pt x="0" y="0"/>
                </a:lnTo>
                <a:close/>
              </a:path>
            </a:pathLst>
          </a:custGeom>
          <a:blipFill>
            <a:blip r:embed="rId7">
              <a:extLst>
                <a:ext uri="{96DAC541-7B7A-43D3-8B79-37D633B846F1}">
                  <asvg:svgBlip xmlns:asvg="http://schemas.microsoft.com/office/drawing/2016/SVG/main" r:embed="rId8"/>
                </a:ext>
              </a:extLst>
            </a:blip>
            <a:stretch>
              <a:fillRect l="0" t="-292" r="0" b="-292"/>
            </a:stretch>
          </a:blipFill>
        </p:spPr>
      </p:sp>
      <p:grpSp>
        <p:nvGrpSpPr>
          <p:cNvPr name="Group 21" id="21"/>
          <p:cNvGrpSpPr/>
          <p:nvPr/>
        </p:nvGrpSpPr>
        <p:grpSpPr>
          <a:xfrm rot="0">
            <a:off x="5000177" y="3397748"/>
            <a:ext cx="185137" cy="231429"/>
            <a:chOff x="0" y="0"/>
            <a:chExt cx="246850" cy="308572"/>
          </a:xfrm>
        </p:grpSpPr>
        <p:sp>
          <p:nvSpPr>
            <p:cNvPr name="Freeform 22" id="22"/>
            <p:cNvSpPr/>
            <p:nvPr/>
          </p:nvSpPr>
          <p:spPr>
            <a:xfrm flipH="false" flipV="false" rot="0">
              <a:off x="0" y="0"/>
              <a:ext cx="246856" cy="308571"/>
            </a:xfrm>
            <a:custGeom>
              <a:avLst/>
              <a:gdLst/>
              <a:ahLst/>
              <a:cxnLst/>
              <a:rect r="r" b="b" t="t" l="l"/>
              <a:pathLst>
                <a:path h="308571" w="246856">
                  <a:moveTo>
                    <a:pt x="0" y="0"/>
                  </a:moveTo>
                  <a:lnTo>
                    <a:pt x="246856" y="0"/>
                  </a:lnTo>
                  <a:lnTo>
                    <a:pt x="246856" y="308571"/>
                  </a:lnTo>
                  <a:lnTo>
                    <a:pt x="0" y="308571"/>
                  </a:lnTo>
                  <a:close/>
                </a:path>
              </a:pathLst>
            </a:custGeom>
            <a:blipFill>
              <a:blip r:embed="rId6">
                <a:alphaModFix amt="0"/>
              </a:blip>
              <a:stretch>
                <a:fillRect l="-110381" t="0" r="-110379" b="0"/>
              </a:stretch>
            </a:blipFill>
          </p:spPr>
        </p:sp>
        <p:sp>
          <p:nvSpPr>
            <p:cNvPr name="TextBox 23" id="23"/>
            <p:cNvSpPr txBox="true"/>
            <p:nvPr/>
          </p:nvSpPr>
          <p:spPr>
            <a:xfrm>
              <a:off x="0" y="0"/>
              <a:ext cx="246850" cy="308572"/>
            </a:xfrm>
            <a:prstGeom prst="rect">
              <a:avLst/>
            </a:prstGeom>
          </p:spPr>
          <p:txBody>
            <a:bodyPr anchor="ctr" rtlCol="false" tIns="0" lIns="0" bIns="0" rIns="0"/>
            <a:lstStyle/>
            <a:p>
              <a:pPr algn="ctr">
                <a:lnSpc>
                  <a:spcPts val="1679"/>
                </a:lnSpc>
              </a:pPr>
              <a:r>
                <a:rPr lang="en-US" sz="1399">
                  <a:solidFill>
                    <a:srgbClr val="000000"/>
                  </a:solidFill>
                  <a:latin typeface="Bricolage Grotesque"/>
                  <a:ea typeface="Bricolage Grotesque"/>
                  <a:cs typeface="Bricolage Grotesque"/>
                  <a:sym typeface="Bricolage Grotesque"/>
                </a:rPr>
                <a:t>3</a:t>
              </a:r>
            </a:p>
          </p:txBody>
        </p:sp>
      </p:grpSp>
      <p:sp>
        <p:nvSpPr>
          <p:cNvPr name="TextBox 24" id="24"/>
          <p:cNvSpPr txBox="true"/>
          <p:nvPr/>
        </p:nvSpPr>
        <p:spPr>
          <a:xfrm rot="0">
            <a:off x="1253280" y="3889772"/>
            <a:ext cx="7678941" cy="250631"/>
          </a:xfrm>
          <a:prstGeom prst="rect">
            <a:avLst/>
          </a:prstGeom>
        </p:spPr>
        <p:txBody>
          <a:bodyPr anchor="t" rtlCol="false" tIns="0" lIns="0" bIns="0" rIns="0">
            <a:spAutoFit/>
          </a:bodyPr>
          <a:lstStyle/>
          <a:p>
            <a:pPr algn="l">
              <a:lnSpc>
                <a:spcPts val="1872"/>
              </a:lnSpc>
            </a:pPr>
            <a:r>
              <a:rPr lang="en-US" sz="1500">
                <a:solidFill>
                  <a:srgbClr val="2C2926"/>
                </a:solidFill>
                <a:latin typeface="Bricolage Grotesque"/>
                <a:ea typeface="Bricolage Grotesque"/>
                <a:cs typeface="Bricolage Grotesque"/>
                <a:sym typeface="Bricolage Grotesque"/>
              </a:rPr>
              <a:t>Final Application Checklist</a:t>
            </a:r>
          </a:p>
        </p:txBody>
      </p:sp>
      <p:sp>
        <p:nvSpPr>
          <p:cNvPr name="TextBox 25" id="25"/>
          <p:cNvSpPr txBox="true"/>
          <p:nvPr/>
        </p:nvSpPr>
        <p:spPr>
          <a:xfrm rot="0">
            <a:off x="1253280" y="4177160"/>
            <a:ext cx="7678941" cy="194662"/>
          </a:xfrm>
          <a:prstGeom prst="rect">
            <a:avLst/>
          </a:prstGeom>
        </p:spPr>
        <p:txBody>
          <a:bodyPr anchor="t" rtlCol="false" tIns="0" lIns="0" bIns="0" rIns="0">
            <a:spAutoFit/>
          </a:bodyPr>
          <a:lstStyle/>
          <a:p>
            <a:pPr algn="l">
              <a:lnSpc>
                <a:spcPts val="1439"/>
              </a:lnSpc>
            </a:pPr>
            <a:r>
              <a:rPr lang="en-US" sz="1200">
                <a:solidFill>
                  <a:srgbClr val="2C2926"/>
                </a:solidFill>
                <a:latin typeface="Inter"/>
                <a:ea typeface="Inter"/>
                <a:cs typeface="Inter"/>
                <a:sym typeface="Inter"/>
              </a:rPr>
              <a:t>Role match, tailored CV, concise message, attachments and follow-up schedule.</a:t>
            </a:r>
          </a:p>
        </p:txBody>
      </p:sp>
      <p:sp>
        <p:nvSpPr>
          <p:cNvPr name="Freeform 26" id="26" descr="preencoded.png"/>
          <p:cNvSpPr/>
          <p:nvPr/>
        </p:nvSpPr>
        <p:spPr>
          <a:xfrm flipH="false" flipV="false" rot="0">
            <a:off x="9182548" y="3282105"/>
            <a:ext cx="8025413" cy="1448095"/>
          </a:xfrm>
          <a:custGeom>
            <a:avLst/>
            <a:gdLst/>
            <a:ahLst/>
            <a:cxnLst/>
            <a:rect r="r" b="b" t="t" l="l"/>
            <a:pathLst>
              <a:path h="1448095" w="8025413">
                <a:moveTo>
                  <a:pt x="0" y="0"/>
                </a:moveTo>
                <a:lnTo>
                  <a:pt x="8025412" y="0"/>
                </a:lnTo>
                <a:lnTo>
                  <a:pt x="8025412" y="1448096"/>
                </a:lnTo>
                <a:lnTo>
                  <a:pt x="0" y="1448096"/>
                </a:lnTo>
                <a:lnTo>
                  <a:pt x="0" y="0"/>
                </a:lnTo>
                <a:close/>
              </a:path>
            </a:pathLst>
          </a:custGeom>
          <a:blipFill>
            <a:blip r:embed="rId7">
              <a:extLst>
                <a:ext uri="{96DAC541-7B7A-43D3-8B79-37D633B846F1}">
                  <asvg:svgBlip xmlns:asvg="http://schemas.microsoft.com/office/drawing/2016/SVG/main" r:embed="rId8"/>
                </a:ext>
              </a:extLst>
            </a:blip>
            <a:stretch>
              <a:fillRect l="0" t="-292" r="0" b="-292"/>
            </a:stretch>
          </a:blipFill>
        </p:spPr>
      </p:sp>
      <p:grpSp>
        <p:nvGrpSpPr>
          <p:cNvPr name="Group 27" id="27"/>
          <p:cNvGrpSpPr/>
          <p:nvPr/>
        </p:nvGrpSpPr>
        <p:grpSpPr>
          <a:xfrm rot="0">
            <a:off x="13102676" y="3397748"/>
            <a:ext cx="185137" cy="231429"/>
            <a:chOff x="0" y="0"/>
            <a:chExt cx="246850" cy="308572"/>
          </a:xfrm>
        </p:grpSpPr>
        <p:sp>
          <p:nvSpPr>
            <p:cNvPr name="Freeform 28" id="28"/>
            <p:cNvSpPr/>
            <p:nvPr/>
          </p:nvSpPr>
          <p:spPr>
            <a:xfrm flipH="false" flipV="false" rot="0">
              <a:off x="0" y="0"/>
              <a:ext cx="246856" cy="308571"/>
            </a:xfrm>
            <a:custGeom>
              <a:avLst/>
              <a:gdLst/>
              <a:ahLst/>
              <a:cxnLst/>
              <a:rect r="r" b="b" t="t" l="l"/>
              <a:pathLst>
                <a:path h="308571" w="246856">
                  <a:moveTo>
                    <a:pt x="0" y="0"/>
                  </a:moveTo>
                  <a:lnTo>
                    <a:pt x="246856" y="0"/>
                  </a:lnTo>
                  <a:lnTo>
                    <a:pt x="246856" y="308571"/>
                  </a:lnTo>
                  <a:lnTo>
                    <a:pt x="0" y="308571"/>
                  </a:lnTo>
                  <a:close/>
                </a:path>
              </a:pathLst>
            </a:custGeom>
            <a:blipFill>
              <a:blip r:embed="rId6">
                <a:alphaModFix amt="0"/>
              </a:blip>
              <a:stretch>
                <a:fillRect l="-110381" t="0" r="-110379" b="0"/>
              </a:stretch>
            </a:blipFill>
          </p:spPr>
        </p:sp>
        <p:sp>
          <p:nvSpPr>
            <p:cNvPr name="TextBox 29" id="29"/>
            <p:cNvSpPr txBox="true"/>
            <p:nvPr/>
          </p:nvSpPr>
          <p:spPr>
            <a:xfrm>
              <a:off x="0" y="0"/>
              <a:ext cx="246850" cy="308572"/>
            </a:xfrm>
            <a:prstGeom prst="rect">
              <a:avLst/>
            </a:prstGeom>
          </p:spPr>
          <p:txBody>
            <a:bodyPr anchor="ctr" rtlCol="false" tIns="0" lIns="0" bIns="0" rIns="0"/>
            <a:lstStyle/>
            <a:p>
              <a:pPr algn="ctr">
                <a:lnSpc>
                  <a:spcPts val="1679"/>
                </a:lnSpc>
              </a:pPr>
              <a:r>
                <a:rPr lang="en-US" sz="1399">
                  <a:solidFill>
                    <a:srgbClr val="000000"/>
                  </a:solidFill>
                  <a:latin typeface="Bricolage Grotesque"/>
                  <a:ea typeface="Bricolage Grotesque"/>
                  <a:cs typeface="Bricolage Grotesque"/>
                  <a:sym typeface="Bricolage Grotesque"/>
                </a:rPr>
                <a:t>4</a:t>
              </a:r>
            </a:p>
          </p:txBody>
        </p:sp>
      </p:grpSp>
      <p:sp>
        <p:nvSpPr>
          <p:cNvPr name="TextBox 30" id="30"/>
          <p:cNvSpPr txBox="true"/>
          <p:nvPr/>
        </p:nvSpPr>
        <p:spPr>
          <a:xfrm rot="0">
            <a:off x="9355779" y="3889772"/>
            <a:ext cx="7678941" cy="250631"/>
          </a:xfrm>
          <a:prstGeom prst="rect">
            <a:avLst/>
          </a:prstGeom>
        </p:spPr>
        <p:txBody>
          <a:bodyPr anchor="t" rtlCol="false" tIns="0" lIns="0" bIns="0" rIns="0">
            <a:spAutoFit/>
          </a:bodyPr>
          <a:lstStyle/>
          <a:p>
            <a:pPr algn="l">
              <a:lnSpc>
                <a:spcPts val="1872"/>
              </a:lnSpc>
            </a:pPr>
            <a:r>
              <a:rPr lang="en-US" sz="1500">
                <a:solidFill>
                  <a:srgbClr val="2C2926"/>
                </a:solidFill>
                <a:latin typeface="Bricolage Grotesque"/>
                <a:ea typeface="Bricolage Grotesque"/>
                <a:cs typeface="Bricolage Grotesque"/>
                <a:sym typeface="Bricolage Grotesque"/>
              </a:rPr>
              <a:t>About Falayn</a:t>
            </a:r>
          </a:p>
        </p:txBody>
      </p:sp>
      <p:sp>
        <p:nvSpPr>
          <p:cNvPr name="TextBox 31" id="31"/>
          <p:cNvSpPr txBox="true"/>
          <p:nvPr/>
        </p:nvSpPr>
        <p:spPr>
          <a:xfrm rot="0">
            <a:off x="9355779" y="4177160"/>
            <a:ext cx="7678941" cy="379809"/>
          </a:xfrm>
          <a:prstGeom prst="rect">
            <a:avLst/>
          </a:prstGeom>
        </p:spPr>
        <p:txBody>
          <a:bodyPr anchor="t" rtlCol="false" tIns="0" lIns="0" bIns="0" rIns="0">
            <a:spAutoFit/>
          </a:bodyPr>
          <a:lstStyle/>
          <a:p>
            <a:pPr algn="l">
              <a:lnSpc>
                <a:spcPts val="1439"/>
              </a:lnSpc>
            </a:pPr>
            <a:r>
              <a:rPr lang="en-US" sz="1200">
                <a:solidFill>
                  <a:srgbClr val="2C2926"/>
                </a:solidFill>
                <a:latin typeface="Inter"/>
                <a:ea typeface="Inter"/>
                <a:cs typeface="Inter"/>
                <a:sym typeface="Inter"/>
              </a:rPr>
              <a:t>Falayn is an AI-powered recruitment platform connecting Gulf job seekers with recruiters. Explore Falayn to create a profile, save templates and receive tailored job alerts.</a:t>
            </a:r>
          </a:p>
        </p:txBody>
      </p:sp>
      <p:sp>
        <p:nvSpPr>
          <p:cNvPr name="TextBox 32" id="32"/>
          <p:cNvSpPr txBox="true"/>
          <p:nvPr/>
        </p:nvSpPr>
        <p:spPr>
          <a:xfrm rot="0">
            <a:off x="1080049" y="4876800"/>
            <a:ext cx="9526191" cy="379809"/>
          </a:xfrm>
          <a:prstGeom prst="rect">
            <a:avLst/>
          </a:prstGeom>
        </p:spPr>
        <p:txBody>
          <a:bodyPr anchor="t" rtlCol="false" tIns="0" lIns="0" bIns="0" rIns="0">
            <a:spAutoFit/>
          </a:bodyPr>
          <a:lstStyle/>
          <a:p>
            <a:pPr algn="l">
              <a:lnSpc>
                <a:spcPts val="1439"/>
              </a:lnSpc>
            </a:pPr>
            <a:r>
              <a:rPr lang="en-US" sz="1200">
                <a:solidFill>
                  <a:srgbClr val="2C2926"/>
                </a:solidFill>
                <a:latin typeface="Inter"/>
                <a:ea typeface="Inter"/>
                <a:cs typeface="Inter"/>
                <a:sym typeface="Inter"/>
              </a:rPr>
              <a:t>Next step: upload your CV to Falayn, set job alerts for your target statement and try sending three tailored recruiter messages this week using the templates.</a:t>
            </a:r>
          </a:p>
        </p:txBody>
      </p:sp>
      <p:grpSp>
        <p:nvGrpSpPr>
          <p:cNvPr name="Group 33" id="33"/>
          <p:cNvGrpSpPr/>
          <p:nvPr/>
        </p:nvGrpSpPr>
        <p:grpSpPr>
          <a:xfrm rot="0">
            <a:off x="1080049" y="5343373"/>
            <a:ext cx="1395412" cy="424310"/>
            <a:chOff x="0" y="0"/>
            <a:chExt cx="1860550" cy="565747"/>
          </a:xfrm>
        </p:grpSpPr>
        <p:sp>
          <p:nvSpPr>
            <p:cNvPr name="Freeform 34" id="34" descr="preencoded.png">
              <a:hlinkClick r:id="rId9" tooltip="https://www.falayn.com"/>
            </p:cNvPr>
            <p:cNvSpPr/>
            <p:nvPr/>
          </p:nvSpPr>
          <p:spPr>
            <a:xfrm flipH="false" flipV="false" rot="0">
              <a:off x="0" y="0"/>
              <a:ext cx="1860550" cy="565785"/>
            </a:xfrm>
            <a:custGeom>
              <a:avLst/>
              <a:gdLst/>
              <a:ahLst/>
              <a:cxnLst/>
              <a:rect r="r" b="b" t="t" l="l"/>
              <a:pathLst>
                <a:path h="565785" w="1860550">
                  <a:moveTo>
                    <a:pt x="0" y="0"/>
                  </a:moveTo>
                  <a:lnTo>
                    <a:pt x="1860550" y="0"/>
                  </a:lnTo>
                  <a:lnTo>
                    <a:pt x="1860550" y="565785"/>
                  </a:lnTo>
                  <a:lnTo>
                    <a:pt x="0" y="565785"/>
                  </a:lnTo>
                  <a:lnTo>
                    <a:pt x="0" y="0"/>
                  </a:lnTo>
                  <a:close/>
                </a:path>
              </a:pathLst>
            </a:custGeom>
            <a:blipFill>
              <a:blip r:embed="rId10"/>
              <a:stretch>
                <a:fillRect l="0" t="-336" r="0" b="-329"/>
              </a:stretch>
            </a:blipFill>
          </p:spPr>
        </p:sp>
      </p:grpSp>
      <p:grpSp>
        <p:nvGrpSpPr>
          <p:cNvPr name="Group 35" id="35"/>
          <p:cNvGrpSpPr/>
          <p:nvPr/>
        </p:nvGrpSpPr>
        <p:grpSpPr>
          <a:xfrm rot="0">
            <a:off x="2552548" y="5343373"/>
            <a:ext cx="1324718" cy="424310"/>
            <a:chOff x="0" y="0"/>
            <a:chExt cx="1766291" cy="565747"/>
          </a:xfrm>
        </p:grpSpPr>
        <p:sp>
          <p:nvSpPr>
            <p:cNvPr name="Freeform 36" id="36" descr="preencoded.png">
              <a:hlinkClick r:id="rId11" tooltip="https://www.falayn.com/signup"/>
            </p:cNvPr>
            <p:cNvSpPr/>
            <p:nvPr/>
          </p:nvSpPr>
          <p:spPr>
            <a:xfrm flipH="false" flipV="false" rot="0">
              <a:off x="0" y="0"/>
              <a:ext cx="1766316" cy="565785"/>
            </a:xfrm>
            <a:custGeom>
              <a:avLst/>
              <a:gdLst/>
              <a:ahLst/>
              <a:cxnLst/>
              <a:rect r="r" b="b" t="t" l="l"/>
              <a:pathLst>
                <a:path h="565785" w="1766316">
                  <a:moveTo>
                    <a:pt x="0" y="0"/>
                  </a:moveTo>
                  <a:lnTo>
                    <a:pt x="1766316" y="0"/>
                  </a:lnTo>
                  <a:lnTo>
                    <a:pt x="1766316" y="565785"/>
                  </a:lnTo>
                  <a:lnTo>
                    <a:pt x="0" y="565785"/>
                  </a:lnTo>
                  <a:lnTo>
                    <a:pt x="0" y="0"/>
                  </a:lnTo>
                  <a:close/>
                </a:path>
              </a:pathLst>
            </a:custGeom>
            <a:blipFill>
              <a:blip r:embed="rId12"/>
              <a:stretch>
                <a:fillRect l="0" t="-175" r="1" b="-170"/>
              </a:stretch>
            </a:blipFill>
          </p:spPr>
        </p:sp>
      </p:grpSp>
      <p:grpSp>
        <p:nvGrpSpPr>
          <p:cNvPr name="Group 37" id="37"/>
          <p:cNvGrpSpPr/>
          <p:nvPr/>
        </p:nvGrpSpPr>
        <p:grpSpPr>
          <a:xfrm rot="0">
            <a:off x="10992002" y="4903737"/>
            <a:ext cx="6225330" cy="6225330"/>
            <a:chOff x="0" y="0"/>
            <a:chExt cx="8300441" cy="8300441"/>
          </a:xfrm>
        </p:grpSpPr>
        <p:sp>
          <p:nvSpPr>
            <p:cNvPr name="Freeform 38" id="38" descr="preencoded.png"/>
            <p:cNvSpPr/>
            <p:nvPr/>
          </p:nvSpPr>
          <p:spPr>
            <a:xfrm flipH="false" flipV="false" rot="0">
              <a:off x="0" y="0"/>
              <a:ext cx="8300466" cy="8300466"/>
            </a:xfrm>
            <a:custGeom>
              <a:avLst/>
              <a:gdLst/>
              <a:ahLst/>
              <a:cxnLst/>
              <a:rect r="r" b="b" t="t" l="l"/>
              <a:pathLst>
                <a:path h="8300466" w="8300466">
                  <a:moveTo>
                    <a:pt x="0" y="0"/>
                  </a:moveTo>
                  <a:lnTo>
                    <a:pt x="8300466" y="0"/>
                  </a:lnTo>
                  <a:lnTo>
                    <a:pt x="8300466" y="8300466"/>
                  </a:lnTo>
                  <a:lnTo>
                    <a:pt x="0" y="8300466"/>
                  </a:lnTo>
                  <a:lnTo>
                    <a:pt x="0" y="0"/>
                  </a:lnTo>
                  <a:close/>
                </a:path>
              </a:pathLst>
            </a:custGeom>
            <a:blipFill>
              <a:blip r:embed="rId13"/>
              <a:stretch>
                <a:fillRect l="0" t="0" r="0" b="0"/>
              </a:stretch>
            </a:blipFill>
          </p:spPr>
        </p:sp>
      </p:grpSp>
      <p:sp>
        <p:nvSpPr>
          <p:cNvPr name="TextBox 39" id="39"/>
          <p:cNvSpPr txBox="true"/>
          <p:nvPr/>
        </p:nvSpPr>
        <p:spPr>
          <a:xfrm rot="0">
            <a:off x="622849" y="11302603"/>
            <a:ext cx="17042311" cy="147933"/>
          </a:xfrm>
          <a:prstGeom prst="rect">
            <a:avLst/>
          </a:prstGeom>
        </p:spPr>
        <p:txBody>
          <a:bodyPr anchor="t" rtlCol="false" tIns="0" lIns="0" bIns="0" rIns="0">
            <a:spAutoFit/>
          </a:bodyPr>
          <a:lstStyle/>
          <a:p>
            <a:pPr algn="ctr">
              <a:lnSpc>
                <a:spcPts val="1080"/>
              </a:lnSpc>
            </a:pPr>
            <a:r>
              <a:rPr lang="en-US" sz="900">
                <a:solidFill>
                  <a:srgbClr val="2C2926"/>
                </a:solidFill>
                <a:latin typeface="Inter"/>
                <a:ea typeface="Inter"/>
                <a:cs typeface="Inter"/>
                <a:sym typeface="Inter"/>
              </a:rPr>
              <a:t>Page 10 • Final • Falayn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DAHR0qYrN2M</dc:identifier>
  <dcterms:modified xsi:type="dcterms:W3CDTF">2011-08-01T06:04:30Z</dcterms:modified>
  <cp:revision>1</cp:revision>
  <dc:title>The-Gulf-Job-Seekers-Career-Starter-Guide.pptx</dc:title>
</cp:coreProperties>
</file>