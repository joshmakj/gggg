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Raleway" pitchFamily="2" charset="0"/>
      <p:regular r:id="rId14"/>
    </p:embeddedFont>
    <p:embeddedFont>
      <p:font typeface="Roboto" panose="02000000000000000000" pitchFamily="2" charset="0"/>
      <p:regular r:id="rId15"/>
    </p:embeddedFont>
    <p:embeddedFont>
      <p:font typeface="Roboto Bold" panose="020B0604020202020204" charset="0"/>
      <p:regular r:id="rId16"/>
    </p:embeddedFont>
    <p:embeddedFont>
      <p:font typeface="Roboto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9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80049" y="3499399"/>
            <a:ext cx="16127911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60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Recruiter Message Pack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0049" y="4850454"/>
            <a:ext cx="16127911" cy="1092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Ready-to-use messages to connect with recruiters, follow up on applications, and build professional relationships across the Gulf job market.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80049" y="6289919"/>
            <a:ext cx="3587944" cy="468954"/>
            <a:chOff x="0" y="0"/>
            <a:chExt cx="4783925" cy="6252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83963" cy="625348"/>
            </a:xfrm>
            <a:custGeom>
              <a:avLst/>
              <a:gdLst/>
              <a:ahLst/>
              <a:cxnLst/>
              <a:rect l="l" t="t" r="r" b="b"/>
              <a:pathLst>
                <a:path w="4783963" h="625348">
                  <a:moveTo>
                    <a:pt x="0" y="138303"/>
                  </a:moveTo>
                  <a:cubicBezTo>
                    <a:pt x="0" y="61849"/>
                    <a:pt x="61849" y="0"/>
                    <a:pt x="138303" y="0"/>
                  </a:cubicBezTo>
                  <a:lnTo>
                    <a:pt x="4645660" y="0"/>
                  </a:lnTo>
                  <a:cubicBezTo>
                    <a:pt x="4721987" y="0"/>
                    <a:pt x="4783963" y="61849"/>
                    <a:pt x="4783963" y="138303"/>
                  </a:cubicBezTo>
                  <a:lnTo>
                    <a:pt x="4783963" y="487045"/>
                  </a:lnTo>
                  <a:cubicBezTo>
                    <a:pt x="4783963" y="563372"/>
                    <a:pt x="4722114" y="625348"/>
                    <a:pt x="4645660" y="625348"/>
                  </a:cubicBezTo>
                  <a:lnTo>
                    <a:pt x="138303" y="625348"/>
                  </a:lnTo>
                  <a:cubicBezTo>
                    <a:pt x="61849" y="625221"/>
                    <a:pt x="0" y="563372"/>
                    <a:pt x="0" y="487045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265187" y="6400952"/>
            <a:ext cx="246755" cy="246755"/>
            <a:chOff x="0" y="0"/>
            <a:chExt cx="329006" cy="329006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329057" cy="329057"/>
            </a:xfrm>
            <a:custGeom>
              <a:avLst/>
              <a:gdLst/>
              <a:ahLst/>
              <a:cxnLst/>
              <a:rect l="l" t="t" r="r" b="b"/>
              <a:pathLst>
                <a:path w="329057" h="329057">
                  <a:moveTo>
                    <a:pt x="0" y="0"/>
                  </a:moveTo>
                  <a:lnTo>
                    <a:pt x="329057" y="0"/>
                  </a:lnTo>
                  <a:lnTo>
                    <a:pt x="329057" y="329057"/>
                  </a:lnTo>
                  <a:lnTo>
                    <a:pt x="0" y="329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5" b="15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635328" y="6382493"/>
            <a:ext cx="3761927" cy="283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GULF CAREER RESOURCE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817421" y="6285157"/>
            <a:ext cx="3633940" cy="478488"/>
            <a:chOff x="0" y="0"/>
            <a:chExt cx="4845253" cy="63798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45304" cy="638048"/>
            </a:xfrm>
            <a:custGeom>
              <a:avLst/>
              <a:gdLst/>
              <a:ahLst/>
              <a:cxnLst/>
              <a:rect l="l" t="t" r="r" b="b"/>
              <a:pathLst>
                <a:path w="4845304" h="638048">
                  <a:moveTo>
                    <a:pt x="0" y="141097"/>
                  </a:moveTo>
                  <a:cubicBezTo>
                    <a:pt x="0" y="63119"/>
                    <a:pt x="63119" y="0"/>
                    <a:pt x="141097" y="0"/>
                  </a:cubicBezTo>
                  <a:lnTo>
                    <a:pt x="4704207" y="0"/>
                  </a:lnTo>
                  <a:cubicBezTo>
                    <a:pt x="4782058" y="0"/>
                    <a:pt x="4845304" y="63119"/>
                    <a:pt x="4845304" y="141097"/>
                  </a:cubicBezTo>
                  <a:lnTo>
                    <a:pt x="4845304" y="496951"/>
                  </a:lnTo>
                  <a:cubicBezTo>
                    <a:pt x="4845304" y="574802"/>
                    <a:pt x="4782185" y="638048"/>
                    <a:pt x="4704207" y="638048"/>
                  </a:cubicBezTo>
                  <a:lnTo>
                    <a:pt x="141097" y="638048"/>
                  </a:lnTo>
                  <a:cubicBezTo>
                    <a:pt x="63119" y="637921"/>
                    <a:pt x="0" y="574802"/>
                    <a:pt x="0" y="496951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7971" r="1" b="-97961"/>
              </a:stretch>
            </a:blipFill>
            <a:ln w="9526" cap="sq">
              <a:solidFill>
                <a:srgbClr val="1B1B27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007321" y="6400952"/>
            <a:ext cx="246755" cy="246755"/>
            <a:chOff x="0" y="0"/>
            <a:chExt cx="329006" cy="329006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329057" cy="329057"/>
            </a:xfrm>
            <a:custGeom>
              <a:avLst/>
              <a:gdLst/>
              <a:ahLst/>
              <a:cxnLst/>
              <a:rect l="l" t="t" r="r" b="b"/>
              <a:pathLst>
                <a:path w="329057" h="329057">
                  <a:moveTo>
                    <a:pt x="0" y="0"/>
                  </a:moveTo>
                  <a:lnTo>
                    <a:pt x="329057" y="0"/>
                  </a:lnTo>
                  <a:lnTo>
                    <a:pt x="329057" y="329057"/>
                  </a:lnTo>
                  <a:lnTo>
                    <a:pt x="0" y="329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5" b="15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5377463" y="6382493"/>
            <a:ext cx="3798389" cy="283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190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COPY-READY TEMPLATES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80049" y="847430"/>
            <a:ext cx="16127911" cy="516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8"/>
              </a:lnSpc>
            </a:pPr>
            <a:r>
              <a:rPr lang="en-US" sz="3099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How to Use This Pack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75287" y="1574159"/>
            <a:ext cx="367455" cy="367455"/>
            <a:chOff x="0" y="0"/>
            <a:chExt cx="489941" cy="4899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9839" cy="489839"/>
            </a:xfrm>
            <a:custGeom>
              <a:avLst/>
              <a:gdLst/>
              <a:ahLst/>
              <a:cxnLst/>
              <a:rect l="l" t="t" r="r" b="b"/>
              <a:pathLst>
                <a:path w="489839" h="489839">
                  <a:moveTo>
                    <a:pt x="0" y="91440"/>
                  </a:moveTo>
                  <a:cubicBezTo>
                    <a:pt x="0" y="41021"/>
                    <a:pt x="41021" y="0"/>
                    <a:pt x="91440" y="0"/>
                  </a:cubicBezTo>
                  <a:lnTo>
                    <a:pt x="398399" y="0"/>
                  </a:lnTo>
                  <a:cubicBezTo>
                    <a:pt x="448945" y="0"/>
                    <a:pt x="489839" y="41021"/>
                    <a:pt x="489839" y="91440"/>
                  </a:cubicBezTo>
                  <a:lnTo>
                    <a:pt x="489839" y="398399"/>
                  </a:lnTo>
                  <a:cubicBezTo>
                    <a:pt x="489839" y="448945"/>
                    <a:pt x="448818" y="489839"/>
                    <a:pt x="398399" y="489839"/>
                  </a:cubicBezTo>
                  <a:lnTo>
                    <a:pt x="91440" y="489839"/>
                  </a:lnTo>
                  <a:cubicBezTo>
                    <a:pt x="40894" y="489839"/>
                    <a:pt x="0" y="448818"/>
                    <a:pt x="0" y="398399"/>
                  </a:cubicBezTo>
                  <a:close/>
                </a:path>
              </a:pathLst>
            </a:custGeom>
            <a:solidFill>
              <a:srgbClr val="E1E1EA"/>
            </a:solidFill>
            <a:ln w="9526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139657" y="1608687"/>
            <a:ext cx="238573" cy="298256"/>
            <a:chOff x="0" y="0"/>
            <a:chExt cx="318097" cy="3976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8096" cy="397669"/>
            </a:xfrm>
            <a:custGeom>
              <a:avLst/>
              <a:gdLst/>
              <a:ahLst/>
              <a:cxnLst/>
              <a:rect l="l" t="t" r="r" b="b"/>
              <a:pathLst>
                <a:path w="318096" h="397669">
                  <a:moveTo>
                    <a:pt x="0" y="0"/>
                  </a:moveTo>
                  <a:lnTo>
                    <a:pt x="318096" y="0"/>
                  </a:lnTo>
                  <a:lnTo>
                    <a:pt x="318096" y="397669"/>
                  </a:lnTo>
                  <a:lnTo>
                    <a:pt x="0" y="397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01" r="-110401" b="-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318097" cy="40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1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19980" y="1624013"/>
            <a:ext cx="8255641" cy="25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Choose the right message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19980" y="1954711"/>
            <a:ext cx="8255641" cy="20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Match the template to your exact situation — connection request, follow-up, CV submission, or recruiter response.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75287" y="2316366"/>
            <a:ext cx="367455" cy="367455"/>
            <a:chOff x="0" y="0"/>
            <a:chExt cx="489941" cy="48994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9839" cy="489839"/>
            </a:xfrm>
            <a:custGeom>
              <a:avLst/>
              <a:gdLst/>
              <a:ahLst/>
              <a:cxnLst/>
              <a:rect l="l" t="t" r="r" b="b"/>
              <a:pathLst>
                <a:path w="489839" h="489839">
                  <a:moveTo>
                    <a:pt x="0" y="91440"/>
                  </a:moveTo>
                  <a:cubicBezTo>
                    <a:pt x="0" y="41021"/>
                    <a:pt x="41021" y="0"/>
                    <a:pt x="91440" y="0"/>
                  </a:cubicBezTo>
                  <a:lnTo>
                    <a:pt x="398399" y="0"/>
                  </a:lnTo>
                  <a:cubicBezTo>
                    <a:pt x="448945" y="0"/>
                    <a:pt x="489839" y="41021"/>
                    <a:pt x="489839" y="91440"/>
                  </a:cubicBezTo>
                  <a:lnTo>
                    <a:pt x="489839" y="398399"/>
                  </a:lnTo>
                  <a:cubicBezTo>
                    <a:pt x="489839" y="448945"/>
                    <a:pt x="448818" y="489839"/>
                    <a:pt x="398399" y="489839"/>
                  </a:cubicBezTo>
                  <a:lnTo>
                    <a:pt x="91440" y="489839"/>
                  </a:lnTo>
                  <a:cubicBezTo>
                    <a:pt x="40894" y="489839"/>
                    <a:pt x="0" y="448818"/>
                    <a:pt x="0" y="398399"/>
                  </a:cubicBezTo>
                  <a:close/>
                </a:path>
              </a:pathLst>
            </a:custGeom>
            <a:solidFill>
              <a:srgbClr val="E1E1EA"/>
            </a:solidFill>
            <a:ln w="9526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139657" y="2350894"/>
            <a:ext cx="238573" cy="298256"/>
            <a:chOff x="0" y="0"/>
            <a:chExt cx="318097" cy="39767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18096" cy="397669"/>
            </a:xfrm>
            <a:custGeom>
              <a:avLst/>
              <a:gdLst/>
              <a:ahLst/>
              <a:cxnLst/>
              <a:rect l="l" t="t" r="r" b="b"/>
              <a:pathLst>
                <a:path w="318096" h="397669">
                  <a:moveTo>
                    <a:pt x="0" y="0"/>
                  </a:moveTo>
                  <a:lnTo>
                    <a:pt x="318096" y="0"/>
                  </a:lnTo>
                  <a:lnTo>
                    <a:pt x="318096" y="397669"/>
                  </a:lnTo>
                  <a:lnTo>
                    <a:pt x="0" y="397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01" r="-110401" b="-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318097" cy="40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2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519980" y="2366220"/>
            <a:ext cx="8255641" cy="25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Replace the placeholders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19980" y="2696918"/>
            <a:ext cx="8255641" cy="395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Every template uses clear markers like </a:t>
            </a:r>
            <a:r>
              <a:rPr lang="en-US" sz="120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[Recruiter Name]</a:t>
            </a: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20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[Your Role]</a:t>
            </a: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-US" sz="120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[Location]</a:t>
            </a: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swap them with your real details.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75287" y="3251444"/>
            <a:ext cx="367455" cy="367455"/>
            <a:chOff x="0" y="0"/>
            <a:chExt cx="489941" cy="48994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9839" cy="489839"/>
            </a:xfrm>
            <a:custGeom>
              <a:avLst/>
              <a:gdLst/>
              <a:ahLst/>
              <a:cxnLst/>
              <a:rect l="l" t="t" r="r" b="b"/>
              <a:pathLst>
                <a:path w="489839" h="489839">
                  <a:moveTo>
                    <a:pt x="0" y="91440"/>
                  </a:moveTo>
                  <a:cubicBezTo>
                    <a:pt x="0" y="41021"/>
                    <a:pt x="41021" y="0"/>
                    <a:pt x="91440" y="0"/>
                  </a:cubicBezTo>
                  <a:lnTo>
                    <a:pt x="398399" y="0"/>
                  </a:lnTo>
                  <a:cubicBezTo>
                    <a:pt x="448945" y="0"/>
                    <a:pt x="489839" y="41021"/>
                    <a:pt x="489839" y="91440"/>
                  </a:cubicBezTo>
                  <a:lnTo>
                    <a:pt x="489839" y="398399"/>
                  </a:lnTo>
                  <a:cubicBezTo>
                    <a:pt x="489839" y="448945"/>
                    <a:pt x="448818" y="489839"/>
                    <a:pt x="398399" y="489839"/>
                  </a:cubicBezTo>
                  <a:lnTo>
                    <a:pt x="91440" y="489839"/>
                  </a:lnTo>
                  <a:cubicBezTo>
                    <a:pt x="40894" y="489839"/>
                    <a:pt x="0" y="448818"/>
                    <a:pt x="0" y="398399"/>
                  </a:cubicBezTo>
                  <a:close/>
                </a:path>
              </a:pathLst>
            </a:custGeom>
            <a:solidFill>
              <a:srgbClr val="E1E1EA"/>
            </a:solidFill>
            <a:ln w="9526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139657" y="3285973"/>
            <a:ext cx="238573" cy="298256"/>
            <a:chOff x="0" y="0"/>
            <a:chExt cx="318097" cy="39767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8096" cy="397669"/>
            </a:xfrm>
            <a:custGeom>
              <a:avLst/>
              <a:gdLst/>
              <a:ahLst/>
              <a:cxnLst/>
              <a:rect l="l" t="t" r="r" b="b"/>
              <a:pathLst>
                <a:path w="318096" h="397669">
                  <a:moveTo>
                    <a:pt x="0" y="0"/>
                  </a:moveTo>
                  <a:lnTo>
                    <a:pt x="318096" y="0"/>
                  </a:lnTo>
                  <a:lnTo>
                    <a:pt x="318096" y="397669"/>
                  </a:lnTo>
                  <a:lnTo>
                    <a:pt x="0" y="397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01" r="-110401" b="-1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318097" cy="40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3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519980" y="3301308"/>
            <a:ext cx="8255641" cy="25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Personalise the opening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19980" y="3631997"/>
            <a:ext cx="8255641" cy="20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Add one specific detail — a post they shared, a role they listed, or a mutual connection — to stand out immediately.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075287" y="3993652"/>
            <a:ext cx="367455" cy="367455"/>
            <a:chOff x="0" y="0"/>
            <a:chExt cx="489941" cy="48994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89839" cy="489839"/>
            </a:xfrm>
            <a:custGeom>
              <a:avLst/>
              <a:gdLst/>
              <a:ahLst/>
              <a:cxnLst/>
              <a:rect l="l" t="t" r="r" b="b"/>
              <a:pathLst>
                <a:path w="489839" h="489839">
                  <a:moveTo>
                    <a:pt x="0" y="91440"/>
                  </a:moveTo>
                  <a:cubicBezTo>
                    <a:pt x="0" y="41021"/>
                    <a:pt x="41021" y="0"/>
                    <a:pt x="91440" y="0"/>
                  </a:cubicBezTo>
                  <a:lnTo>
                    <a:pt x="398399" y="0"/>
                  </a:lnTo>
                  <a:cubicBezTo>
                    <a:pt x="448945" y="0"/>
                    <a:pt x="489839" y="41021"/>
                    <a:pt x="489839" y="91440"/>
                  </a:cubicBezTo>
                  <a:lnTo>
                    <a:pt x="489839" y="398399"/>
                  </a:lnTo>
                  <a:cubicBezTo>
                    <a:pt x="489839" y="448945"/>
                    <a:pt x="448818" y="489839"/>
                    <a:pt x="398399" y="489839"/>
                  </a:cubicBezTo>
                  <a:lnTo>
                    <a:pt x="91440" y="489839"/>
                  </a:lnTo>
                  <a:cubicBezTo>
                    <a:pt x="40894" y="489839"/>
                    <a:pt x="0" y="448818"/>
                    <a:pt x="0" y="398399"/>
                  </a:cubicBezTo>
                  <a:close/>
                </a:path>
              </a:pathLst>
            </a:custGeom>
            <a:solidFill>
              <a:srgbClr val="E1E1EA"/>
            </a:solidFill>
            <a:ln w="9526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1139657" y="4028180"/>
            <a:ext cx="238573" cy="298256"/>
            <a:chOff x="0" y="0"/>
            <a:chExt cx="318097" cy="39767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18096" cy="397669"/>
            </a:xfrm>
            <a:custGeom>
              <a:avLst/>
              <a:gdLst/>
              <a:ahLst/>
              <a:cxnLst/>
              <a:rect l="l" t="t" r="r" b="b"/>
              <a:pathLst>
                <a:path w="318096" h="397669">
                  <a:moveTo>
                    <a:pt x="0" y="0"/>
                  </a:moveTo>
                  <a:lnTo>
                    <a:pt x="318096" y="0"/>
                  </a:lnTo>
                  <a:lnTo>
                    <a:pt x="318096" y="397669"/>
                  </a:lnTo>
                  <a:lnTo>
                    <a:pt x="0" y="397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01" r="-110401" b="-1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318097" cy="40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4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519980" y="4043515"/>
            <a:ext cx="8255641" cy="25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Keep it short and professional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19980" y="4374204"/>
            <a:ext cx="8255641" cy="20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Recruiters receive dozens of messages daily. Concise, focused messages get read. Long ones get skipped.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075287" y="4735859"/>
            <a:ext cx="367455" cy="367455"/>
            <a:chOff x="0" y="0"/>
            <a:chExt cx="489941" cy="48994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9839" cy="489839"/>
            </a:xfrm>
            <a:custGeom>
              <a:avLst/>
              <a:gdLst/>
              <a:ahLst/>
              <a:cxnLst/>
              <a:rect l="l" t="t" r="r" b="b"/>
              <a:pathLst>
                <a:path w="489839" h="489839">
                  <a:moveTo>
                    <a:pt x="0" y="91440"/>
                  </a:moveTo>
                  <a:cubicBezTo>
                    <a:pt x="0" y="41021"/>
                    <a:pt x="41021" y="0"/>
                    <a:pt x="91440" y="0"/>
                  </a:cubicBezTo>
                  <a:lnTo>
                    <a:pt x="398399" y="0"/>
                  </a:lnTo>
                  <a:cubicBezTo>
                    <a:pt x="448945" y="0"/>
                    <a:pt x="489839" y="41021"/>
                    <a:pt x="489839" y="91440"/>
                  </a:cubicBezTo>
                  <a:lnTo>
                    <a:pt x="489839" y="398399"/>
                  </a:lnTo>
                  <a:cubicBezTo>
                    <a:pt x="489839" y="448945"/>
                    <a:pt x="448818" y="489839"/>
                    <a:pt x="398399" y="489839"/>
                  </a:cubicBezTo>
                  <a:lnTo>
                    <a:pt x="91440" y="489839"/>
                  </a:lnTo>
                  <a:cubicBezTo>
                    <a:pt x="40894" y="489839"/>
                    <a:pt x="0" y="448818"/>
                    <a:pt x="0" y="398399"/>
                  </a:cubicBezTo>
                  <a:close/>
                </a:path>
              </a:pathLst>
            </a:custGeom>
            <a:solidFill>
              <a:srgbClr val="E1E1EA"/>
            </a:solidFill>
            <a:ln w="9526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139657" y="4770387"/>
            <a:ext cx="238573" cy="298256"/>
            <a:chOff x="0" y="0"/>
            <a:chExt cx="318097" cy="39767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18096" cy="397669"/>
            </a:xfrm>
            <a:custGeom>
              <a:avLst/>
              <a:gdLst/>
              <a:ahLst/>
              <a:cxnLst/>
              <a:rect l="l" t="t" r="r" b="b"/>
              <a:pathLst>
                <a:path w="318096" h="397669">
                  <a:moveTo>
                    <a:pt x="0" y="0"/>
                  </a:moveTo>
                  <a:lnTo>
                    <a:pt x="318096" y="0"/>
                  </a:lnTo>
                  <a:lnTo>
                    <a:pt x="318096" y="397669"/>
                  </a:lnTo>
                  <a:lnTo>
                    <a:pt x="0" y="397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01" r="-110401" b="-1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318097" cy="40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5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519980" y="4785712"/>
            <a:ext cx="8255641" cy="25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Never copy-paste to everyone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19980" y="5116411"/>
            <a:ext cx="8255641" cy="20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Avoid sending the exact same message to every recruiter. Tailored messages get significantly more attention.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0173300" y="1578921"/>
            <a:ext cx="7044033" cy="7044033"/>
            <a:chOff x="0" y="0"/>
            <a:chExt cx="9392044" cy="9392044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9392031" cy="9392031"/>
            </a:xfrm>
            <a:custGeom>
              <a:avLst/>
              <a:gdLst/>
              <a:ahLst/>
              <a:cxnLst/>
              <a:rect l="l" t="t" r="r" b="b"/>
              <a:pathLst>
                <a:path w="9392031" h="9392031">
                  <a:moveTo>
                    <a:pt x="0" y="0"/>
                  </a:moveTo>
                  <a:lnTo>
                    <a:pt x="9392031" y="0"/>
                  </a:lnTo>
                  <a:lnTo>
                    <a:pt x="9392031" y="9392031"/>
                  </a:lnTo>
                  <a:lnTo>
                    <a:pt x="0" y="9392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10173300" y="8715223"/>
            <a:ext cx="7044033" cy="612877"/>
            <a:chOff x="0" y="0"/>
            <a:chExt cx="9392044" cy="81716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392158" cy="817245"/>
            </a:xfrm>
            <a:custGeom>
              <a:avLst/>
              <a:gdLst/>
              <a:ahLst/>
              <a:cxnLst/>
              <a:rect l="l" t="t" r="r" b="b"/>
              <a:pathLst>
                <a:path w="9392158" h="817245">
                  <a:moveTo>
                    <a:pt x="0" y="89154"/>
                  </a:moveTo>
                  <a:cubicBezTo>
                    <a:pt x="0" y="39878"/>
                    <a:pt x="39878" y="0"/>
                    <a:pt x="89154" y="0"/>
                  </a:cubicBezTo>
                  <a:lnTo>
                    <a:pt x="9303004" y="0"/>
                  </a:lnTo>
                  <a:cubicBezTo>
                    <a:pt x="9352280" y="0"/>
                    <a:pt x="9392158" y="39878"/>
                    <a:pt x="9392158" y="89154"/>
                  </a:cubicBezTo>
                  <a:lnTo>
                    <a:pt x="9392158" y="728091"/>
                  </a:lnTo>
                  <a:cubicBezTo>
                    <a:pt x="9392158" y="777367"/>
                    <a:pt x="9352280" y="817245"/>
                    <a:pt x="9303004" y="817245"/>
                  </a:cubicBezTo>
                  <a:lnTo>
                    <a:pt x="89154" y="817245"/>
                  </a:lnTo>
                  <a:cubicBezTo>
                    <a:pt x="39878" y="817118"/>
                    <a:pt x="0" y="777240"/>
                    <a:pt x="0" y="728091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0332396" y="8840543"/>
            <a:ext cx="198834" cy="159096"/>
            <a:chOff x="0" y="0"/>
            <a:chExt cx="265112" cy="212128"/>
          </a:xfrm>
        </p:grpSpPr>
        <p:sp>
          <p:nvSpPr>
            <p:cNvPr id="47" name="Freeform 47" descr="preencoded.png"/>
            <p:cNvSpPr/>
            <p:nvPr/>
          </p:nvSpPr>
          <p:spPr>
            <a:xfrm>
              <a:off x="0" y="0"/>
              <a:ext cx="265049" cy="212090"/>
            </a:xfrm>
            <a:custGeom>
              <a:avLst/>
              <a:gdLst/>
              <a:ahLst/>
              <a:cxnLst/>
              <a:rect l="l" t="t" r="r" b="b"/>
              <a:pathLst>
                <a:path w="265049" h="212090">
                  <a:moveTo>
                    <a:pt x="0" y="0"/>
                  </a:moveTo>
                  <a:lnTo>
                    <a:pt x="265049" y="0"/>
                  </a:lnTo>
                  <a:lnTo>
                    <a:pt x="265049" y="212090"/>
                  </a:lnTo>
                  <a:lnTo>
                    <a:pt x="0" y="212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86" r="-23" b="-604"/>
              </a:stretch>
            </a:blipFill>
          </p:spPr>
        </p:sp>
      </p:grpSp>
      <p:sp>
        <p:nvSpPr>
          <p:cNvPr id="48" name="TextBox 48"/>
          <p:cNvSpPr txBox="1"/>
          <p:nvPr/>
        </p:nvSpPr>
        <p:spPr>
          <a:xfrm>
            <a:off x="10690327" y="8819255"/>
            <a:ext cx="6367910" cy="395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4"/>
              </a:lnSpc>
            </a:pPr>
            <a:r>
              <a:rPr lang="en-US" sz="1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Quick Tip: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Personalised messages get more attention than generic copy-paste messages. One extra sentence of context can make all the difference.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80049" y="828227"/>
            <a:ext cx="16127911" cy="972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sz="58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Before You Message a Recruiter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0049" y="2284514"/>
            <a:ext cx="17042311" cy="566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sz="230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Use this checklist before reaching out — every box matters: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64841" y="3176435"/>
            <a:ext cx="8129740" cy="4277020"/>
            <a:chOff x="0" y="0"/>
            <a:chExt cx="10839653" cy="57026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39703" cy="5702681"/>
            </a:xfrm>
            <a:custGeom>
              <a:avLst/>
              <a:gdLst/>
              <a:ahLst/>
              <a:cxnLst/>
              <a:rect l="l" t="t" r="r" b="b"/>
              <a:pathLst>
                <a:path w="10839703" h="5702681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lnTo>
                    <a:pt x="10552684" y="0"/>
                  </a:lnTo>
                  <a:cubicBezTo>
                    <a:pt x="10711180" y="0"/>
                    <a:pt x="10839703" y="128524"/>
                    <a:pt x="10839703" y="287020"/>
                  </a:cubicBezTo>
                  <a:lnTo>
                    <a:pt x="10839703" y="5415661"/>
                  </a:lnTo>
                  <a:cubicBezTo>
                    <a:pt x="10839703" y="5574157"/>
                    <a:pt x="10711180" y="5702681"/>
                    <a:pt x="10552684" y="5702681"/>
                  </a:cubicBezTo>
                  <a:lnTo>
                    <a:pt x="287020" y="5702681"/>
                  </a:lnTo>
                  <a:cubicBezTo>
                    <a:pt x="128524" y="5702681"/>
                    <a:pt x="0" y="5574157"/>
                    <a:pt x="0" y="5415661"/>
                  </a:cubicBezTo>
                  <a:close/>
                </a:path>
              </a:pathLst>
            </a:custGeom>
            <a:solidFill>
              <a:srgbClr val="FF8C42">
                <a:alpha val="90196"/>
              </a:srgbClr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163688" y="3437487"/>
            <a:ext cx="7532046" cy="49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Research &amp; Targeting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3688" y="4127449"/>
            <a:ext cx="8446446" cy="566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0" lvl="1" indent="-277495" algn="l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Check the recruiter's role and company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49401" y="4294137"/>
            <a:ext cx="327422" cy="327422"/>
            <a:chOff x="0" y="0"/>
            <a:chExt cx="436562" cy="4365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36499" cy="436499"/>
            </a:xfrm>
            <a:custGeom>
              <a:avLst/>
              <a:gdLst/>
              <a:ahLst/>
              <a:cxnLst/>
              <a:rect l="l" t="t" r="r" b="b"/>
              <a:pathLst>
                <a:path w="436499" h="436499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253111" y="0"/>
                  </a:lnTo>
                  <a:cubicBezTo>
                    <a:pt x="354457" y="0"/>
                    <a:pt x="436499" y="82169"/>
                    <a:pt x="436499" y="183388"/>
                  </a:cubicBezTo>
                  <a:lnTo>
                    <a:pt x="436499" y="253111"/>
                  </a:lnTo>
                  <a:cubicBezTo>
                    <a:pt x="436499" y="354457"/>
                    <a:pt x="354330" y="436499"/>
                    <a:pt x="253111" y="436499"/>
                  </a:cubicBezTo>
                  <a:lnTo>
                    <a:pt x="183388" y="436499"/>
                  </a:lnTo>
                  <a:cubicBezTo>
                    <a:pt x="82169" y="436626"/>
                    <a:pt x="0" y="354457"/>
                    <a:pt x="0" y="25311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14" r="-78329" b="-14"/>
              </a:stretch>
            </a:blipFill>
            <a:ln w="28576" cap="sq">
              <a:solidFill>
                <a:srgbClr val="1B1B27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163688" y="4699692"/>
            <a:ext cx="8446446" cy="566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0" lvl="1" indent="-277495" algn="l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 sure the recruiter hires for your field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49401" y="4866380"/>
            <a:ext cx="327422" cy="327422"/>
            <a:chOff x="0" y="0"/>
            <a:chExt cx="436562" cy="43656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6499" cy="436499"/>
            </a:xfrm>
            <a:custGeom>
              <a:avLst/>
              <a:gdLst/>
              <a:ahLst/>
              <a:cxnLst/>
              <a:rect l="l" t="t" r="r" b="b"/>
              <a:pathLst>
                <a:path w="436499" h="436499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253111" y="0"/>
                  </a:lnTo>
                  <a:cubicBezTo>
                    <a:pt x="354457" y="0"/>
                    <a:pt x="436499" y="82169"/>
                    <a:pt x="436499" y="183388"/>
                  </a:cubicBezTo>
                  <a:lnTo>
                    <a:pt x="436499" y="253111"/>
                  </a:lnTo>
                  <a:cubicBezTo>
                    <a:pt x="436499" y="354457"/>
                    <a:pt x="354330" y="436499"/>
                    <a:pt x="253111" y="436499"/>
                  </a:cubicBezTo>
                  <a:lnTo>
                    <a:pt x="183388" y="436499"/>
                  </a:lnTo>
                  <a:cubicBezTo>
                    <a:pt x="82169" y="436626"/>
                    <a:pt x="0" y="354457"/>
                    <a:pt x="0" y="25311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14" r="-78329" b="-14"/>
              </a:stretch>
            </a:blipFill>
            <a:ln w="28576" cap="sq">
              <a:solidFill>
                <a:srgbClr val="1B1B27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163688" y="5271935"/>
            <a:ext cx="7532046" cy="1037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0" lvl="1" indent="-277495" algn="l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Review the job description (if applying for a specific role)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49401" y="5438623"/>
            <a:ext cx="327422" cy="327422"/>
            <a:chOff x="0" y="0"/>
            <a:chExt cx="436562" cy="43656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36499" cy="436499"/>
            </a:xfrm>
            <a:custGeom>
              <a:avLst/>
              <a:gdLst/>
              <a:ahLst/>
              <a:cxnLst/>
              <a:rect l="l" t="t" r="r" b="b"/>
              <a:pathLst>
                <a:path w="436499" h="436499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253111" y="0"/>
                  </a:lnTo>
                  <a:cubicBezTo>
                    <a:pt x="354457" y="0"/>
                    <a:pt x="436499" y="82169"/>
                    <a:pt x="436499" y="183388"/>
                  </a:cubicBezTo>
                  <a:lnTo>
                    <a:pt x="436499" y="253111"/>
                  </a:lnTo>
                  <a:cubicBezTo>
                    <a:pt x="436499" y="354457"/>
                    <a:pt x="354330" y="436499"/>
                    <a:pt x="253111" y="436499"/>
                  </a:cubicBezTo>
                  <a:lnTo>
                    <a:pt x="183388" y="436499"/>
                  </a:lnTo>
                  <a:cubicBezTo>
                    <a:pt x="82169" y="436626"/>
                    <a:pt x="0" y="354457"/>
                    <a:pt x="0" y="25311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14" r="-78329" b="-14"/>
              </a:stretch>
            </a:blipFill>
            <a:ln w="28576" cap="sq">
              <a:solidFill>
                <a:srgbClr val="1B1B27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163688" y="6315075"/>
            <a:ext cx="8446446" cy="566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0" lvl="1" indent="-277495" algn="l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Know your target location and role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49401" y="6481762"/>
            <a:ext cx="327422" cy="327422"/>
            <a:chOff x="0" y="0"/>
            <a:chExt cx="436562" cy="43656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36499" cy="436499"/>
            </a:xfrm>
            <a:custGeom>
              <a:avLst/>
              <a:gdLst/>
              <a:ahLst/>
              <a:cxnLst/>
              <a:rect l="l" t="t" r="r" b="b"/>
              <a:pathLst>
                <a:path w="436499" h="436499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253111" y="0"/>
                  </a:lnTo>
                  <a:cubicBezTo>
                    <a:pt x="354457" y="0"/>
                    <a:pt x="436499" y="82169"/>
                    <a:pt x="436499" y="183388"/>
                  </a:cubicBezTo>
                  <a:lnTo>
                    <a:pt x="436499" y="253111"/>
                  </a:lnTo>
                  <a:cubicBezTo>
                    <a:pt x="436499" y="354457"/>
                    <a:pt x="354330" y="436499"/>
                    <a:pt x="253111" y="436499"/>
                  </a:cubicBezTo>
                  <a:lnTo>
                    <a:pt x="183388" y="436499"/>
                  </a:lnTo>
                  <a:cubicBezTo>
                    <a:pt x="82169" y="436626"/>
                    <a:pt x="0" y="354457"/>
                    <a:pt x="0" y="25311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14" r="-78329" b="-14"/>
              </a:stretch>
            </a:blipFill>
            <a:ln w="28576" cap="sq">
              <a:solidFill>
                <a:srgbClr val="1B1B27"/>
              </a:solidFill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9518152" y="3437487"/>
            <a:ext cx="7699324" cy="49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Your Profile &amp; Materials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18152" y="4127449"/>
            <a:ext cx="7699324" cy="1037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0" lvl="1" indent="-277495" algn="l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Update your LinkedIn profile — photo, headline, summary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503864" y="4294137"/>
            <a:ext cx="327422" cy="327422"/>
            <a:chOff x="0" y="0"/>
            <a:chExt cx="436562" cy="43656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36499" cy="436499"/>
            </a:xfrm>
            <a:custGeom>
              <a:avLst/>
              <a:gdLst/>
              <a:ahLst/>
              <a:cxnLst/>
              <a:rect l="l" t="t" r="r" b="b"/>
              <a:pathLst>
                <a:path w="436499" h="436499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253111" y="0"/>
                  </a:lnTo>
                  <a:cubicBezTo>
                    <a:pt x="354457" y="0"/>
                    <a:pt x="436499" y="82169"/>
                    <a:pt x="436499" y="183388"/>
                  </a:cubicBezTo>
                  <a:lnTo>
                    <a:pt x="436499" y="253111"/>
                  </a:lnTo>
                  <a:cubicBezTo>
                    <a:pt x="436499" y="354457"/>
                    <a:pt x="354330" y="436499"/>
                    <a:pt x="253111" y="436499"/>
                  </a:cubicBezTo>
                  <a:lnTo>
                    <a:pt x="183388" y="436499"/>
                  </a:lnTo>
                  <a:cubicBezTo>
                    <a:pt x="82169" y="436626"/>
                    <a:pt x="0" y="354457"/>
                    <a:pt x="0" y="25311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14" r="-78329" b="-14"/>
              </a:stretch>
            </a:blipFill>
            <a:ln w="28576" cap="sq">
              <a:solidFill>
                <a:srgbClr val="1B1B27"/>
              </a:solidFill>
              <a:prstDash val="solid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9518152" y="5170589"/>
            <a:ext cx="8613724" cy="566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0" lvl="1" indent="-277495" algn="l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Keep your CV ready and tailored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503864" y="5337277"/>
            <a:ext cx="327422" cy="327422"/>
            <a:chOff x="0" y="0"/>
            <a:chExt cx="436562" cy="43656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36499" cy="436499"/>
            </a:xfrm>
            <a:custGeom>
              <a:avLst/>
              <a:gdLst/>
              <a:ahLst/>
              <a:cxnLst/>
              <a:rect l="l" t="t" r="r" b="b"/>
              <a:pathLst>
                <a:path w="436499" h="436499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253111" y="0"/>
                  </a:lnTo>
                  <a:cubicBezTo>
                    <a:pt x="354457" y="0"/>
                    <a:pt x="436499" y="82169"/>
                    <a:pt x="436499" y="183388"/>
                  </a:cubicBezTo>
                  <a:lnTo>
                    <a:pt x="436499" y="253111"/>
                  </a:lnTo>
                  <a:cubicBezTo>
                    <a:pt x="436499" y="354457"/>
                    <a:pt x="354330" y="436499"/>
                    <a:pt x="253111" y="436499"/>
                  </a:cubicBezTo>
                  <a:lnTo>
                    <a:pt x="183388" y="436499"/>
                  </a:lnTo>
                  <a:cubicBezTo>
                    <a:pt x="82169" y="436626"/>
                    <a:pt x="0" y="354457"/>
                    <a:pt x="0" y="25311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14" r="-78329" b="-14"/>
              </a:stretch>
            </a:blipFill>
            <a:ln w="28576" cap="sq">
              <a:solidFill>
                <a:srgbClr val="1B1B27"/>
              </a:solidFill>
              <a:prstDash val="solid"/>
              <a:miter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9518152" y="5742832"/>
            <a:ext cx="7699324" cy="1037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0" lvl="1" indent="-277495" algn="l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Prepare a one-line summary of who you are and what you want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503864" y="5909520"/>
            <a:ext cx="327422" cy="327422"/>
            <a:chOff x="0" y="0"/>
            <a:chExt cx="436562" cy="43656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36499" cy="436499"/>
            </a:xfrm>
            <a:custGeom>
              <a:avLst/>
              <a:gdLst/>
              <a:ahLst/>
              <a:cxnLst/>
              <a:rect l="l" t="t" r="r" b="b"/>
              <a:pathLst>
                <a:path w="436499" h="436499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253111" y="0"/>
                  </a:lnTo>
                  <a:cubicBezTo>
                    <a:pt x="354457" y="0"/>
                    <a:pt x="436499" y="82169"/>
                    <a:pt x="436499" y="183388"/>
                  </a:cubicBezTo>
                  <a:lnTo>
                    <a:pt x="436499" y="253111"/>
                  </a:lnTo>
                  <a:cubicBezTo>
                    <a:pt x="436499" y="354457"/>
                    <a:pt x="354330" y="436499"/>
                    <a:pt x="253111" y="436499"/>
                  </a:cubicBezTo>
                  <a:lnTo>
                    <a:pt x="183388" y="436499"/>
                  </a:lnTo>
                  <a:cubicBezTo>
                    <a:pt x="82169" y="436626"/>
                    <a:pt x="0" y="354457"/>
                    <a:pt x="0" y="25311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14" r="-78329" b="-14"/>
              </a:stretch>
            </a:blipFill>
            <a:ln w="28576" cap="sq">
              <a:solidFill>
                <a:srgbClr val="1B1B27"/>
              </a:solidFill>
              <a:prstDash val="solid"/>
              <a:miter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9518152" y="6785972"/>
            <a:ext cx="8613724" cy="566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0" lvl="1" indent="-277495" algn="l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Know your notice period and salary expectations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503864" y="6952650"/>
            <a:ext cx="327422" cy="327422"/>
            <a:chOff x="0" y="0"/>
            <a:chExt cx="436562" cy="43656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36499" cy="436499"/>
            </a:xfrm>
            <a:custGeom>
              <a:avLst/>
              <a:gdLst/>
              <a:ahLst/>
              <a:cxnLst/>
              <a:rect l="l" t="t" r="r" b="b"/>
              <a:pathLst>
                <a:path w="436499" h="436499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253111" y="0"/>
                  </a:lnTo>
                  <a:cubicBezTo>
                    <a:pt x="354457" y="0"/>
                    <a:pt x="436499" y="82169"/>
                    <a:pt x="436499" y="183388"/>
                  </a:cubicBezTo>
                  <a:lnTo>
                    <a:pt x="436499" y="253111"/>
                  </a:lnTo>
                  <a:cubicBezTo>
                    <a:pt x="436499" y="354457"/>
                    <a:pt x="354330" y="436499"/>
                    <a:pt x="253111" y="436499"/>
                  </a:cubicBezTo>
                  <a:lnTo>
                    <a:pt x="183388" y="436499"/>
                  </a:lnTo>
                  <a:cubicBezTo>
                    <a:pt x="82169" y="436626"/>
                    <a:pt x="0" y="354457"/>
                    <a:pt x="0" y="25311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14" r="-78329" b="-14"/>
              </a:stretch>
            </a:blipFill>
            <a:ln w="28576" cap="sq">
              <a:solidFill>
                <a:srgbClr val="1B1B27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080049" y="7779248"/>
            <a:ext cx="16127911" cy="1641424"/>
            <a:chOff x="0" y="0"/>
            <a:chExt cx="21503881" cy="218856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503895" cy="2188591"/>
            </a:xfrm>
            <a:custGeom>
              <a:avLst/>
              <a:gdLst/>
              <a:ahLst/>
              <a:cxnLst/>
              <a:rect l="l" t="t" r="r" b="b"/>
              <a:pathLst>
                <a:path w="21503895" h="2188591">
                  <a:moveTo>
                    <a:pt x="0" y="167386"/>
                  </a:moveTo>
                  <a:cubicBezTo>
                    <a:pt x="0" y="74930"/>
                    <a:pt x="74930" y="0"/>
                    <a:pt x="167386" y="0"/>
                  </a:cubicBezTo>
                  <a:lnTo>
                    <a:pt x="21336508" y="0"/>
                  </a:lnTo>
                  <a:cubicBezTo>
                    <a:pt x="21428965" y="0"/>
                    <a:pt x="21503895" y="74930"/>
                    <a:pt x="21503895" y="167386"/>
                  </a:cubicBezTo>
                  <a:lnTo>
                    <a:pt x="21503895" y="2021205"/>
                  </a:lnTo>
                  <a:cubicBezTo>
                    <a:pt x="21503895" y="2113661"/>
                    <a:pt x="21428965" y="2188591"/>
                    <a:pt x="21336508" y="2188591"/>
                  </a:cubicBezTo>
                  <a:lnTo>
                    <a:pt x="167386" y="2188591"/>
                  </a:lnTo>
                  <a:cubicBezTo>
                    <a:pt x="74930" y="2188591"/>
                    <a:pt x="0" y="2113661"/>
                    <a:pt x="0" y="2021205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378896" y="8196415"/>
            <a:ext cx="373704" cy="298847"/>
            <a:chOff x="0" y="0"/>
            <a:chExt cx="498272" cy="398462"/>
          </a:xfrm>
        </p:grpSpPr>
        <p:sp>
          <p:nvSpPr>
            <p:cNvPr id="39" name="Freeform 39" descr="preencoded.png"/>
            <p:cNvSpPr/>
            <p:nvPr/>
          </p:nvSpPr>
          <p:spPr>
            <a:xfrm>
              <a:off x="0" y="0"/>
              <a:ext cx="498221" cy="398399"/>
            </a:xfrm>
            <a:custGeom>
              <a:avLst/>
              <a:gdLst/>
              <a:ahLst/>
              <a:cxnLst/>
              <a:rect l="l" t="t" r="r" b="b"/>
              <a:pathLst>
                <a:path w="498221" h="398399">
                  <a:moveTo>
                    <a:pt x="0" y="0"/>
                  </a:moveTo>
                  <a:lnTo>
                    <a:pt x="498221" y="0"/>
                  </a:lnTo>
                  <a:lnTo>
                    <a:pt x="498221" y="398399"/>
                  </a:lnTo>
                  <a:lnTo>
                    <a:pt x="0" y="398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9" r="-10" b="-38"/>
              </a:stretch>
            </a:blipFill>
          </p:spPr>
        </p:sp>
      </p:grpSp>
      <p:sp>
        <p:nvSpPr>
          <p:cNvPr id="40" name="TextBox 40"/>
          <p:cNvSpPr txBox="1"/>
          <p:nvPr/>
        </p:nvSpPr>
        <p:spPr>
          <a:xfrm>
            <a:off x="2051447" y="8048330"/>
            <a:ext cx="14857657" cy="1037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Recruiters form an impression within seconds. A complete LinkedIn profile and a ready CV signal that you're serious — and make it easy for them to act on your message.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80049" y="1008307"/>
            <a:ext cx="16127911" cy="666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0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LinkedIn Connection Messages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0049" y="1915716"/>
            <a:ext cx="17042311" cy="31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6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Five ready-to-use connection requests for every scenario — from cold outreach to targeted Gulf opportunities.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1080049" y="2387794"/>
            <a:ext cx="5283098" cy="3227632"/>
          </a:xfrm>
          <a:custGeom>
            <a:avLst/>
            <a:gdLst/>
            <a:ahLst/>
            <a:cxnLst/>
            <a:rect l="l" t="t" r="r" b="b"/>
            <a:pathLst>
              <a:path w="5283098" h="3227632">
                <a:moveTo>
                  <a:pt x="0" y="0"/>
                </a:moveTo>
                <a:lnTo>
                  <a:pt x="5283099" y="0"/>
                </a:lnTo>
                <a:lnTo>
                  <a:pt x="5283099" y="3227632"/>
                </a:lnTo>
                <a:lnTo>
                  <a:pt x="0" y="322763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9" name="TextBox 9"/>
          <p:cNvSpPr txBox="1"/>
          <p:nvPr/>
        </p:nvSpPr>
        <p:spPr>
          <a:xfrm>
            <a:off x="1430236" y="2604640"/>
            <a:ext cx="4697016" cy="343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General Connection Request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0236" y="2993079"/>
            <a:ext cx="4697016" cy="2062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600" i="1" dirty="0">
                <a:solidFill>
                  <a:srgbClr val="3C3939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When to use: Reaching out to a recruiter you don't know</a:t>
            </a:r>
          </a:p>
          <a:p>
            <a:pPr algn="l">
              <a:lnSpc>
                <a:spcPts val="2131"/>
              </a:lnSpc>
            </a:pPr>
            <a:r>
              <a:rPr lang="en-US" sz="16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I'm [Your Name], a [Your Role/Field] professional based in [Your Location]. I'm actively exploring opportunities in the Gulf region and would love to connect. Looking forward to building our professional network.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6502451" y="2387794"/>
            <a:ext cx="5283098" cy="3227632"/>
          </a:xfrm>
          <a:custGeom>
            <a:avLst/>
            <a:gdLst/>
            <a:ahLst/>
            <a:cxnLst/>
            <a:rect l="l" t="t" r="r" b="b"/>
            <a:pathLst>
              <a:path w="5283098" h="3227632">
                <a:moveTo>
                  <a:pt x="0" y="0"/>
                </a:moveTo>
                <a:lnTo>
                  <a:pt x="5283098" y="0"/>
                </a:lnTo>
                <a:lnTo>
                  <a:pt x="5283098" y="3227632"/>
                </a:lnTo>
                <a:lnTo>
                  <a:pt x="0" y="322763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2" name="TextBox 12"/>
          <p:cNvSpPr txBox="1"/>
          <p:nvPr/>
        </p:nvSpPr>
        <p:spPr>
          <a:xfrm>
            <a:off x="6852637" y="2604640"/>
            <a:ext cx="4697016" cy="343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Connection Request for a Specific Job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2637" y="2993079"/>
            <a:ext cx="4697016" cy="2062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600" i="1">
                <a:solidFill>
                  <a:srgbClr val="3C3939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When to use: You've seen a job posting and want to connect with the recruiter</a:t>
            </a:r>
          </a:p>
          <a:p>
            <a:pPr algn="l">
              <a:lnSpc>
                <a:spcPts val="2131"/>
              </a:lnSpc>
            </a:pPr>
            <a:r>
              <a:rPr lang="en-US" sz="16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 came across the [Job Title] role at [Company Name] and it aligns perfectly with my background in [Key Skill/Experience]. I'd like to connect and learn more about this opportunity. Thanks!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11924852" y="2387794"/>
            <a:ext cx="5283098" cy="3227632"/>
          </a:xfrm>
          <a:custGeom>
            <a:avLst/>
            <a:gdLst/>
            <a:ahLst/>
            <a:cxnLst/>
            <a:rect l="l" t="t" r="r" b="b"/>
            <a:pathLst>
              <a:path w="5283098" h="3227632">
                <a:moveTo>
                  <a:pt x="0" y="0"/>
                </a:moveTo>
                <a:lnTo>
                  <a:pt x="5283099" y="0"/>
                </a:lnTo>
                <a:lnTo>
                  <a:pt x="5283099" y="3227632"/>
                </a:lnTo>
                <a:lnTo>
                  <a:pt x="0" y="322763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5" name="TextBox 15"/>
          <p:cNvSpPr txBox="1"/>
          <p:nvPr/>
        </p:nvSpPr>
        <p:spPr>
          <a:xfrm>
            <a:off x="12275048" y="2604640"/>
            <a:ext cx="4697016" cy="667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Connection Request to a Recruiter in Your Industry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275048" y="3317081"/>
            <a:ext cx="4697016" cy="2062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600" i="1" dirty="0">
                <a:solidFill>
                  <a:srgbClr val="3C3939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When to use: You want to build a relationship with a recruiter who </a:t>
            </a:r>
            <a:r>
              <a:rPr lang="en-US" sz="1600" i="1" dirty="0" err="1">
                <a:solidFill>
                  <a:srgbClr val="3C3939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specialises</a:t>
            </a:r>
            <a:r>
              <a:rPr lang="en-US" sz="1600" i="1" dirty="0">
                <a:solidFill>
                  <a:srgbClr val="3C3939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 in your field</a:t>
            </a:r>
          </a:p>
          <a:p>
            <a:pPr algn="l">
              <a:lnSpc>
                <a:spcPts val="2131"/>
              </a:lnSpc>
            </a:pPr>
            <a:r>
              <a:rPr lang="en-US" sz="16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I've followed your work in [Industry/Field] and am impressed by your insights. I'm a [Your Role] with [Years of Experience] years of experience, and I'd like to connect as I explore opportunities in the Gulf market.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1080049" y="5754738"/>
            <a:ext cx="5283098" cy="3504905"/>
          </a:xfrm>
          <a:custGeom>
            <a:avLst/>
            <a:gdLst/>
            <a:ahLst/>
            <a:cxnLst/>
            <a:rect l="l" t="t" r="r" b="b"/>
            <a:pathLst>
              <a:path w="5283098" h="3504905">
                <a:moveTo>
                  <a:pt x="0" y="0"/>
                </a:moveTo>
                <a:lnTo>
                  <a:pt x="5283099" y="0"/>
                </a:lnTo>
                <a:lnTo>
                  <a:pt x="5283099" y="3504905"/>
                </a:lnTo>
                <a:lnTo>
                  <a:pt x="0" y="350490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8" name="TextBox 18"/>
          <p:cNvSpPr txBox="1"/>
          <p:nvPr/>
        </p:nvSpPr>
        <p:spPr>
          <a:xfrm>
            <a:off x="1430236" y="5971584"/>
            <a:ext cx="4697016" cy="667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Connection Request After Seeing a Recruiter's Post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30236" y="6684016"/>
            <a:ext cx="4697016" cy="2062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600" i="1" dirty="0">
                <a:solidFill>
                  <a:srgbClr val="3C3939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When to use: You've engaged with their content and want to deepen the connection</a:t>
            </a:r>
          </a:p>
          <a:p>
            <a:pPr algn="l">
              <a:lnSpc>
                <a:spcPts val="2131"/>
              </a:lnSpc>
            </a:pPr>
            <a:r>
              <a:rPr lang="en-US" sz="16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 really appreciated your recent post on [Topic]. As a [Your Role] professional, I found your perspective valuable. I'd love to connect and stay updated on relevant opportunities in [Location/Industry].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6502451" y="5754738"/>
            <a:ext cx="5283098" cy="3504905"/>
          </a:xfrm>
          <a:custGeom>
            <a:avLst/>
            <a:gdLst/>
            <a:ahLst/>
            <a:cxnLst/>
            <a:rect l="l" t="t" r="r" b="b"/>
            <a:pathLst>
              <a:path w="5283098" h="3504905">
                <a:moveTo>
                  <a:pt x="0" y="0"/>
                </a:moveTo>
                <a:lnTo>
                  <a:pt x="5283098" y="0"/>
                </a:lnTo>
                <a:lnTo>
                  <a:pt x="5283098" y="3504905"/>
                </a:lnTo>
                <a:lnTo>
                  <a:pt x="0" y="350490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1" name="TextBox 21"/>
          <p:cNvSpPr txBox="1"/>
          <p:nvPr/>
        </p:nvSpPr>
        <p:spPr>
          <a:xfrm>
            <a:off x="6852637" y="5971584"/>
            <a:ext cx="4697016" cy="667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Connection Request for Gulf Opportunities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52637" y="6684016"/>
            <a:ext cx="4697016" cy="2339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600" i="1">
                <a:solidFill>
                  <a:srgbClr val="3C3939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When to use: You're specifically targeting the Gulf job market</a:t>
            </a:r>
          </a:p>
          <a:p>
            <a:pPr algn="l">
              <a:lnSpc>
                <a:spcPts val="2131"/>
              </a:lnSpc>
            </a:pPr>
            <a:r>
              <a:rPr lang="en-US" sz="16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I'm [Your Name], a [Your Role] professional with [Years of Experience] years of experience. I'm actively seeking opportunities in [Specific Country/Region] and would value connecting with a recruiter who understands the Gulf market. Let's connect!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80049" y="840134"/>
            <a:ext cx="16127911" cy="896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Introducing Yourself to a Recruiter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0049" y="2159946"/>
            <a:ext cx="17042311" cy="482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Your introduction sets the tone for the entire relationship. Use the template that matches your career stage.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80049" y="2917622"/>
            <a:ext cx="2999632" cy="1853803"/>
            <a:chOff x="0" y="0"/>
            <a:chExt cx="3999509" cy="2471738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3999484" cy="2471801"/>
            </a:xfrm>
            <a:custGeom>
              <a:avLst/>
              <a:gdLst/>
              <a:ahLst/>
              <a:cxnLst/>
              <a:rect l="l" t="t" r="r" b="b"/>
              <a:pathLst>
                <a:path w="3999484" h="2471801">
                  <a:moveTo>
                    <a:pt x="0" y="0"/>
                  </a:moveTo>
                  <a:lnTo>
                    <a:pt x="3999484" y="0"/>
                  </a:lnTo>
                  <a:lnTo>
                    <a:pt x="3999484" y="2471801"/>
                  </a:lnTo>
                  <a:lnTo>
                    <a:pt x="0" y="2471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3" b="-8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80049" y="5058366"/>
            <a:ext cx="5171923" cy="44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Fresh Graduate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0049" y="5587003"/>
            <a:ext cx="5171923" cy="3392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I'm [Your Name], a recent graduate in [Field of Study] from [University Name]. I'm eager to launch my career in [Your Target Role/Industry] and am particularly interested in opportunities in [Location]. I'd appreciate any guidance or relevant openings you might have. Thank you!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557962" y="2917622"/>
            <a:ext cx="2999632" cy="1853803"/>
            <a:chOff x="0" y="0"/>
            <a:chExt cx="3999509" cy="2471738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3999484" cy="2471801"/>
            </a:xfrm>
            <a:custGeom>
              <a:avLst/>
              <a:gdLst/>
              <a:ahLst/>
              <a:cxnLst/>
              <a:rect l="l" t="t" r="r" b="b"/>
              <a:pathLst>
                <a:path w="3999484" h="2471801">
                  <a:moveTo>
                    <a:pt x="0" y="0"/>
                  </a:moveTo>
                  <a:lnTo>
                    <a:pt x="3999484" y="0"/>
                  </a:lnTo>
                  <a:lnTo>
                    <a:pt x="3999484" y="2471801"/>
                  </a:lnTo>
                  <a:lnTo>
                    <a:pt x="0" y="2471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3" b="-81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6557962" y="5058366"/>
            <a:ext cx="5171923" cy="44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Experienced Professional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57962" y="5587003"/>
            <a:ext cx="5171923" cy="3392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I'm [Your Name], a [Your Role] with [Years of Experience] years of experience in [Industry/Field]. My expertise includes [Key Skill 1], [Key Skill 2], and [Key Skill 3]. I'm exploring new opportunities in the Gulf region and would welcome a conversation about relevant roles. Best regards.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035876" y="2917622"/>
            <a:ext cx="2999784" cy="1853956"/>
            <a:chOff x="0" y="0"/>
            <a:chExt cx="3999713" cy="2471941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3999738" cy="2471928"/>
            </a:xfrm>
            <a:custGeom>
              <a:avLst/>
              <a:gdLst/>
              <a:ahLst/>
              <a:cxnLst/>
              <a:rect l="l" t="t" r="r" b="b"/>
              <a:pathLst>
                <a:path w="3999738" h="2471928">
                  <a:moveTo>
                    <a:pt x="0" y="0"/>
                  </a:moveTo>
                  <a:lnTo>
                    <a:pt x="3999738" y="0"/>
                  </a:lnTo>
                  <a:lnTo>
                    <a:pt x="3999738" y="2471928"/>
                  </a:lnTo>
                  <a:lnTo>
                    <a:pt x="0" y="2471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2" b="-82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2035876" y="5058518"/>
            <a:ext cx="5172075" cy="878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Professional Relocating to the Gulf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35876" y="6016676"/>
            <a:ext cx="5172075" cy="3392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I'm [Your Name], currently based in [Current Location] with [Years of Experience] years of experience as a [Your Role]. I'm planning to relocate to [Target Country] and am actively seeking opportunities in [Industry/Field]. I'd love to discuss how my background aligns with roles in your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80049" y="847430"/>
            <a:ext cx="16127911" cy="516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8"/>
              </a:lnSpc>
            </a:pPr>
            <a:r>
              <a:rPr lang="en-US" sz="3099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Asking About Job Opportunities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80049" y="1578921"/>
            <a:ext cx="7044033" cy="7044033"/>
            <a:chOff x="0" y="0"/>
            <a:chExt cx="9392044" cy="9392044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9392031" cy="9392031"/>
            </a:xfrm>
            <a:custGeom>
              <a:avLst/>
              <a:gdLst/>
              <a:ahLst/>
              <a:cxnLst/>
              <a:rect l="l" t="t" r="r" b="b"/>
              <a:pathLst>
                <a:path w="9392031" h="9392031">
                  <a:moveTo>
                    <a:pt x="0" y="0"/>
                  </a:moveTo>
                  <a:lnTo>
                    <a:pt x="9392031" y="0"/>
                  </a:lnTo>
                  <a:lnTo>
                    <a:pt x="9392031" y="9392031"/>
                  </a:lnTo>
                  <a:lnTo>
                    <a:pt x="0" y="9392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080049" y="8715223"/>
            <a:ext cx="7044033" cy="612877"/>
            <a:chOff x="0" y="0"/>
            <a:chExt cx="9392044" cy="8171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392158" cy="817245"/>
            </a:xfrm>
            <a:custGeom>
              <a:avLst/>
              <a:gdLst/>
              <a:ahLst/>
              <a:cxnLst/>
              <a:rect l="l" t="t" r="r" b="b"/>
              <a:pathLst>
                <a:path w="9392158" h="817245">
                  <a:moveTo>
                    <a:pt x="0" y="89154"/>
                  </a:moveTo>
                  <a:cubicBezTo>
                    <a:pt x="0" y="39878"/>
                    <a:pt x="39878" y="0"/>
                    <a:pt x="89154" y="0"/>
                  </a:cubicBezTo>
                  <a:lnTo>
                    <a:pt x="9303004" y="0"/>
                  </a:lnTo>
                  <a:cubicBezTo>
                    <a:pt x="9352280" y="0"/>
                    <a:pt x="9392158" y="39878"/>
                    <a:pt x="9392158" y="89154"/>
                  </a:cubicBezTo>
                  <a:lnTo>
                    <a:pt x="9392158" y="728091"/>
                  </a:lnTo>
                  <a:cubicBezTo>
                    <a:pt x="9392158" y="777367"/>
                    <a:pt x="9352280" y="817245"/>
                    <a:pt x="9303004" y="817245"/>
                  </a:cubicBezTo>
                  <a:lnTo>
                    <a:pt x="89154" y="817245"/>
                  </a:lnTo>
                  <a:cubicBezTo>
                    <a:pt x="39878" y="817118"/>
                    <a:pt x="0" y="777240"/>
                    <a:pt x="0" y="728091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239145" y="8840543"/>
            <a:ext cx="198834" cy="159096"/>
            <a:chOff x="0" y="0"/>
            <a:chExt cx="265112" cy="212128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265049" cy="212090"/>
            </a:xfrm>
            <a:custGeom>
              <a:avLst/>
              <a:gdLst/>
              <a:ahLst/>
              <a:cxnLst/>
              <a:rect l="l" t="t" r="r" b="b"/>
              <a:pathLst>
                <a:path w="265049" h="212090">
                  <a:moveTo>
                    <a:pt x="0" y="0"/>
                  </a:moveTo>
                  <a:lnTo>
                    <a:pt x="265049" y="0"/>
                  </a:lnTo>
                  <a:lnTo>
                    <a:pt x="265049" y="212090"/>
                  </a:lnTo>
                  <a:lnTo>
                    <a:pt x="0" y="212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86" r="-23" b="-604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597076" y="8819255"/>
            <a:ext cx="6367910" cy="395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4"/>
              </a:lnSpc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Always mention your key skill or field in the first sentence — it helps recruiters instantly assess whether they can help you.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516988" y="1574159"/>
            <a:ext cx="4316311" cy="1834753"/>
            <a:chOff x="0" y="0"/>
            <a:chExt cx="5755081" cy="24463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755005" cy="2446274"/>
            </a:xfrm>
            <a:custGeom>
              <a:avLst/>
              <a:gdLst/>
              <a:ahLst/>
              <a:cxnLst/>
              <a:rect l="l" t="t" r="r" b="b"/>
              <a:pathLst>
                <a:path w="5755005" h="2446274">
                  <a:moveTo>
                    <a:pt x="0" y="89535"/>
                  </a:moveTo>
                  <a:cubicBezTo>
                    <a:pt x="0" y="40132"/>
                    <a:pt x="40132" y="0"/>
                    <a:pt x="89535" y="0"/>
                  </a:cubicBezTo>
                  <a:lnTo>
                    <a:pt x="5665470" y="0"/>
                  </a:lnTo>
                  <a:cubicBezTo>
                    <a:pt x="5715000" y="0"/>
                    <a:pt x="5755005" y="40132"/>
                    <a:pt x="5755005" y="89535"/>
                  </a:cubicBezTo>
                  <a:lnTo>
                    <a:pt x="5755005" y="2356739"/>
                  </a:lnTo>
                  <a:cubicBezTo>
                    <a:pt x="5755005" y="2406269"/>
                    <a:pt x="5714873" y="2446274"/>
                    <a:pt x="5665470" y="2446274"/>
                  </a:cubicBezTo>
                  <a:lnTo>
                    <a:pt x="89535" y="2446274"/>
                  </a:lnTo>
                  <a:cubicBezTo>
                    <a:pt x="40005" y="2446274"/>
                    <a:pt x="0" y="2406142"/>
                    <a:pt x="0" y="2356739"/>
                  </a:cubicBezTo>
                  <a:close/>
                </a:path>
              </a:pathLst>
            </a:custGeom>
            <a:solidFill>
              <a:srgbClr val="E1E1EA"/>
            </a:solidFill>
            <a:ln w="9526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8690372" y="1738017"/>
            <a:ext cx="3969544" cy="25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Asking About Current Openings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90372" y="2068716"/>
            <a:ext cx="3969544" cy="1166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 hope this message finds you well. I'm [Your Name], a [Your Role] professional with expertise in [Key Skill]. I'm currently exploring opportunities in [Location/Industry] and would like to know if you have any relevant openings in your pipeline. I'd be happy to share my CV. Thanks!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905775" y="1574159"/>
            <a:ext cx="4316311" cy="1834753"/>
            <a:chOff x="0" y="0"/>
            <a:chExt cx="5755081" cy="244633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755005" cy="2446274"/>
            </a:xfrm>
            <a:custGeom>
              <a:avLst/>
              <a:gdLst/>
              <a:ahLst/>
              <a:cxnLst/>
              <a:rect l="l" t="t" r="r" b="b"/>
              <a:pathLst>
                <a:path w="5755005" h="2446274">
                  <a:moveTo>
                    <a:pt x="0" y="89535"/>
                  </a:moveTo>
                  <a:cubicBezTo>
                    <a:pt x="0" y="40132"/>
                    <a:pt x="40132" y="0"/>
                    <a:pt x="89535" y="0"/>
                  </a:cubicBezTo>
                  <a:lnTo>
                    <a:pt x="5665470" y="0"/>
                  </a:lnTo>
                  <a:cubicBezTo>
                    <a:pt x="5715000" y="0"/>
                    <a:pt x="5755005" y="40132"/>
                    <a:pt x="5755005" y="89535"/>
                  </a:cubicBezTo>
                  <a:lnTo>
                    <a:pt x="5755005" y="2356739"/>
                  </a:lnTo>
                  <a:cubicBezTo>
                    <a:pt x="5755005" y="2406269"/>
                    <a:pt x="5714873" y="2446274"/>
                    <a:pt x="5665470" y="2446274"/>
                  </a:cubicBezTo>
                  <a:lnTo>
                    <a:pt x="89535" y="2446274"/>
                  </a:lnTo>
                  <a:cubicBezTo>
                    <a:pt x="40005" y="2446274"/>
                    <a:pt x="0" y="2406142"/>
                    <a:pt x="0" y="2356739"/>
                  </a:cubicBezTo>
                  <a:close/>
                </a:path>
              </a:pathLst>
            </a:custGeom>
            <a:solidFill>
              <a:srgbClr val="E1E1EA"/>
            </a:solidFill>
            <a:ln w="9526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3079168" y="1738017"/>
            <a:ext cx="3969544" cy="25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Asking About a Specific Vacancy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079168" y="2068716"/>
            <a:ext cx="3969544" cy="97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 noticed the [Job Title] position at [Company Name]. My background in [Relevant Experience] aligns well with the role requirements. Could you share more details about the position and the next steps in the application process?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516988" y="3481388"/>
            <a:ext cx="4316311" cy="1890560"/>
            <a:chOff x="0" y="0"/>
            <a:chExt cx="5755081" cy="252074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755005" cy="2520696"/>
            </a:xfrm>
            <a:custGeom>
              <a:avLst/>
              <a:gdLst/>
              <a:ahLst/>
              <a:cxnLst/>
              <a:rect l="l" t="t" r="r" b="b"/>
              <a:pathLst>
                <a:path w="5755005" h="2520696">
                  <a:moveTo>
                    <a:pt x="0" y="89535"/>
                  </a:moveTo>
                  <a:cubicBezTo>
                    <a:pt x="0" y="40132"/>
                    <a:pt x="40132" y="0"/>
                    <a:pt x="89535" y="0"/>
                  </a:cubicBezTo>
                  <a:lnTo>
                    <a:pt x="5665470" y="0"/>
                  </a:lnTo>
                  <a:cubicBezTo>
                    <a:pt x="5714873" y="0"/>
                    <a:pt x="5755005" y="40132"/>
                    <a:pt x="5755005" y="89535"/>
                  </a:cubicBezTo>
                  <a:lnTo>
                    <a:pt x="5755005" y="2431161"/>
                  </a:lnTo>
                  <a:cubicBezTo>
                    <a:pt x="5755005" y="2480564"/>
                    <a:pt x="5714873" y="2520696"/>
                    <a:pt x="5665470" y="2520696"/>
                  </a:cubicBezTo>
                  <a:lnTo>
                    <a:pt x="89535" y="2520696"/>
                  </a:lnTo>
                  <a:cubicBezTo>
                    <a:pt x="40132" y="2520696"/>
                    <a:pt x="0" y="2480564"/>
                    <a:pt x="0" y="2431161"/>
                  </a:cubicBezTo>
                  <a:close/>
                </a:path>
              </a:pathLst>
            </a:custGeom>
            <a:solidFill>
              <a:srgbClr val="E1E1EA"/>
            </a:solidFill>
            <a:ln w="9526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8690372" y="3645246"/>
            <a:ext cx="3969544" cy="25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Asking About Future Opportunities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90372" y="3975945"/>
            <a:ext cx="3969544" cy="97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I'm [Your Name], a [Your Role] with [Years of Experience] years of experience in [Field]. While I'm not actively job hunting right now, I'd like to stay on your radar for future opportunities that match my profile. Would you be open to a brief conversation?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905775" y="3481388"/>
            <a:ext cx="4316311" cy="1890560"/>
            <a:chOff x="0" y="0"/>
            <a:chExt cx="5755081" cy="252074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755005" cy="2520696"/>
            </a:xfrm>
            <a:custGeom>
              <a:avLst/>
              <a:gdLst/>
              <a:ahLst/>
              <a:cxnLst/>
              <a:rect l="l" t="t" r="r" b="b"/>
              <a:pathLst>
                <a:path w="5755005" h="2520696">
                  <a:moveTo>
                    <a:pt x="0" y="89535"/>
                  </a:moveTo>
                  <a:cubicBezTo>
                    <a:pt x="0" y="40132"/>
                    <a:pt x="40132" y="0"/>
                    <a:pt x="89535" y="0"/>
                  </a:cubicBezTo>
                  <a:lnTo>
                    <a:pt x="5665470" y="0"/>
                  </a:lnTo>
                  <a:cubicBezTo>
                    <a:pt x="5714873" y="0"/>
                    <a:pt x="5755005" y="40132"/>
                    <a:pt x="5755005" y="89535"/>
                  </a:cubicBezTo>
                  <a:lnTo>
                    <a:pt x="5755005" y="2431161"/>
                  </a:lnTo>
                  <a:cubicBezTo>
                    <a:pt x="5755005" y="2480564"/>
                    <a:pt x="5714873" y="2520696"/>
                    <a:pt x="5665470" y="2520696"/>
                  </a:cubicBezTo>
                  <a:lnTo>
                    <a:pt x="89535" y="2520696"/>
                  </a:lnTo>
                  <a:cubicBezTo>
                    <a:pt x="40132" y="2520696"/>
                    <a:pt x="0" y="2480564"/>
                    <a:pt x="0" y="2431161"/>
                  </a:cubicBezTo>
                  <a:close/>
                </a:path>
              </a:pathLst>
            </a:custGeom>
            <a:solidFill>
              <a:srgbClr val="E1E1EA"/>
            </a:solidFill>
            <a:ln w="9526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13079168" y="3645246"/>
            <a:ext cx="3969544" cy="506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Asking Whether Your Profile Matches a Role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079168" y="4224633"/>
            <a:ext cx="3969544" cy="97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 came across the [Job Title] role and believe my experience in [Relevant Skill/Experience] could be a strong fit. Before I apply formally, I'd appreciate your feedback on whether my profile aligns with what you're looking for. Happy to discuss further!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80049" y="1037330"/>
            <a:ext cx="16127911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2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Sending Your CV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80049" y="2350294"/>
            <a:ext cx="16127911" cy="1354188"/>
            <a:chOff x="0" y="0"/>
            <a:chExt cx="21503881" cy="18055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503894" cy="1805686"/>
            </a:xfrm>
            <a:custGeom>
              <a:avLst/>
              <a:gdLst/>
              <a:ahLst/>
              <a:cxnLst/>
              <a:rect l="l" t="t" r="r" b="b"/>
              <a:pathLst>
                <a:path w="21503894" h="1805686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1355304" y="0"/>
                  </a:lnTo>
                  <a:cubicBezTo>
                    <a:pt x="21437346" y="0"/>
                    <a:pt x="21503894" y="66548"/>
                    <a:pt x="21503894" y="148590"/>
                  </a:cubicBezTo>
                  <a:lnTo>
                    <a:pt x="21503894" y="1657096"/>
                  </a:lnTo>
                  <a:cubicBezTo>
                    <a:pt x="21503894" y="1739138"/>
                    <a:pt x="21437346" y="1805686"/>
                    <a:pt x="21355304" y="1805686"/>
                  </a:cubicBezTo>
                  <a:lnTo>
                    <a:pt x="148590" y="1805686"/>
                  </a:lnTo>
                  <a:cubicBezTo>
                    <a:pt x="66548" y="1805686"/>
                    <a:pt x="0" y="1739138"/>
                    <a:pt x="0" y="1657096"/>
                  </a:cubicBezTo>
                  <a:close/>
                </a:path>
              </a:pathLst>
            </a:custGeom>
            <a:solidFill>
              <a:srgbClr val="FCF2B5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345254" y="2678906"/>
            <a:ext cx="331441" cy="265214"/>
            <a:chOff x="0" y="0"/>
            <a:chExt cx="441922" cy="353619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441960" cy="353568"/>
            </a:xfrm>
            <a:custGeom>
              <a:avLst/>
              <a:gdLst/>
              <a:ahLst/>
              <a:cxnLst/>
              <a:rect l="l" t="t" r="r" b="b"/>
              <a:pathLst>
                <a:path w="441960" h="353568">
                  <a:moveTo>
                    <a:pt x="0" y="0"/>
                  </a:moveTo>
                  <a:lnTo>
                    <a:pt x="441960" y="0"/>
                  </a:lnTo>
                  <a:lnTo>
                    <a:pt x="441960" y="353568"/>
                  </a:lnTo>
                  <a:lnTo>
                    <a:pt x="0" y="353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r="-2" b="-14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941909" y="2577703"/>
            <a:ext cx="15000837" cy="855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When to attach your CV:</a:t>
            </a: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Only send your CV when a recruiter has asked for it, when you're applying for a specific role, or when you're proactively reaching out with a personalised message that explains why you're a fit.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80049" y="3960762"/>
            <a:ext cx="5375967" cy="1060847"/>
            <a:chOff x="0" y="0"/>
            <a:chExt cx="7167956" cy="1414462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7168007" cy="1414399"/>
            </a:xfrm>
            <a:custGeom>
              <a:avLst/>
              <a:gdLst/>
              <a:ahLst/>
              <a:cxnLst/>
              <a:rect l="l" t="t" r="r" b="b"/>
              <a:pathLst>
                <a:path w="7168007" h="1414399">
                  <a:moveTo>
                    <a:pt x="0" y="0"/>
                  </a:moveTo>
                  <a:lnTo>
                    <a:pt x="7168007" y="0"/>
                  </a:lnTo>
                  <a:lnTo>
                    <a:pt x="7168007" y="1414399"/>
                  </a:lnTo>
                  <a:lnTo>
                    <a:pt x="0" y="1414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28" b="-231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345254" y="5230416"/>
            <a:ext cx="4845548" cy="43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After Recruiter Request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5254" y="5733898"/>
            <a:ext cx="4845548" cy="2433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Thank you for your interest. I've attached my CV as requested. I'm happy to discuss my background and how I can contribute to [Company Name]. Looking forward to hearing from you.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456016" y="3960762"/>
            <a:ext cx="5375967" cy="1060847"/>
            <a:chOff x="0" y="0"/>
            <a:chExt cx="7167956" cy="1414462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7168007" cy="1414399"/>
            </a:xfrm>
            <a:custGeom>
              <a:avLst/>
              <a:gdLst/>
              <a:ahLst/>
              <a:cxnLst/>
              <a:rect l="l" t="t" r="r" b="b"/>
              <a:pathLst>
                <a:path w="7168007" h="1414399">
                  <a:moveTo>
                    <a:pt x="0" y="0"/>
                  </a:moveTo>
                  <a:lnTo>
                    <a:pt x="7168007" y="0"/>
                  </a:lnTo>
                  <a:lnTo>
                    <a:pt x="7168007" y="1414399"/>
                  </a:lnTo>
                  <a:lnTo>
                    <a:pt x="0" y="1414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8" b="-231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6721231" y="5230416"/>
            <a:ext cx="4845548" cy="43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For a Specific Vacancy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21231" y="5733898"/>
            <a:ext cx="4845548" cy="3221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I'm very interested in the [Job Title] position at [Company Name]. I've attached my CV, which highlights my [Years of Experience] years of experience in [Relevant Field]. I'm confident my skills in [Key Skill] would be valuable to your team. I'd welcome the opportunity to discuss this further.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1831984" y="3960762"/>
            <a:ext cx="5375967" cy="1060847"/>
            <a:chOff x="0" y="0"/>
            <a:chExt cx="7167956" cy="1414462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7168007" cy="1414399"/>
            </a:xfrm>
            <a:custGeom>
              <a:avLst/>
              <a:gdLst/>
              <a:ahLst/>
              <a:cxnLst/>
              <a:rect l="l" t="t" r="r" b="b"/>
              <a:pathLst>
                <a:path w="7168007" h="1414399">
                  <a:moveTo>
                    <a:pt x="0" y="0"/>
                  </a:moveTo>
                  <a:lnTo>
                    <a:pt x="7168007" y="0"/>
                  </a:lnTo>
                  <a:lnTo>
                    <a:pt x="7168007" y="1414399"/>
                  </a:lnTo>
                  <a:lnTo>
                    <a:pt x="0" y="1414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28" b="-23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2097198" y="5230416"/>
            <a:ext cx="4845548" cy="43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Proactive Outreach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97198" y="5733898"/>
            <a:ext cx="4845548" cy="3221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I'm [Your Name], a [Your Role] with [Years of Experience] years of experience in [Industry]. I'm actively exploring opportunities in [Location] and believe my expertise in [Key Skill] could be valuable to your clients. I've attached my CV and would welcome a conversation. Thanks!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80049" y="871833"/>
            <a:ext cx="16127911" cy="76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6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Following Up After Applying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0049" y="1952920"/>
            <a:ext cx="17042311" cy="38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Timing matters. Use the right follow-up at the right moment — and know when to stop.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80049" y="5295900"/>
            <a:ext cx="16127911" cy="28575"/>
            <a:chOff x="0" y="0"/>
            <a:chExt cx="21503881" cy="38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503894" cy="38100"/>
            </a:xfrm>
            <a:custGeom>
              <a:avLst/>
              <a:gdLst/>
              <a:ahLst/>
              <a:cxnLst/>
              <a:rect l="l" t="t" r="r" b="b"/>
              <a:pathLst>
                <a:path w="2150389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484844" y="0"/>
                  </a:lnTo>
                  <a:cubicBezTo>
                    <a:pt x="21495384" y="0"/>
                    <a:pt x="21503894" y="8509"/>
                    <a:pt x="21503894" y="19050"/>
                  </a:cubicBezTo>
                  <a:cubicBezTo>
                    <a:pt x="21503894" y="29591"/>
                    <a:pt x="21495384" y="38100"/>
                    <a:pt x="2148484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5041106" y="4587183"/>
            <a:ext cx="28575" cy="708717"/>
            <a:chOff x="0" y="0"/>
            <a:chExt cx="38100" cy="9449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100" cy="945007"/>
            </a:xfrm>
            <a:custGeom>
              <a:avLst/>
              <a:gdLst/>
              <a:ahLst/>
              <a:cxnLst/>
              <a:rect l="l" t="t" r="r" b="b"/>
              <a:pathLst>
                <a:path w="38100" h="94500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25957"/>
                  </a:lnTo>
                  <a:cubicBezTo>
                    <a:pt x="38100" y="936498"/>
                    <a:pt x="29591" y="945007"/>
                    <a:pt x="19050" y="945007"/>
                  </a:cubicBezTo>
                  <a:cubicBezTo>
                    <a:pt x="8509" y="945007"/>
                    <a:pt x="0" y="936498"/>
                    <a:pt x="0" y="925957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4784827" y="5025333"/>
            <a:ext cx="541144" cy="541144"/>
            <a:chOff x="0" y="0"/>
            <a:chExt cx="721525" cy="7215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1614" cy="721614"/>
            </a:xfrm>
            <a:custGeom>
              <a:avLst/>
              <a:gdLst/>
              <a:ahLst/>
              <a:cxnLst/>
              <a:rect l="l" t="t" r="r" b="b"/>
              <a:pathLst>
                <a:path w="721614" h="721614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586867" y="0"/>
                  </a:lnTo>
                  <a:cubicBezTo>
                    <a:pt x="661289" y="0"/>
                    <a:pt x="721614" y="60325"/>
                    <a:pt x="721614" y="134747"/>
                  </a:cubicBezTo>
                  <a:lnTo>
                    <a:pt x="721614" y="586867"/>
                  </a:lnTo>
                  <a:cubicBezTo>
                    <a:pt x="721614" y="661289"/>
                    <a:pt x="661289" y="721614"/>
                    <a:pt x="586867" y="721614"/>
                  </a:cubicBezTo>
                  <a:lnTo>
                    <a:pt x="134747" y="721614"/>
                  </a:lnTo>
                  <a:cubicBezTo>
                    <a:pt x="60325" y="721487"/>
                    <a:pt x="0" y="661162"/>
                    <a:pt x="0" y="586867"/>
                  </a:cubicBezTo>
                  <a:close/>
                </a:path>
              </a:pathLst>
            </a:custGeom>
            <a:solidFill>
              <a:srgbClr val="E1E1EA"/>
            </a:solidFill>
            <a:ln w="9526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878210" y="5074444"/>
            <a:ext cx="354359" cy="442912"/>
            <a:chOff x="0" y="0"/>
            <a:chExt cx="472478" cy="5905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72480" cy="590549"/>
            </a:xfrm>
            <a:custGeom>
              <a:avLst/>
              <a:gdLst/>
              <a:ahLst/>
              <a:cxnLst/>
              <a:rect l="l" t="t" r="r" b="b"/>
              <a:pathLst>
                <a:path w="472480" h="590549">
                  <a:moveTo>
                    <a:pt x="0" y="0"/>
                  </a:moveTo>
                  <a:lnTo>
                    <a:pt x="472480" y="0"/>
                  </a:lnTo>
                  <a:lnTo>
                    <a:pt x="472480" y="590549"/>
                  </a:lnTo>
                  <a:lnTo>
                    <a:pt x="0" y="5905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6" r="-110365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472478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1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316241" y="2518772"/>
            <a:ext cx="7478468" cy="38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3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3–5 Days After Applying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6241" y="2967933"/>
            <a:ext cx="7478468" cy="1049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8"/>
              </a:lnSpc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 applied for the [Job Title] position at [Company Name] a few days ago. I remain very interested in this opportunity and would appreciate any initial feedback on my application. Thank you!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129560" y="5295900"/>
            <a:ext cx="28575" cy="708717"/>
            <a:chOff x="0" y="0"/>
            <a:chExt cx="38100" cy="94495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100" cy="945007"/>
            </a:xfrm>
            <a:custGeom>
              <a:avLst/>
              <a:gdLst/>
              <a:ahLst/>
              <a:cxnLst/>
              <a:rect l="l" t="t" r="r" b="b"/>
              <a:pathLst>
                <a:path w="38100" h="94500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25957"/>
                  </a:lnTo>
                  <a:cubicBezTo>
                    <a:pt x="38100" y="936498"/>
                    <a:pt x="29591" y="945007"/>
                    <a:pt x="19050" y="945007"/>
                  </a:cubicBezTo>
                  <a:cubicBezTo>
                    <a:pt x="8509" y="945007"/>
                    <a:pt x="0" y="936498"/>
                    <a:pt x="0" y="925957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8873280" y="5025333"/>
            <a:ext cx="541144" cy="541144"/>
            <a:chOff x="0" y="0"/>
            <a:chExt cx="721525" cy="72152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21614" cy="721614"/>
            </a:xfrm>
            <a:custGeom>
              <a:avLst/>
              <a:gdLst/>
              <a:ahLst/>
              <a:cxnLst/>
              <a:rect l="l" t="t" r="r" b="b"/>
              <a:pathLst>
                <a:path w="721614" h="721614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586867" y="0"/>
                  </a:lnTo>
                  <a:cubicBezTo>
                    <a:pt x="661289" y="0"/>
                    <a:pt x="721614" y="60325"/>
                    <a:pt x="721614" y="134747"/>
                  </a:cubicBezTo>
                  <a:lnTo>
                    <a:pt x="721614" y="586867"/>
                  </a:lnTo>
                  <a:cubicBezTo>
                    <a:pt x="721614" y="661289"/>
                    <a:pt x="661289" y="721614"/>
                    <a:pt x="586867" y="721614"/>
                  </a:cubicBezTo>
                  <a:lnTo>
                    <a:pt x="134747" y="721614"/>
                  </a:lnTo>
                  <a:cubicBezTo>
                    <a:pt x="60325" y="721487"/>
                    <a:pt x="0" y="661162"/>
                    <a:pt x="0" y="586867"/>
                  </a:cubicBezTo>
                  <a:close/>
                </a:path>
              </a:pathLst>
            </a:custGeom>
            <a:solidFill>
              <a:srgbClr val="E1E1EA"/>
            </a:solidFill>
            <a:ln w="9526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8966673" y="5074444"/>
            <a:ext cx="354359" cy="442912"/>
            <a:chOff x="0" y="0"/>
            <a:chExt cx="472478" cy="5905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72480" cy="590549"/>
            </a:xfrm>
            <a:custGeom>
              <a:avLst/>
              <a:gdLst/>
              <a:ahLst/>
              <a:cxnLst/>
              <a:rect l="l" t="t" r="r" b="b"/>
              <a:pathLst>
                <a:path w="472480" h="590549">
                  <a:moveTo>
                    <a:pt x="0" y="0"/>
                  </a:moveTo>
                  <a:lnTo>
                    <a:pt x="472480" y="0"/>
                  </a:lnTo>
                  <a:lnTo>
                    <a:pt x="472480" y="590549"/>
                  </a:lnTo>
                  <a:lnTo>
                    <a:pt x="0" y="5905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6" r="-110365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472478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2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404695" y="6221911"/>
            <a:ext cx="7478468" cy="38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3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One Week Later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04695" y="6671072"/>
            <a:ext cx="7478468" cy="138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8"/>
              </a:lnSpc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 wanted to follow up on my application for the [Job Title] role submitted on [Date]. I'm very enthusiastic about this position and would love to know the next steps or timeline. Please let me know if you need any additional information from me.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218166" y="4587183"/>
            <a:ext cx="28575" cy="708717"/>
            <a:chOff x="0" y="0"/>
            <a:chExt cx="38100" cy="94495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8100" cy="945007"/>
            </a:xfrm>
            <a:custGeom>
              <a:avLst/>
              <a:gdLst/>
              <a:ahLst/>
              <a:cxnLst/>
              <a:rect l="l" t="t" r="r" b="b"/>
              <a:pathLst>
                <a:path w="38100" h="94500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25957"/>
                  </a:lnTo>
                  <a:cubicBezTo>
                    <a:pt x="38100" y="936498"/>
                    <a:pt x="29591" y="945007"/>
                    <a:pt x="19050" y="945007"/>
                  </a:cubicBezTo>
                  <a:cubicBezTo>
                    <a:pt x="8509" y="945007"/>
                    <a:pt x="0" y="936498"/>
                    <a:pt x="0" y="925957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2961887" y="5025333"/>
            <a:ext cx="541144" cy="541144"/>
            <a:chOff x="0" y="0"/>
            <a:chExt cx="721525" cy="72152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21614" cy="721614"/>
            </a:xfrm>
            <a:custGeom>
              <a:avLst/>
              <a:gdLst/>
              <a:ahLst/>
              <a:cxnLst/>
              <a:rect l="l" t="t" r="r" b="b"/>
              <a:pathLst>
                <a:path w="721614" h="721614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586867" y="0"/>
                  </a:lnTo>
                  <a:cubicBezTo>
                    <a:pt x="661289" y="0"/>
                    <a:pt x="721614" y="60325"/>
                    <a:pt x="721614" y="134747"/>
                  </a:cubicBezTo>
                  <a:lnTo>
                    <a:pt x="721614" y="586867"/>
                  </a:lnTo>
                  <a:cubicBezTo>
                    <a:pt x="721614" y="661289"/>
                    <a:pt x="661289" y="721614"/>
                    <a:pt x="586867" y="721614"/>
                  </a:cubicBezTo>
                  <a:lnTo>
                    <a:pt x="134747" y="721614"/>
                  </a:lnTo>
                  <a:cubicBezTo>
                    <a:pt x="60325" y="721487"/>
                    <a:pt x="0" y="661162"/>
                    <a:pt x="0" y="586867"/>
                  </a:cubicBezTo>
                  <a:close/>
                </a:path>
              </a:pathLst>
            </a:custGeom>
            <a:solidFill>
              <a:srgbClr val="E1E1EA"/>
            </a:solidFill>
            <a:ln w="9526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3055279" y="5074444"/>
            <a:ext cx="354359" cy="442912"/>
            <a:chOff x="0" y="0"/>
            <a:chExt cx="472478" cy="59055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72480" cy="590549"/>
            </a:xfrm>
            <a:custGeom>
              <a:avLst/>
              <a:gdLst/>
              <a:ahLst/>
              <a:cxnLst/>
              <a:rect l="l" t="t" r="r" b="b"/>
              <a:pathLst>
                <a:path w="472480" h="590549">
                  <a:moveTo>
                    <a:pt x="0" y="0"/>
                  </a:moveTo>
                  <a:lnTo>
                    <a:pt x="472480" y="0"/>
                  </a:lnTo>
                  <a:lnTo>
                    <a:pt x="472480" y="590549"/>
                  </a:lnTo>
                  <a:lnTo>
                    <a:pt x="0" y="5905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6" r="-11036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472478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3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493148" y="2518772"/>
            <a:ext cx="7478611" cy="38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3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Status Unclear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93148" y="2967933"/>
            <a:ext cx="7478611" cy="138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8"/>
              </a:lnSpc>
            </a:pPr>
            <a:r>
              <a:rPr lang="en-US" sz="1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 submitted my application for [Job Title] but haven't received confirmation of receipt. Could you please confirm that my application was received and let me know the expected timeline for feedback? Thank you!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080049" y="8257432"/>
            <a:ext cx="16127911" cy="1129008"/>
            <a:chOff x="0" y="0"/>
            <a:chExt cx="21503881" cy="150534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503895" cy="1505331"/>
            </a:xfrm>
            <a:custGeom>
              <a:avLst/>
              <a:gdLst/>
              <a:ahLst/>
              <a:cxnLst/>
              <a:rect l="l" t="t" r="r" b="b"/>
              <a:pathLst>
                <a:path w="21503895" h="1505331">
                  <a:moveTo>
                    <a:pt x="0" y="132334"/>
                  </a:moveTo>
                  <a:cubicBezTo>
                    <a:pt x="0" y="59182"/>
                    <a:pt x="59182" y="0"/>
                    <a:pt x="132334" y="0"/>
                  </a:cubicBezTo>
                  <a:lnTo>
                    <a:pt x="21371561" y="0"/>
                  </a:lnTo>
                  <a:cubicBezTo>
                    <a:pt x="21444586" y="0"/>
                    <a:pt x="21503895" y="59182"/>
                    <a:pt x="21503895" y="132334"/>
                  </a:cubicBezTo>
                  <a:lnTo>
                    <a:pt x="21503895" y="1372997"/>
                  </a:lnTo>
                  <a:cubicBezTo>
                    <a:pt x="21503895" y="1446022"/>
                    <a:pt x="21444713" y="1505331"/>
                    <a:pt x="21371561" y="1505331"/>
                  </a:cubicBezTo>
                  <a:lnTo>
                    <a:pt x="132334" y="1505331"/>
                  </a:lnTo>
                  <a:cubicBezTo>
                    <a:pt x="59182" y="1505331"/>
                    <a:pt x="0" y="1446149"/>
                    <a:pt x="0" y="1372997"/>
                  </a:cubicBezTo>
                  <a:close/>
                </a:path>
              </a:pathLst>
            </a:custGeom>
            <a:solidFill>
              <a:srgbClr val="FFB3B4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316241" y="8519074"/>
            <a:ext cx="295275" cy="236191"/>
            <a:chOff x="0" y="0"/>
            <a:chExt cx="393700" cy="314922"/>
          </a:xfrm>
        </p:grpSpPr>
        <p:sp>
          <p:nvSpPr>
            <p:cNvPr id="40" name="Freeform 40" descr="preencoded.png"/>
            <p:cNvSpPr/>
            <p:nvPr/>
          </p:nvSpPr>
          <p:spPr>
            <a:xfrm>
              <a:off x="0" y="0"/>
              <a:ext cx="393700" cy="314960"/>
            </a:xfrm>
            <a:custGeom>
              <a:avLst/>
              <a:gdLst/>
              <a:ahLst/>
              <a:cxnLst/>
              <a:rect l="l" t="t" r="r" b="b"/>
              <a:pathLst>
                <a:path w="393700" h="314960">
                  <a:moveTo>
                    <a:pt x="0" y="0"/>
                  </a:moveTo>
                  <a:lnTo>
                    <a:pt x="393700" y="0"/>
                  </a:lnTo>
                  <a:lnTo>
                    <a:pt x="393700" y="314960"/>
                  </a:lnTo>
                  <a:lnTo>
                    <a:pt x="0" y="31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11" b="-395"/>
              </a:stretch>
            </a:blipFill>
          </p:spPr>
        </p:sp>
      </p:grpSp>
      <p:sp>
        <p:nvSpPr>
          <p:cNvPr id="41" name="TextBox 41"/>
          <p:cNvSpPr txBox="1"/>
          <p:nvPr/>
        </p:nvSpPr>
        <p:spPr>
          <a:xfrm>
            <a:off x="1847698" y="8449570"/>
            <a:ext cx="15124062" cy="715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Don't over-follow-up:</a:t>
            </a: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Limit follow-ups to 2–3 messages maximum. After that, move on to other opportunities. Repeated messages can become counterproductive and may harm your professional reputation.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80049" y="893416"/>
            <a:ext cx="16127911" cy="727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Following Up After an Interview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080049" y="2085680"/>
            <a:ext cx="226514" cy="226514"/>
          </a:xfrm>
          <a:custGeom>
            <a:avLst/>
            <a:gdLst/>
            <a:ahLst/>
            <a:cxnLst/>
            <a:rect l="l" t="t" r="r" b="b"/>
            <a:pathLst>
              <a:path w="226514" h="226514">
                <a:moveTo>
                  <a:pt x="0" y="0"/>
                </a:moveTo>
                <a:lnTo>
                  <a:pt x="226514" y="0"/>
                </a:lnTo>
                <a:lnTo>
                  <a:pt x="226514" y="226514"/>
                </a:lnTo>
                <a:lnTo>
                  <a:pt x="0" y="2265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4583" r="-14583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80049" y="2413845"/>
            <a:ext cx="8621611" cy="28575"/>
            <a:chOff x="0" y="0"/>
            <a:chExt cx="11495481" cy="38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95532" cy="38100"/>
            </a:xfrm>
            <a:custGeom>
              <a:avLst/>
              <a:gdLst/>
              <a:ahLst/>
              <a:cxnLst/>
              <a:rect l="l" t="t" r="r" b="b"/>
              <a:pathLst>
                <a:path w="11495532" h="38100">
                  <a:moveTo>
                    <a:pt x="0" y="0"/>
                  </a:moveTo>
                  <a:lnTo>
                    <a:pt x="11495532" y="0"/>
                  </a:lnTo>
                  <a:lnTo>
                    <a:pt x="1149553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80049" y="2565206"/>
            <a:ext cx="8621611" cy="37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Thank-You Message — Within 24 Hours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0049" y="3066755"/>
            <a:ext cx="8621611" cy="98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Thank you for taking the time to interview me for the [Job Title] position. I enjoyed our conversation about [specific topic discussed] and remain very interested in this opportunity. I look forward to hearing from you.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1080049" y="4412904"/>
            <a:ext cx="226514" cy="226514"/>
          </a:xfrm>
          <a:custGeom>
            <a:avLst/>
            <a:gdLst/>
            <a:ahLst/>
            <a:cxnLst/>
            <a:rect l="l" t="t" r="r" b="b"/>
            <a:pathLst>
              <a:path w="226514" h="226514">
                <a:moveTo>
                  <a:pt x="0" y="0"/>
                </a:moveTo>
                <a:lnTo>
                  <a:pt x="226514" y="0"/>
                </a:lnTo>
                <a:lnTo>
                  <a:pt x="226514" y="226514"/>
                </a:lnTo>
                <a:lnTo>
                  <a:pt x="0" y="226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081" r="-2085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80049" y="4741069"/>
            <a:ext cx="8621611" cy="28575"/>
            <a:chOff x="0" y="0"/>
            <a:chExt cx="11495481" cy="381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95532" cy="38100"/>
            </a:xfrm>
            <a:custGeom>
              <a:avLst/>
              <a:gdLst/>
              <a:ahLst/>
              <a:cxnLst/>
              <a:rect l="l" t="t" r="r" b="b"/>
              <a:pathLst>
                <a:path w="11495532" h="38100">
                  <a:moveTo>
                    <a:pt x="0" y="0"/>
                  </a:moveTo>
                  <a:lnTo>
                    <a:pt x="11495532" y="0"/>
                  </a:lnTo>
                  <a:lnTo>
                    <a:pt x="1149553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080049" y="4892431"/>
            <a:ext cx="8621611" cy="37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Asking for an Update — After 1 Week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0049" y="5393979"/>
            <a:ext cx="8621611" cy="98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 hope you're well. I wanted to follow up on the [Job Title] interview we had on [Date]. I remain very interested in the role and would appreciate an update on the timeline or next steps. Thank you!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1080049" y="6740128"/>
            <a:ext cx="226514" cy="226514"/>
          </a:xfrm>
          <a:custGeom>
            <a:avLst/>
            <a:gdLst/>
            <a:ahLst/>
            <a:cxnLst/>
            <a:rect l="l" t="t" r="r" b="b"/>
            <a:pathLst>
              <a:path w="226514" h="226514">
                <a:moveTo>
                  <a:pt x="0" y="0"/>
                </a:moveTo>
                <a:lnTo>
                  <a:pt x="226514" y="0"/>
                </a:lnTo>
                <a:lnTo>
                  <a:pt x="226514" y="226514"/>
                </a:lnTo>
                <a:lnTo>
                  <a:pt x="0" y="2265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080049" y="7068293"/>
            <a:ext cx="8621611" cy="28575"/>
            <a:chOff x="0" y="0"/>
            <a:chExt cx="11495481" cy="381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495532" cy="38100"/>
            </a:xfrm>
            <a:custGeom>
              <a:avLst/>
              <a:gdLst/>
              <a:ahLst/>
              <a:cxnLst/>
              <a:rect l="l" t="t" r="r" b="b"/>
              <a:pathLst>
                <a:path w="11495532" h="38100">
                  <a:moveTo>
                    <a:pt x="0" y="0"/>
                  </a:moveTo>
                  <a:lnTo>
                    <a:pt x="11495532" y="0"/>
                  </a:lnTo>
                  <a:lnTo>
                    <a:pt x="1149553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080049" y="7219655"/>
            <a:ext cx="8621611" cy="37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Final Polite Follow-Up — After 2 Weeks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0049" y="7721203"/>
            <a:ext cx="8621611" cy="129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 wanted to check in one more time regarding the [Job Title] position. I'm still very interested and would welcome any update on the decision timeline. Please let me know if there's any additional information I can provide. Thanks for your time.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263930" y="2057400"/>
            <a:ext cx="6953545" cy="6953545"/>
            <a:chOff x="0" y="0"/>
            <a:chExt cx="9271394" cy="9271394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9271381" cy="9271381"/>
            </a:xfrm>
            <a:custGeom>
              <a:avLst/>
              <a:gdLst/>
              <a:ahLst/>
              <a:cxnLst/>
              <a:rect l="l" t="t" r="r" b="b"/>
              <a:pathLst>
                <a:path w="9271381" h="9271381">
                  <a:moveTo>
                    <a:pt x="0" y="0"/>
                  </a:moveTo>
                  <a:lnTo>
                    <a:pt x="9271381" y="0"/>
                  </a:lnTo>
                  <a:lnTo>
                    <a:pt x="9271381" y="9271381"/>
                  </a:lnTo>
                  <a:lnTo>
                    <a:pt x="0" y="9271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80049" y="832847"/>
            <a:ext cx="16127911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2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No Response? What to Send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0049" y="2079127"/>
            <a:ext cx="17042311" cy="461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Silence doesn't always mean rejection. Here's how to follow up gracefully — and when to let go.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80049" y="3592116"/>
            <a:ext cx="5224015" cy="1428750"/>
            <a:chOff x="0" y="0"/>
            <a:chExt cx="6965353" cy="1905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6965315" cy="1905000"/>
            </a:xfrm>
            <a:custGeom>
              <a:avLst/>
              <a:gdLst/>
              <a:ahLst/>
              <a:cxnLst/>
              <a:rect l="l" t="t" r="r" b="b"/>
              <a:pathLst>
                <a:path w="6965315" h="1905000">
                  <a:moveTo>
                    <a:pt x="0" y="0"/>
                  </a:moveTo>
                  <a:lnTo>
                    <a:pt x="6965315" y="0"/>
                  </a:lnTo>
                  <a:lnTo>
                    <a:pt x="6965315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" r="-50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345254" y="4596555"/>
            <a:ext cx="4693596" cy="43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First Polite Follow-Up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5254" y="5100047"/>
            <a:ext cx="4693596" cy="203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 wanted to follow up on my previous message regarding [Job Title/Opportunity]. I remain very interested and would appreciate any feedback or update. Thank you!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31921" y="3194294"/>
            <a:ext cx="5224015" cy="1428750"/>
            <a:chOff x="0" y="0"/>
            <a:chExt cx="6965353" cy="19050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6965315" cy="1905000"/>
            </a:xfrm>
            <a:custGeom>
              <a:avLst/>
              <a:gdLst/>
              <a:ahLst/>
              <a:cxnLst/>
              <a:rect l="l" t="t" r="r" b="b"/>
              <a:pathLst>
                <a:path w="6965315" h="1905000">
                  <a:moveTo>
                    <a:pt x="0" y="0"/>
                  </a:moveTo>
                  <a:lnTo>
                    <a:pt x="6965315" y="0"/>
                  </a:lnTo>
                  <a:lnTo>
                    <a:pt x="6965315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" r="-50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6797126" y="4198744"/>
            <a:ext cx="4693596" cy="84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Second Follow-Up — More Direct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97126" y="5116716"/>
            <a:ext cx="4693596" cy="2433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 understand you may be busy, but I wanted to check in once more about the [Job Title] opportunity. If this role is no longer a fit, I'd appreciate knowing so I can explore other options. Thanks for your time.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983793" y="2796483"/>
            <a:ext cx="5224015" cy="1428750"/>
            <a:chOff x="0" y="0"/>
            <a:chExt cx="6965353" cy="190500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6965315" cy="1905000"/>
            </a:xfrm>
            <a:custGeom>
              <a:avLst/>
              <a:gdLst/>
              <a:ahLst/>
              <a:cxnLst/>
              <a:rect l="l" t="t" r="r" b="b"/>
              <a:pathLst>
                <a:path w="6965315" h="1905000">
                  <a:moveTo>
                    <a:pt x="0" y="0"/>
                  </a:moveTo>
                  <a:lnTo>
                    <a:pt x="6965315" y="0"/>
                  </a:lnTo>
                  <a:lnTo>
                    <a:pt x="6965315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" r="-50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2248998" y="3800923"/>
            <a:ext cx="4693596" cy="84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Final Follow-Up — Graceful Exit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48998" y="4718895"/>
            <a:ext cx="4693596" cy="2433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 [Recruiter Name], I appreciate your time and understand if this opportunity isn't moving forward. I'd still value staying connected for future roles that match my profile. Best of luck with your search!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80049" y="8071247"/>
            <a:ext cx="16127911" cy="1354188"/>
            <a:chOff x="0" y="0"/>
            <a:chExt cx="21503881" cy="180558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503894" cy="1805686"/>
            </a:xfrm>
            <a:custGeom>
              <a:avLst/>
              <a:gdLst/>
              <a:ahLst/>
              <a:cxnLst/>
              <a:rect l="l" t="t" r="r" b="b"/>
              <a:pathLst>
                <a:path w="21503894" h="1805686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1355304" y="0"/>
                  </a:lnTo>
                  <a:cubicBezTo>
                    <a:pt x="21437346" y="0"/>
                    <a:pt x="21503894" y="66548"/>
                    <a:pt x="21503894" y="148590"/>
                  </a:cubicBezTo>
                  <a:lnTo>
                    <a:pt x="21503894" y="1657096"/>
                  </a:lnTo>
                  <a:cubicBezTo>
                    <a:pt x="21503894" y="1739138"/>
                    <a:pt x="21437346" y="1805686"/>
                    <a:pt x="21355304" y="1805686"/>
                  </a:cubicBezTo>
                  <a:lnTo>
                    <a:pt x="148590" y="1805686"/>
                  </a:lnTo>
                  <a:cubicBezTo>
                    <a:pt x="66548" y="1805686"/>
                    <a:pt x="0" y="1739138"/>
                    <a:pt x="0" y="1657096"/>
                  </a:cubicBezTo>
                  <a:close/>
                </a:path>
              </a:pathLst>
            </a:custGeom>
            <a:solidFill>
              <a:srgbClr val="FFB3B4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345254" y="8399859"/>
            <a:ext cx="331441" cy="265214"/>
            <a:chOff x="0" y="0"/>
            <a:chExt cx="441922" cy="353619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441960" cy="353568"/>
            </a:xfrm>
            <a:custGeom>
              <a:avLst/>
              <a:gdLst/>
              <a:ahLst/>
              <a:cxnLst/>
              <a:rect l="l" t="t" r="r" b="b"/>
              <a:pathLst>
                <a:path w="441960" h="353568">
                  <a:moveTo>
                    <a:pt x="0" y="0"/>
                  </a:moveTo>
                  <a:lnTo>
                    <a:pt x="441960" y="0"/>
                  </a:lnTo>
                  <a:lnTo>
                    <a:pt x="441960" y="353568"/>
                  </a:lnTo>
                  <a:lnTo>
                    <a:pt x="0" y="353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r="-2" b="-14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1941909" y="8298656"/>
            <a:ext cx="15000837" cy="855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When to stop following up:</a:t>
            </a: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If you've sent 2–3 follow-up messages with no response over 3–4 weeks, it's time to move on. Focus your energy on other opportunities and recruiters who are actively engaging with you.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80049" y="827189"/>
            <a:ext cx="16127911" cy="580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3"/>
              </a:lnSpc>
            </a:pPr>
            <a:r>
              <a:rPr lang="en-US" sz="34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Recruiter Responded — What Next?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0049" y="1593504"/>
            <a:ext cx="17042311" cy="226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When a recruiter replies, be ready. Here are copy-ready responses to the most common recruiter questions.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1080049" y="1929708"/>
            <a:ext cx="16127911" cy="1041502"/>
          </a:xfrm>
          <a:custGeom>
            <a:avLst/>
            <a:gdLst/>
            <a:ahLst/>
            <a:cxnLst/>
            <a:rect l="l" t="t" r="r" b="b"/>
            <a:pathLst>
              <a:path w="16127911" h="1041502">
                <a:moveTo>
                  <a:pt x="0" y="0"/>
                </a:moveTo>
                <a:lnTo>
                  <a:pt x="16127911" y="0"/>
                </a:lnTo>
                <a:lnTo>
                  <a:pt x="16127911" y="1041501"/>
                </a:lnTo>
                <a:lnTo>
                  <a:pt x="0" y="104150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9" name="TextBox 9"/>
          <p:cNvSpPr txBox="1"/>
          <p:nvPr/>
        </p:nvSpPr>
        <p:spPr>
          <a:xfrm>
            <a:off x="1891008" y="2093719"/>
            <a:ext cx="15124357" cy="29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"Please send your CV."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1008" y="2442420"/>
            <a:ext cx="15124357" cy="226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Thank you for your interest! I've attached my CV. I'm happy to discuss my background and experience in more detail. Looking forward to hearing from you.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1080049" y="3068841"/>
            <a:ext cx="16127911" cy="1148505"/>
          </a:xfrm>
          <a:custGeom>
            <a:avLst/>
            <a:gdLst/>
            <a:ahLst/>
            <a:cxnLst/>
            <a:rect l="l" t="t" r="r" b="b"/>
            <a:pathLst>
              <a:path w="16127911" h="1148505">
                <a:moveTo>
                  <a:pt x="0" y="0"/>
                </a:moveTo>
                <a:lnTo>
                  <a:pt x="16127911" y="0"/>
                </a:lnTo>
                <a:lnTo>
                  <a:pt x="16127911" y="1148505"/>
                </a:lnTo>
                <a:lnTo>
                  <a:pt x="0" y="114850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2" name="TextBox 12"/>
          <p:cNvSpPr txBox="1"/>
          <p:nvPr/>
        </p:nvSpPr>
        <p:spPr>
          <a:xfrm>
            <a:off x="1891008" y="3232842"/>
            <a:ext cx="15124357" cy="29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"Tell me about yourself."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91008" y="3581552"/>
            <a:ext cx="15124357" cy="443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I'm [Your Name], a [Your Role] with [Years of Experience] years of experience in [Industry/Field]. My key strengths include [Key Skill 1], [Key Skill 2], and [Key Skill 3]. I've successfully [mention a key achievement]. I'm particularly interested in [specific role/industry] and am excited about the opportunity to contribute to [Company Name].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1080049" y="4314977"/>
            <a:ext cx="16127911" cy="1148505"/>
          </a:xfrm>
          <a:custGeom>
            <a:avLst/>
            <a:gdLst/>
            <a:ahLst/>
            <a:cxnLst/>
            <a:rect l="l" t="t" r="r" b="b"/>
            <a:pathLst>
              <a:path w="16127911" h="1148505">
                <a:moveTo>
                  <a:pt x="0" y="0"/>
                </a:moveTo>
                <a:lnTo>
                  <a:pt x="16127911" y="0"/>
                </a:lnTo>
                <a:lnTo>
                  <a:pt x="16127911" y="1148506"/>
                </a:lnTo>
                <a:lnTo>
                  <a:pt x="0" y="114850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5" name="TextBox 15"/>
          <p:cNvSpPr txBox="1"/>
          <p:nvPr/>
        </p:nvSpPr>
        <p:spPr>
          <a:xfrm>
            <a:off x="1891008" y="4478979"/>
            <a:ext cx="15124357" cy="29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"What salary are you expecting?"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91008" y="4827689"/>
            <a:ext cx="15124357" cy="443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Based on my experience and the market rate for this role in [Location], I'm looking for a salary in the range of [Range]. However, I'm open to discussing this based on the full package and role responsibilities. What range did you have in mind?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1080049" y="5561114"/>
            <a:ext cx="16127911" cy="1041502"/>
          </a:xfrm>
          <a:custGeom>
            <a:avLst/>
            <a:gdLst/>
            <a:ahLst/>
            <a:cxnLst/>
            <a:rect l="l" t="t" r="r" b="b"/>
            <a:pathLst>
              <a:path w="16127911" h="1041502">
                <a:moveTo>
                  <a:pt x="0" y="0"/>
                </a:moveTo>
                <a:lnTo>
                  <a:pt x="16127911" y="0"/>
                </a:lnTo>
                <a:lnTo>
                  <a:pt x="16127911" y="1041502"/>
                </a:lnTo>
                <a:lnTo>
                  <a:pt x="0" y="104150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8" name="TextBox 18"/>
          <p:cNvSpPr txBox="1"/>
          <p:nvPr/>
        </p:nvSpPr>
        <p:spPr>
          <a:xfrm>
            <a:off x="1891008" y="5725125"/>
            <a:ext cx="15124357" cy="29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"Are you available for an interview?"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91008" y="6073826"/>
            <a:ext cx="15124357" cy="226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Absolutely! I'm very interested in this opportunity. I'm available at your convenience — please let me know your preferred time and format (phone, video, or in-person), and I'll make myself available.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1080049" y="6700237"/>
            <a:ext cx="16127911" cy="1148505"/>
          </a:xfrm>
          <a:custGeom>
            <a:avLst/>
            <a:gdLst/>
            <a:ahLst/>
            <a:cxnLst/>
            <a:rect l="l" t="t" r="r" b="b"/>
            <a:pathLst>
              <a:path w="16127911" h="1148505">
                <a:moveTo>
                  <a:pt x="0" y="0"/>
                </a:moveTo>
                <a:lnTo>
                  <a:pt x="16127911" y="0"/>
                </a:lnTo>
                <a:lnTo>
                  <a:pt x="16127911" y="1148506"/>
                </a:lnTo>
                <a:lnTo>
                  <a:pt x="0" y="114850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1" name="TextBox 21"/>
          <p:cNvSpPr txBox="1"/>
          <p:nvPr/>
        </p:nvSpPr>
        <p:spPr>
          <a:xfrm>
            <a:off x="1891008" y="6864248"/>
            <a:ext cx="15124357" cy="29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"Are you willing to relocate?" / "Are you currently in the Gulf?"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1008" y="7212959"/>
            <a:ext cx="15124357" cy="443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Yes, I'm open to relocating to [Target Location]. I'm committed to making this transition and am prepared to handle the logistics. I'm currently based in [Current Location] but actively planning my move and flexible with timing.</a:t>
            </a:r>
          </a:p>
        </p:txBody>
      </p:sp>
      <p:sp>
        <p:nvSpPr>
          <p:cNvPr id="23" name="Freeform 23" descr="preencoded.png"/>
          <p:cNvSpPr/>
          <p:nvPr/>
        </p:nvSpPr>
        <p:spPr>
          <a:xfrm>
            <a:off x="1080049" y="7946384"/>
            <a:ext cx="16127911" cy="1148505"/>
          </a:xfrm>
          <a:custGeom>
            <a:avLst/>
            <a:gdLst/>
            <a:ahLst/>
            <a:cxnLst/>
            <a:rect l="l" t="t" r="r" b="b"/>
            <a:pathLst>
              <a:path w="16127911" h="1148505">
                <a:moveTo>
                  <a:pt x="0" y="0"/>
                </a:moveTo>
                <a:lnTo>
                  <a:pt x="16127911" y="0"/>
                </a:lnTo>
                <a:lnTo>
                  <a:pt x="16127911" y="1148505"/>
                </a:lnTo>
                <a:lnTo>
                  <a:pt x="0" y="114850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4" name="TextBox 24"/>
          <p:cNvSpPr txBox="1"/>
          <p:nvPr/>
        </p:nvSpPr>
        <p:spPr>
          <a:xfrm>
            <a:off x="1891008" y="8110385"/>
            <a:ext cx="15124357" cy="29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"What is your notice period?" / "Can you provide your contact number?"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91008" y="8459095"/>
            <a:ext cx="15124357" cy="443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My current notice period is [X weeks/months]. I'm prepared to provide formal notice as soon as we move forward. My contact number is [Your Phone Number] — feel free to reach out directly at your convenience.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22849" y="9195197"/>
            <a:ext cx="17042311" cy="226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2"/>
              </a:lnSpc>
            </a:pPr>
            <a:r>
              <a:rPr lang="en-US" sz="1300" b="1">
                <a:solidFill>
                  <a:srgbClr val="FF8C42"/>
                </a:solidFill>
                <a:latin typeface="Roboto Bold"/>
                <a:ea typeface="Roboto Bold"/>
                <a:cs typeface="Roboto Bold"/>
                <a:sym typeface="Roboto Bold"/>
              </a:rPr>
              <a:t>This resource is brought to you by Falayn — your Gulf career partner.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2410</Words>
  <Application>Microsoft Office PowerPoint</Application>
  <PresentationFormat>Custom</PresentationFormat>
  <Paragraphs>153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Roboto</vt:lpstr>
      <vt:lpstr>Raleway</vt:lpstr>
      <vt:lpstr>Arial</vt:lpstr>
      <vt:lpstr>Calibri</vt:lpstr>
      <vt:lpstr>Roboto Bold</vt:lpstr>
      <vt:lpstr>Roboto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Recruiter-Message-Pack.pptx</dc:title>
  <cp:lastModifiedBy>joshma20022@outlook.com</cp:lastModifiedBy>
  <cp:revision>2</cp:revision>
  <dcterms:created xsi:type="dcterms:W3CDTF">2006-08-16T00:00:00Z</dcterms:created>
  <dcterms:modified xsi:type="dcterms:W3CDTF">2026-08-09T17:54:41Z</dcterms:modified>
  <dc:identifier>DAHR0eLQSEw</dc:identifier>
</cp:coreProperties>
</file>