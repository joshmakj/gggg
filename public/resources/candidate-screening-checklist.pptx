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1374100" cy="30276800"/>
  <p:notesSz cx="6858000" cy="9144000"/>
  <p:embeddedFontLst>
    <p:embeddedFont>
      <p:font typeface="Crimson Pro" charset="1" panose="00000000000000000000"/>
      <p:regular r:id="rId20"/>
    </p:embeddedFont>
    <p:embeddedFont>
      <p:font typeface="Heebo" charset="1" panose="00000500000000000000"/>
      <p:regular r:id="rId21"/>
    </p:embeddedFont>
    <p:embeddedFont>
      <p:font typeface="Heebo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0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0.png" Type="http://schemas.openxmlformats.org/officeDocument/2006/relationships/image"/><Relationship Id="rId5" Target="../media/image3.jpe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4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Screening Checklist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200" y="2790901"/>
            <a:ext cx="1972032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practical guide to reviewing candidates consistently and efficiently.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4181" y="3965629"/>
            <a:ext cx="2058914" cy="596617"/>
            <a:chOff x="0" y="0"/>
            <a:chExt cx="2745219" cy="7954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5232" cy="795528"/>
            </a:xfrm>
            <a:custGeom>
              <a:avLst/>
              <a:gdLst/>
              <a:ahLst/>
              <a:cxnLst/>
              <a:rect r="r" b="b" t="t" l="l"/>
              <a:pathLst>
                <a:path h="795528" w="2745232">
                  <a:moveTo>
                    <a:pt x="0" y="62865"/>
                  </a:moveTo>
                  <a:cubicBezTo>
                    <a:pt x="0" y="28067"/>
                    <a:pt x="28067" y="0"/>
                    <a:pt x="62865" y="0"/>
                  </a:cubicBezTo>
                  <a:lnTo>
                    <a:pt x="2682367" y="0"/>
                  </a:lnTo>
                  <a:cubicBezTo>
                    <a:pt x="2717038" y="0"/>
                    <a:pt x="2745232" y="28067"/>
                    <a:pt x="2745232" y="62865"/>
                  </a:cubicBezTo>
                  <a:lnTo>
                    <a:pt x="2745232" y="732663"/>
                  </a:lnTo>
                  <a:cubicBezTo>
                    <a:pt x="2745232" y="767334"/>
                    <a:pt x="2717165" y="795528"/>
                    <a:pt x="2682367" y="795528"/>
                  </a:cubicBezTo>
                  <a:lnTo>
                    <a:pt x="62865" y="795528"/>
                  </a:lnTo>
                  <a:cubicBezTo>
                    <a:pt x="28067" y="795528"/>
                    <a:pt x="0" y="767334"/>
                    <a:pt x="0" y="732663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09620" y="4106856"/>
            <a:ext cx="313982" cy="313982"/>
            <a:chOff x="0" y="0"/>
            <a:chExt cx="418643" cy="41864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18592" cy="418592"/>
            </a:xfrm>
            <a:custGeom>
              <a:avLst/>
              <a:gdLst/>
              <a:ahLst/>
              <a:cxnLst/>
              <a:rect r="r" b="b" t="t" l="l"/>
              <a:pathLst>
                <a:path h="418592" w="418592">
                  <a:moveTo>
                    <a:pt x="0" y="0"/>
                  </a:moveTo>
                  <a:lnTo>
                    <a:pt x="418592" y="0"/>
                  </a:lnTo>
                  <a:lnTo>
                    <a:pt x="418592" y="418592"/>
                  </a:lnTo>
                  <a:lnTo>
                    <a:pt x="0" y="41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2" b="-1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80508" y="4102398"/>
            <a:ext cx="2187083" cy="34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40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FALAYN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623777" y="3960057"/>
            <a:ext cx="4389139" cy="607771"/>
            <a:chOff x="0" y="0"/>
            <a:chExt cx="5852185" cy="8103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810387"/>
            </a:xfrm>
            <a:custGeom>
              <a:avLst/>
              <a:gdLst/>
              <a:ahLst/>
              <a:cxnLst/>
              <a:rect r="r" b="b" t="t" l="l"/>
              <a:pathLst>
                <a:path h="810387" w="5852160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lnTo>
                    <a:pt x="5788152" y="0"/>
                  </a:lnTo>
                  <a:cubicBezTo>
                    <a:pt x="5823458" y="0"/>
                    <a:pt x="5852160" y="28702"/>
                    <a:pt x="5852160" y="64008"/>
                  </a:cubicBezTo>
                  <a:lnTo>
                    <a:pt x="5852160" y="746379"/>
                  </a:lnTo>
                  <a:cubicBezTo>
                    <a:pt x="5852160" y="781685"/>
                    <a:pt x="5823458" y="810387"/>
                    <a:pt x="5788152" y="810387"/>
                  </a:cubicBezTo>
                  <a:lnTo>
                    <a:pt x="64008" y="810387"/>
                  </a:lnTo>
                  <a:cubicBezTo>
                    <a:pt x="28702" y="810387"/>
                    <a:pt x="0" y="781685"/>
                    <a:pt x="0" y="74637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712" r="0" b="-90709"/>
              </a:stretch>
            </a:blipFill>
            <a:ln w="11146" cap="sq">
              <a:solidFill>
                <a:srgbClr val="2150FE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3864797" y="4102398"/>
            <a:ext cx="4977051" cy="34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405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GULF REGION HIRING TOOL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98034" y="3960057"/>
            <a:ext cx="3360820" cy="607771"/>
            <a:chOff x="0" y="0"/>
            <a:chExt cx="4481093" cy="8103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81068" cy="810387"/>
            </a:xfrm>
            <a:custGeom>
              <a:avLst/>
              <a:gdLst/>
              <a:ahLst/>
              <a:cxnLst/>
              <a:rect r="r" b="b" t="t" l="l"/>
              <a:pathLst>
                <a:path h="810387" w="4481068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lnTo>
                    <a:pt x="4417060" y="0"/>
                  </a:lnTo>
                  <a:cubicBezTo>
                    <a:pt x="4452366" y="0"/>
                    <a:pt x="4481068" y="28702"/>
                    <a:pt x="4481068" y="64008"/>
                  </a:cubicBezTo>
                  <a:lnTo>
                    <a:pt x="4481068" y="746379"/>
                  </a:lnTo>
                  <a:cubicBezTo>
                    <a:pt x="4481068" y="781685"/>
                    <a:pt x="4452366" y="810387"/>
                    <a:pt x="4417060" y="810387"/>
                  </a:cubicBezTo>
                  <a:lnTo>
                    <a:pt x="64008" y="810387"/>
                  </a:lnTo>
                  <a:cubicBezTo>
                    <a:pt x="28702" y="810387"/>
                    <a:pt x="0" y="781685"/>
                    <a:pt x="0" y="746379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745" r="0" b="-57742"/>
              </a:stretch>
            </a:blipFill>
            <a:ln w="11146" cap="sq">
              <a:solidFill>
                <a:srgbClr val="2150FE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439055" y="4102398"/>
            <a:ext cx="3948732" cy="34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405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RECRUITER EDITION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How to Use This Checklist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Follow this seven-step process to screen candidates consistently and efficiently. Each step builds on the last, creating a structured workflow from role definition through to final decision.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4181" y="4790199"/>
            <a:ext cx="785222" cy="490738"/>
            <a:chOff x="0" y="0"/>
            <a:chExt cx="1046963" cy="6543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4181" y="5412772"/>
            <a:ext cx="5955049" cy="44577"/>
            <a:chOff x="0" y="0"/>
            <a:chExt cx="7940065" cy="594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40040" cy="59436"/>
            </a:xfrm>
            <a:custGeom>
              <a:avLst/>
              <a:gdLst/>
              <a:ahLst/>
              <a:cxnLst/>
              <a:rect r="r" b="b" t="t" l="l"/>
              <a:pathLst>
                <a:path h="59436" w="7940040">
                  <a:moveTo>
                    <a:pt x="0" y="0"/>
                  </a:moveTo>
                  <a:lnTo>
                    <a:pt x="7940040" y="0"/>
                  </a:lnTo>
                  <a:lnTo>
                    <a:pt x="7940040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74181" y="5679138"/>
            <a:ext cx="595504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Understand the Role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4181" y="6442205"/>
            <a:ext cx="595504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Know what you're hiring for before reviewing a single CV.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21746" y="4790199"/>
            <a:ext cx="785222" cy="490738"/>
            <a:chOff x="0" y="0"/>
            <a:chExt cx="1046963" cy="6543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21746" y="5412772"/>
            <a:ext cx="5955049" cy="44577"/>
            <a:chOff x="0" y="0"/>
            <a:chExt cx="7940065" cy="594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40040" cy="59436"/>
            </a:xfrm>
            <a:custGeom>
              <a:avLst/>
              <a:gdLst/>
              <a:ahLst/>
              <a:cxnLst/>
              <a:rect r="r" b="b" t="t" l="l"/>
              <a:pathLst>
                <a:path h="59436" w="7940040">
                  <a:moveTo>
                    <a:pt x="0" y="0"/>
                  </a:moveTo>
                  <a:lnTo>
                    <a:pt x="7940040" y="0"/>
                  </a:lnTo>
                  <a:lnTo>
                    <a:pt x="7940040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721746" y="5679138"/>
            <a:ext cx="5955049" cy="124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Define Essential Requirements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21746" y="7055539"/>
            <a:ext cx="5955049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Clarify what candidates must have versus what would be preferred.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069320" y="4790199"/>
            <a:ext cx="785222" cy="490738"/>
            <a:chOff x="0" y="0"/>
            <a:chExt cx="1046963" cy="6543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69320" y="5412772"/>
            <a:ext cx="5955220" cy="44577"/>
            <a:chOff x="0" y="0"/>
            <a:chExt cx="7940294" cy="594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40294" cy="59436"/>
            </a:xfrm>
            <a:custGeom>
              <a:avLst/>
              <a:gdLst/>
              <a:ahLst/>
              <a:cxnLst/>
              <a:rect r="r" b="b" t="t" l="l"/>
              <a:pathLst>
                <a:path h="59436" w="7940294">
                  <a:moveTo>
                    <a:pt x="0" y="0"/>
                  </a:moveTo>
                  <a:lnTo>
                    <a:pt x="7940294" y="0"/>
                  </a:lnTo>
                  <a:lnTo>
                    <a:pt x="7940294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069320" y="5679138"/>
            <a:ext cx="595522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Review the Candidate's CV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69320" y="6442205"/>
            <a:ext cx="595522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Check experience and qualifications systematically.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74181" y="9732254"/>
            <a:ext cx="785222" cy="490738"/>
            <a:chOff x="0" y="0"/>
            <a:chExt cx="1046963" cy="6543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4181" y="10354828"/>
            <a:ext cx="5955049" cy="44577"/>
            <a:chOff x="0" y="0"/>
            <a:chExt cx="7940065" cy="594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40040" cy="59436"/>
            </a:xfrm>
            <a:custGeom>
              <a:avLst/>
              <a:gdLst/>
              <a:ahLst/>
              <a:cxnLst/>
              <a:rect r="r" b="b" t="t" l="l"/>
              <a:pathLst>
                <a:path h="59436" w="7940040">
                  <a:moveTo>
                    <a:pt x="0" y="0"/>
                  </a:moveTo>
                  <a:lnTo>
                    <a:pt x="7940040" y="0"/>
                  </a:lnTo>
                  <a:lnTo>
                    <a:pt x="7940040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74181" y="10621204"/>
            <a:ext cx="595504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Compare Experience &amp; Skills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4181" y="11384251"/>
            <a:ext cx="595504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Assess alignment against defined job requirements.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721746" y="9732254"/>
            <a:ext cx="785222" cy="490738"/>
            <a:chOff x="0" y="0"/>
            <a:chExt cx="1046963" cy="6543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721746" y="10354828"/>
            <a:ext cx="5955049" cy="44577"/>
            <a:chOff x="0" y="0"/>
            <a:chExt cx="7940065" cy="594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40040" cy="59436"/>
            </a:xfrm>
            <a:custGeom>
              <a:avLst/>
              <a:gdLst/>
              <a:ahLst/>
              <a:cxnLst/>
              <a:rect r="r" b="b" t="t" l="l"/>
              <a:pathLst>
                <a:path h="59436" w="7940040">
                  <a:moveTo>
                    <a:pt x="0" y="0"/>
                  </a:moveTo>
                  <a:lnTo>
                    <a:pt x="7940040" y="0"/>
                  </a:lnTo>
                  <a:lnTo>
                    <a:pt x="7940040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721746" y="10621204"/>
            <a:ext cx="595504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Conduct Initial Screening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21746" y="11384251"/>
            <a:ext cx="595504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 clarifying questions to fill gaps and confirm fit.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069320" y="9732254"/>
            <a:ext cx="785222" cy="490738"/>
            <a:chOff x="0" y="0"/>
            <a:chExt cx="1046963" cy="65431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069320" y="10354828"/>
            <a:ext cx="5955220" cy="44577"/>
            <a:chOff x="0" y="0"/>
            <a:chExt cx="7940294" cy="594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940294" cy="59436"/>
            </a:xfrm>
            <a:custGeom>
              <a:avLst/>
              <a:gdLst/>
              <a:ahLst/>
              <a:cxnLst/>
              <a:rect r="r" b="b" t="t" l="l"/>
              <a:pathLst>
                <a:path h="59436" w="7940294">
                  <a:moveTo>
                    <a:pt x="0" y="0"/>
                  </a:moveTo>
                  <a:lnTo>
                    <a:pt x="7940294" y="0"/>
                  </a:lnTo>
                  <a:lnTo>
                    <a:pt x="7940294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069320" y="10621204"/>
            <a:ext cx="595522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Record Your Assessment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069320" y="11384251"/>
            <a:ext cx="595522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Document findings objectively for every candidate reviewed.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74181" y="13432660"/>
            <a:ext cx="785222" cy="490738"/>
            <a:chOff x="0" y="0"/>
            <a:chExt cx="1046963" cy="65431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6959" cy="654320"/>
            </a:xfrm>
            <a:custGeom>
              <a:avLst/>
              <a:gdLst/>
              <a:ahLst/>
              <a:cxnLst/>
              <a:rect r="r" b="b" t="t" l="l"/>
              <a:pathLst>
                <a:path h="654320" w="1046959">
                  <a:moveTo>
                    <a:pt x="0" y="0"/>
                  </a:moveTo>
                  <a:lnTo>
                    <a:pt x="1046959" y="0"/>
                  </a:lnTo>
                  <a:lnTo>
                    <a:pt x="1046959" y="654320"/>
                  </a:lnTo>
                  <a:lnTo>
                    <a:pt x="0" y="65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5" t="0" r="-3018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46963" cy="66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07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4181" y="14055233"/>
            <a:ext cx="18650369" cy="44577"/>
            <a:chOff x="0" y="0"/>
            <a:chExt cx="24867159" cy="594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867108" cy="59436"/>
            </a:xfrm>
            <a:custGeom>
              <a:avLst/>
              <a:gdLst/>
              <a:ahLst/>
              <a:cxnLst/>
              <a:rect r="r" b="b" t="t" l="l"/>
              <a:pathLst>
                <a:path h="5943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59436"/>
                  </a:lnTo>
                  <a:lnTo>
                    <a:pt x="0" y="59436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74181" y="14321600"/>
            <a:ext cx="1865036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Decide Whether to Move Forward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4181" y="15084657"/>
            <a:ext cx="1865036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Make a clear, evidence-based decision on next steps.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74181" y="16553859"/>
            <a:ext cx="18650369" cy="2198580"/>
            <a:chOff x="0" y="0"/>
            <a:chExt cx="24867159" cy="293143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867108" cy="2931414"/>
            </a:xfrm>
            <a:custGeom>
              <a:avLst/>
              <a:gdLst/>
              <a:ahLst/>
              <a:cxnLst/>
              <a:rect r="r" b="b" t="t" l="l"/>
              <a:pathLst>
                <a:path h="2931414" w="24867108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24788622" y="0"/>
                  </a:lnTo>
                  <a:cubicBezTo>
                    <a:pt x="24832056" y="0"/>
                    <a:pt x="24867108" y="35179"/>
                    <a:pt x="24867108" y="78486"/>
                  </a:cubicBezTo>
                  <a:lnTo>
                    <a:pt x="24867108" y="2852928"/>
                  </a:lnTo>
                  <a:cubicBezTo>
                    <a:pt x="24867108" y="2896362"/>
                    <a:pt x="24831929" y="2931414"/>
                    <a:pt x="24788622" y="2931414"/>
                  </a:cubicBezTo>
                  <a:lnTo>
                    <a:pt x="78486" y="2931414"/>
                  </a:lnTo>
                  <a:cubicBezTo>
                    <a:pt x="35052" y="2931414"/>
                    <a:pt x="0" y="2896235"/>
                    <a:pt x="0" y="2852928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766697" y="17113215"/>
            <a:ext cx="490738" cy="392525"/>
            <a:chOff x="0" y="0"/>
            <a:chExt cx="654317" cy="523367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" r="-1" b="-7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2649960" y="16939651"/>
            <a:ext cx="1698206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Key Principle: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Screen candidates against the requirements of the role, not assumptions about the person.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Define the Role First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Before reviewing any CV, confirm the role requirements in full. A clear role definition ensures every candidate is evaluated against the same standard.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1536" y="4790199"/>
            <a:ext cx="9411472" cy="12024874"/>
            <a:chOff x="0" y="0"/>
            <a:chExt cx="12548629" cy="16033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8743" cy="16033242"/>
            </a:xfrm>
            <a:custGeom>
              <a:avLst/>
              <a:gdLst/>
              <a:ahLst/>
              <a:cxnLst/>
              <a:rect r="r" b="b" t="t" l="l"/>
              <a:pathLst>
                <a:path h="16033242" w="12548743">
                  <a:moveTo>
                    <a:pt x="0" y="78613"/>
                  </a:moveTo>
                  <a:cubicBezTo>
                    <a:pt x="0" y="35179"/>
                    <a:pt x="35179" y="0"/>
                    <a:pt x="78613" y="0"/>
                  </a:cubicBezTo>
                  <a:lnTo>
                    <a:pt x="12470130" y="0"/>
                  </a:lnTo>
                  <a:cubicBezTo>
                    <a:pt x="12513564" y="0"/>
                    <a:pt x="12548743" y="35179"/>
                    <a:pt x="12548743" y="78613"/>
                  </a:cubicBezTo>
                  <a:lnTo>
                    <a:pt x="12548743" y="15954629"/>
                  </a:lnTo>
                  <a:cubicBezTo>
                    <a:pt x="12548743" y="15998064"/>
                    <a:pt x="12513564" y="16033242"/>
                    <a:pt x="12470130" y="16033242"/>
                  </a:cubicBezTo>
                  <a:lnTo>
                    <a:pt x="78613" y="16033242"/>
                  </a:lnTo>
                  <a:cubicBezTo>
                    <a:pt x="35179" y="16033242"/>
                    <a:pt x="0" y="15998064"/>
                    <a:pt x="0" y="15954629"/>
                  </a:cubicBezTo>
                  <a:close/>
                </a:path>
              </a:pathLst>
            </a:custGeom>
            <a:solidFill>
              <a:srgbClr val="FF8C4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84062" y="5163674"/>
            <a:ext cx="862643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Role Definition Checklist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062" y="6083808"/>
            <a:ext cx="8626431" cy="638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Job title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Main responsibilities defined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Essential skills identified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Preferred skills identified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Experience requirement defined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Education requirement defined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Certifications identified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Location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Work arrangement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Availability requirement defined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89313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Essential Requirements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89313" y="6083808"/>
            <a:ext cx="8846201" cy="485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the candidate </a:t>
            </a: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must have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to perform the role effectively. If a candidate does not meet an essential requirement, they cannot proceed to interview.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Examples: required license, mandatory years of experience in a specific function, a language proficiency required to communicate with clients.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89313" y="1131360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Preferred Requirements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89313" y="12233729"/>
            <a:ext cx="8846201" cy="422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Skills or experience that would be an advantage but are </a:t>
            </a: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not mandatory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 A candidate lacking a preferred requirement may still be a strong fit.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Examples: familiarity with a secondary software tool, exposure to a related industry, an additional certification.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CV Screening Checklist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Review each CV systematically using the checklist below. Evaluate only job-related criteria. Record observations against each item before forming an overall view.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374181" y="4790199"/>
            <a:ext cx="9128836" cy="3607937"/>
          </a:xfrm>
          <a:custGeom>
            <a:avLst/>
            <a:gdLst/>
            <a:ahLst/>
            <a:cxnLst/>
            <a:rect r="r" b="b" t="t" l="l"/>
            <a:pathLst>
              <a:path h="3607937" w="9128836">
                <a:moveTo>
                  <a:pt x="0" y="0"/>
                </a:moveTo>
                <a:lnTo>
                  <a:pt x="9128836" y="0"/>
                </a:lnTo>
                <a:lnTo>
                  <a:pt x="9128836" y="3607936"/>
                </a:lnTo>
                <a:lnTo>
                  <a:pt x="0" y="3607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89601" y="5208260"/>
            <a:ext cx="8076305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Work Experience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89601" y="5971308"/>
            <a:ext cx="8076305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Relevant job experience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Relevant industry experience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Career progression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895533" y="4790199"/>
            <a:ext cx="9129008" cy="3607937"/>
          </a:xfrm>
          <a:custGeom>
            <a:avLst/>
            <a:gdLst/>
            <a:ahLst/>
            <a:cxnLst/>
            <a:rect r="r" b="b" t="t" l="l"/>
            <a:pathLst>
              <a:path h="3607937" w="9129008">
                <a:moveTo>
                  <a:pt x="0" y="0"/>
                </a:moveTo>
                <a:lnTo>
                  <a:pt x="9129008" y="0"/>
                </a:lnTo>
                <a:lnTo>
                  <a:pt x="9129008" y="3607936"/>
                </a:lnTo>
                <a:lnTo>
                  <a:pt x="0" y="3607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510962" y="5208260"/>
            <a:ext cx="8076486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Skills &amp; Achievements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10962" y="5971308"/>
            <a:ext cx="8076486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Required technical skills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Relevant achievements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Language skills where required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374181" y="8790661"/>
            <a:ext cx="9128836" cy="2979620"/>
          </a:xfrm>
          <a:custGeom>
            <a:avLst/>
            <a:gdLst/>
            <a:ahLst/>
            <a:cxnLst/>
            <a:rect r="r" b="b" t="t" l="l"/>
            <a:pathLst>
              <a:path h="2979620" w="9128836">
                <a:moveTo>
                  <a:pt x="0" y="0"/>
                </a:moveTo>
                <a:lnTo>
                  <a:pt x="9128836" y="0"/>
                </a:lnTo>
                <a:lnTo>
                  <a:pt x="9128836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57" r="0" b="-15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89601" y="9208713"/>
            <a:ext cx="8076305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Qualifications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9601" y="9971770"/>
            <a:ext cx="807630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Required education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Relevant certifications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895533" y="8790661"/>
            <a:ext cx="9129008" cy="2979620"/>
          </a:xfrm>
          <a:custGeom>
            <a:avLst/>
            <a:gdLst/>
            <a:ahLst/>
            <a:cxnLst/>
            <a:rect r="r" b="b" t="t" l="l"/>
            <a:pathLst>
              <a:path h="2979620" w="9129008">
                <a:moveTo>
                  <a:pt x="0" y="0"/>
                </a:moveTo>
                <a:lnTo>
                  <a:pt x="9129008" y="0"/>
                </a:lnTo>
                <a:lnTo>
                  <a:pt x="9129008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58" r="0" b="-15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510962" y="9208713"/>
            <a:ext cx="8076486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Logistics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10962" y="9971770"/>
            <a:ext cx="807648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Location / availability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CV is clear and complete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4181" y="12211907"/>
            <a:ext cx="18650369" cy="2198580"/>
            <a:chOff x="0" y="0"/>
            <a:chExt cx="24867159" cy="29314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867108" cy="2931414"/>
            </a:xfrm>
            <a:custGeom>
              <a:avLst/>
              <a:gdLst/>
              <a:ahLst/>
              <a:cxnLst/>
              <a:rect r="r" b="b" t="t" l="l"/>
              <a:pathLst>
                <a:path h="2931414" w="24867108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24788622" y="0"/>
                  </a:lnTo>
                  <a:cubicBezTo>
                    <a:pt x="24832056" y="0"/>
                    <a:pt x="24867108" y="35179"/>
                    <a:pt x="24867108" y="78486"/>
                  </a:cubicBezTo>
                  <a:lnTo>
                    <a:pt x="24867108" y="2852928"/>
                  </a:lnTo>
                  <a:cubicBezTo>
                    <a:pt x="24867108" y="2896362"/>
                    <a:pt x="24831929" y="2931414"/>
                    <a:pt x="24788622" y="2931414"/>
                  </a:cubicBezTo>
                  <a:lnTo>
                    <a:pt x="78486" y="2931414"/>
                  </a:lnTo>
                  <a:cubicBezTo>
                    <a:pt x="35052" y="2931414"/>
                    <a:pt x="0" y="2896235"/>
                    <a:pt x="0" y="2852928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66697" y="12771263"/>
            <a:ext cx="490738" cy="392525"/>
            <a:chOff x="0" y="0"/>
            <a:chExt cx="654317" cy="523367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" r="-1" b="-7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649960" y="12597698"/>
            <a:ext cx="1698206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Tip: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Look beyond job titles. Review the actual responsibilities and skills demonstrated in each role — titles vary widely across organisations and regions.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Experience Match Assessment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 this form to evaluate how well the candidate's experience aligns with the role requirements. Complete a separate assessment for each candidate reviewed.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4181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Role Benchmark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3027" y="6226550"/>
            <a:ext cx="8868489" cy="10048856"/>
            <a:chOff x="0" y="0"/>
            <a:chExt cx="11824652" cy="13398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24589" cy="13398500"/>
            </a:xfrm>
            <a:custGeom>
              <a:avLst/>
              <a:gdLst/>
              <a:ahLst/>
              <a:cxnLst/>
              <a:rect r="r" b="b" t="t" l="l"/>
              <a:pathLst>
                <a:path h="13398500" w="11824589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11745849" y="0"/>
                  </a:lnTo>
                  <a:cubicBezTo>
                    <a:pt x="11789283" y="0"/>
                    <a:pt x="11824589" y="35306"/>
                    <a:pt x="11824589" y="78740"/>
                  </a:cubicBezTo>
                  <a:lnTo>
                    <a:pt x="11824589" y="13319761"/>
                  </a:lnTo>
                  <a:cubicBezTo>
                    <a:pt x="11824589" y="13363195"/>
                    <a:pt x="11789283" y="13398500"/>
                    <a:pt x="11745849" y="13398500"/>
                  </a:cubicBezTo>
                  <a:lnTo>
                    <a:pt x="78740" y="13398500"/>
                  </a:lnTo>
                  <a:cubicBezTo>
                    <a:pt x="35306" y="13398500"/>
                    <a:pt x="0" y="13363195"/>
                    <a:pt x="0" y="1331976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380" t="0" r="-95381" b="0"/>
              </a:stretch>
            </a:blipFill>
            <a:ln w="2229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74181" y="7392619"/>
            <a:ext cx="8846201" cy="24536"/>
            <a:chOff x="0" y="0"/>
            <a:chExt cx="11794934" cy="32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4181" y="9164717"/>
            <a:ext cx="8846201" cy="24536"/>
            <a:chOff x="0" y="0"/>
            <a:chExt cx="11794934" cy="32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4181" y="10936815"/>
            <a:ext cx="8846201" cy="24536"/>
            <a:chOff x="0" y="0"/>
            <a:chExt cx="11794934" cy="327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4181" y="12708912"/>
            <a:ext cx="8846201" cy="24536"/>
            <a:chOff x="0" y="0"/>
            <a:chExt cx="11794934" cy="32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4181" y="14481010"/>
            <a:ext cx="8846201" cy="24536"/>
            <a:chOff x="0" y="0"/>
            <a:chExt cx="11794934" cy="327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88986" y="6401800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Field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89802" y="6401800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Detail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8986" y="7545581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Required Experience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89802" y="7545581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88986" y="9317679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Candidate Experience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89802" y="9317679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88986" y="11089777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Relevant Years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89802" y="11089777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88986" y="12861874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Relevant Industry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89802" y="12861874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88986" y="14633972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Key Responsibilities Match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89802" y="14633972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89313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Overall Experience Match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189313" y="6237694"/>
            <a:ext cx="4226843" cy="6189107"/>
            <a:chOff x="0" y="0"/>
            <a:chExt cx="5635790" cy="82521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35752" cy="8252079"/>
            </a:xfrm>
            <a:custGeom>
              <a:avLst/>
              <a:gdLst/>
              <a:ahLst/>
              <a:cxnLst/>
              <a:rect r="r" b="b" t="t" l="l"/>
              <a:pathLst>
                <a:path h="8252079" w="5635752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5557266" y="0"/>
                  </a:lnTo>
                  <a:cubicBezTo>
                    <a:pt x="5600573" y="0"/>
                    <a:pt x="5635752" y="35179"/>
                    <a:pt x="5635752" y="78486"/>
                  </a:cubicBezTo>
                  <a:lnTo>
                    <a:pt x="5635752" y="8173593"/>
                  </a:lnTo>
                  <a:cubicBezTo>
                    <a:pt x="5635752" y="8216900"/>
                    <a:pt x="5600573" y="8252079"/>
                    <a:pt x="5557266" y="8252079"/>
                  </a:cubicBezTo>
                  <a:lnTo>
                    <a:pt x="78486" y="8252079"/>
                  </a:lnTo>
                  <a:cubicBezTo>
                    <a:pt x="35179" y="8252079"/>
                    <a:pt x="0" y="8216900"/>
                    <a:pt x="0" y="817359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581838" y="6611169"/>
            <a:ext cx="3441792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□ Strong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81838" y="7531303"/>
            <a:ext cx="3441792" cy="387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Candidate experience closely mirrors the role requirements in scope, level, and industry.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808681" y="6237694"/>
            <a:ext cx="4226843" cy="6189107"/>
            <a:chOff x="0" y="0"/>
            <a:chExt cx="5635790" cy="82521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35752" cy="8252079"/>
            </a:xfrm>
            <a:custGeom>
              <a:avLst/>
              <a:gdLst/>
              <a:ahLst/>
              <a:cxnLst/>
              <a:rect r="r" b="b" t="t" l="l"/>
              <a:pathLst>
                <a:path h="8252079" w="5635752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5557266" y="0"/>
                  </a:lnTo>
                  <a:cubicBezTo>
                    <a:pt x="5600573" y="0"/>
                    <a:pt x="5635752" y="35179"/>
                    <a:pt x="5635752" y="78486"/>
                  </a:cubicBezTo>
                  <a:lnTo>
                    <a:pt x="5635752" y="8173593"/>
                  </a:lnTo>
                  <a:cubicBezTo>
                    <a:pt x="5635752" y="8216900"/>
                    <a:pt x="5600573" y="8252079"/>
                    <a:pt x="5557266" y="8252079"/>
                  </a:cubicBezTo>
                  <a:lnTo>
                    <a:pt x="78486" y="8252079"/>
                  </a:lnTo>
                  <a:cubicBezTo>
                    <a:pt x="35179" y="8252079"/>
                    <a:pt x="0" y="8216900"/>
                    <a:pt x="0" y="817359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6201206" y="6611169"/>
            <a:ext cx="3441792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□ Moderate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01206" y="7531303"/>
            <a:ext cx="3441792" cy="450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Candidate meets most requirements. Some gaps exist but may be addressed through onboarding or development.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189313" y="12819326"/>
            <a:ext cx="8846201" cy="3675850"/>
            <a:chOff x="0" y="0"/>
            <a:chExt cx="11794934" cy="490113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794871" cy="4901057"/>
            </a:xfrm>
            <a:custGeom>
              <a:avLst/>
              <a:gdLst/>
              <a:ahLst/>
              <a:cxnLst/>
              <a:rect r="r" b="b" t="t" l="l"/>
              <a:pathLst>
                <a:path h="4901057" w="11794871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1716385" y="0"/>
                  </a:lnTo>
                  <a:cubicBezTo>
                    <a:pt x="11759692" y="0"/>
                    <a:pt x="11794871" y="35179"/>
                    <a:pt x="11794871" y="78486"/>
                  </a:cubicBezTo>
                  <a:lnTo>
                    <a:pt x="11794871" y="4822571"/>
                  </a:lnTo>
                  <a:cubicBezTo>
                    <a:pt x="11794871" y="4865878"/>
                    <a:pt x="11759692" y="4901057"/>
                    <a:pt x="11716385" y="4901057"/>
                  </a:cubicBezTo>
                  <a:lnTo>
                    <a:pt x="78486" y="4901057"/>
                  </a:lnTo>
                  <a:cubicBezTo>
                    <a:pt x="35179" y="4901057"/>
                    <a:pt x="0" y="4865878"/>
                    <a:pt x="0" y="482257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581838" y="13192792"/>
            <a:ext cx="806116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□ Limited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81838" y="14112935"/>
            <a:ext cx="8061160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Significant gaps between candidate experience and role requirements. Clarification needed before proceeding.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44223" y="29402132"/>
            <a:ext cx="3033055" cy="724510"/>
            <a:chOff x="0" y="0"/>
            <a:chExt cx="4044074" cy="966013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4044061" cy="965962"/>
            </a:xfrm>
            <a:custGeom>
              <a:avLst/>
              <a:gdLst/>
              <a:ahLst/>
              <a:cxnLst/>
              <a:rect r="r" b="b" t="t" l="l"/>
              <a:pathLst>
                <a:path h="965962" w="4044061">
                  <a:moveTo>
                    <a:pt x="0" y="0"/>
                  </a:moveTo>
                  <a:lnTo>
                    <a:pt x="4044061" y="0"/>
                  </a:lnTo>
                  <a:lnTo>
                    <a:pt x="4044061" y="965962"/>
                  </a:lnTo>
                  <a:lnTo>
                    <a:pt x="0" y="965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Skills Match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Compare each required skill against the evidence provided in the candidate's CV or screening conversation. Record your assessment for every skill before forming an overall view. Add role-specific skills as needed.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63027" y="4779054"/>
            <a:ext cx="18672658" cy="8051063"/>
            <a:chOff x="0" y="0"/>
            <a:chExt cx="24896877" cy="10734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896826" cy="10734675"/>
            </a:xfrm>
            <a:custGeom>
              <a:avLst/>
              <a:gdLst/>
              <a:ahLst/>
              <a:cxnLst/>
              <a:rect r="r" b="b" t="t" l="l"/>
              <a:pathLst>
                <a:path h="10734675" w="24896826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24818087" y="0"/>
                  </a:lnTo>
                  <a:cubicBezTo>
                    <a:pt x="24861648" y="0"/>
                    <a:pt x="24896826" y="35306"/>
                    <a:pt x="24896826" y="78740"/>
                  </a:cubicBezTo>
                  <a:lnTo>
                    <a:pt x="24896826" y="10655935"/>
                  </a:lnTo>
                  <a:cubicBezTo>
                    <a:pt x="24896826" y="10699496"/>
                    <a:pt x="24861521" y="10734675"/>
                    <a:pt x="24818087" y="10734675"/>
                  </a:cubicBezTo>
                  <a:lnTo>
                    <a:pt x="78740" y="10734675"/>
                  </a:lnTo>
                  <a:cubicBezTo>
                    <a:pt x="35179" y="10734675"/>
                    <a:pt x="0" y="10699369"/>
                    <a:pt x="0" y="1065593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20" t="0" r="-5320" b="0"/>
              </a:stretch>
            </a:blipFill>
            <a:ln w="2229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4181" y="5945134"/>
            <a:ext cx="18650369" cy="24536"/>
            <a:chOff x="0" y="0"/>
            <a:chExt cx="24867159" cy="32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4181" y="7088915"/>
            <a:ext cx="18650369" cy="24536"/>
            <a:chOff x="0" y="0"/>
            <a:chExt cx="24867159" cy="32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4181" y="8232696"/>
            <a:ext cx="18650369" cy="24536"/>
            <a:chOff x="0" y="0"/>
            <a:chExt cx="24867159" cy="32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4181" y="9376477"/>
            <a:ext cx="18650369" cy="24536"/>
            <a:chOff x="0" y="0"/>
            <a:chExt cx="24867159" cy="327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4181" y="10520267"/>
            <a:ext cx="18650369" cy="24536"/>
            <a:chOff x="0" y="0"/>
            <a:chExt cx="24867159" cy="32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4181" y="11664048"/>
            <a:ext cx="18650369" cy="24536"/>
            <a:chOff x="0" y="0"/>
            <a:chExt cx="24867159" cy="327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99150" y="4790199"/>
            <a:ext cx="24536" cy="8028775"/>
            <a:chOff x="0" y="0"/>
            <a:chExt cx="32715" cy="107050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766" cy="10705084"/>
            </a:xfrm>
            <a:custGeom>
              <a:avLst/>
              <a:gdLst/>
              <a:ahLst/>
              <a:cxnLst/>
              <a:rect r="r" b="b" t="t" l="l"/>
              <a:pathLst>
                <a:path h="10705084" w="32766">
                  <a:moveTo>
                    <a:pt x="0" y="0"/>
                  </a:moveTo>
                  <a:lnTo>
                    <a:pt x="32766" y="0"/>
                  </a:lnTo>
                  <a:lnTo>
                    <a:pt x="32766" y="10705084"/>
                  </a:lnTo>
                  <a:lnTo>
                    <a:pt x="0" y="10705084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99744" y="4790199"/>
            <a:ext cx="24536" cy="8028775"/>
            <a:chOff x="0" y="0"/>
            <a:chExt cx="32715" cy="107050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766" cy="10705084"/>
            </a:xfrm>
            <a:custGeom>
              <a:avLst/>
              <a:gdLst/>
              <a:ahLst/>
              <a:cxnLst/>
              <a:rect r="r" b="b" t="t" l="l"/>
              <a:pathLst>
                <a:path h="10705084" w="32766">
                  <a:moveTo>
                    <a:pt x="0" y="0"/>
                  </a:moveTo>
                  <a:lnTo>
                    <a:pt x="32766" y="0"/>
                  </a:lnTo>
                  <a:lnTo>
                    <a:pt x="32766" y="10705084"/>
                  </a:lnTo>
                  <a:lnTo>
                    <a:pt x="0" y="10705084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98556" y="4812487"/>
            <a:ext cx="6200594" cy="1132637"/>
            <a:chOff x="0" y="0"/>
            <a:chExt cx="8267459" cy="15101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67446" cy="1510157"/>
            </a:xfrm>
            <a:custGeom>
              <a:avLst/>
              <a:gdLst/>
              <a:ahLst/>
              <a:cxnLst/>
              <a:rect r="r" b="b" t="t" l="l"/>
              <a:pathLst>
                <a:path h="1510157" w="8267446">
                  <a:moveTo>
                    <a:pt x="65405" y="0"/>
                  </a:moveTo>
                  <a:lnTo>
                    <a:pt x="8267446" y="0"/>
                  </a:lnTo>
                  <a:lnTo>
                    <a:pt x="8267446" y="1510157"/>
                  </a:lnTo>
                  <a:lnTo>
                    <a:pt x="0" y="1510157"/>
                  </a:lnTo>
                  <a:lnTo>
                    <a:pt x="0" y="65405"/>
                  </a:lnTo>
                  <a:cubicBezTo>
                    <a:pt x="0" y="29337"/>
                    <a:pt x="29337" y="0"/>
                    <a:pt x="65405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791081" y="495430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F5F5F5"/>
                </a:solidFill>
                <a:latin typeface="Heebo Bold"/>
                <a:ea typeface="Heebo Bold"/>
                <a:cs typeface="Heebo Bold"/>
                <a:sym typeface="Heebo Bold"/>
              </a:rPr>
              <a:t>Required Skill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599150" y="4812487"/>
            <a:ext cx="6200594" cy="1132637"/>
            <a:chOff x="0" y="0"/>
            <a:chExt cx="8267459" cy="15101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67446" cy="1510157"/>
            </a:xfrm>
            <a:custGeom>
              <a:avLst/>
              <a:gdLst/>
              <a:ahLst/>
              <a:cxnLst/>
              <a:rect r="r" b="b" t="t" l="l"/>
              <a:pathLst>
                <a:path h="1510157" w="8267446">
                  <a:moveTo>
                    <a:pt x="0" y="0"/>
                  </a:moveTo>
                  <a:lnTo>
                    <a:pt x="8267446" y="0"/>
                  </a:lnTo>
                  <a:lnTo>
                    <a:pt x="8267446" y="1510157"/>
                  </a:lnTo>
                  <a:lnTo>
                    <a:pt x="0" y="1510157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8002819" y="4954305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F5F5F5"/>
                </a:solidFill>
                <a:latin typeface="Heebo Bold"/>
                <a:ea typeface="Heebo Bold"/>
                <a:cs typeface="Heebo Bold"/>
                <a:sym typeface="Heebo Bold"/>
              </a:rPr>
              <a:t>Candidate Evidence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799744" y="4812487"/>
            <a:ext cx="6200594" cy="1132637"/>
            <a:chOff x="0" y="0"/>
            <a:chExt cx="8267459" cy="15101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67447" cy="1510157"/>
            </a:xfrm>
            <a:custGeom>
              <a:avLst/>
              <a:gdLst/>
              <a:ahLst/>
              <a:cxnLst/>
              <a:rect r="r" b="b" t="t" l="l"/>
              <a:pathLst>
                <a:path h="1510157" w="8267447">
                  <a:moveTo>
                    <a:pt x="0" y="0"/>
                  </a:moveTo>
                  <a:lnTo>
                    <a:pt x="8202041" y="0"/>
                  </a:lnTo>
                  <a:cubicBezTo>
                    <a:pt x="8238236" y="0"/>
                    <a:pt x="8267447" y="29337"/>
                    <a:pt x="8267447" y="65405"/>
                  </a:cubicBezTo>
                  <a:lnTo>
                    <a:pt x="8267447" y="1510157"/>
                  </a:lnTo>
                  <a:lnTo>
                    <a:pt x="0" y="1510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203413" y="495430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F5F5F5"/>
                </a:solidFill>
                <a:latin typeface="Heebo Bold"/>
                <a:ea typeface="Heebo Bold"/>
                <a:cs typeface="Heebo Bold"/>
                <a:sym typeface="Heebo Bold"/>
              </a:rPr>
              <a:t>Match Level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91081" y="609809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Technical Skill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02819" y="6098095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03413" y="609809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91081" y="7241867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Technical Skill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02819" y="7241867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03413" y="7241867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91081" y="8385658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Communication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02819" y="8385658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03413" y="8385658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91081" y="9529439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Industry Knowledge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002819" y="9529439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03413" y="9529439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91081" y="10673220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Other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002819" y="10673220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03413" y="10673220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91081" y="11817010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Other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002819" y="11817010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203413" y="11817010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4181" y="13634075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Overall Skills Match Notes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4181" y="14554210"/>
            <a:ext cx="8846201" cy="26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_______________________________________________________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_______________________________________________________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189313" y="13702236"/>
            <a:ext cx="8846201" cy="3416027"/>
            <a:chOff x="0" y="0"/>
            <a:chExt cx="11794934" cy="45547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794871" cy="4554601"/>
            </a:xfrm>
            <a:custGeom>
              <a:avLst/>
              <a:gdLst/>
              <a:ahLst/>
              <a:cxnLst/>
              <a:rect r="r" b="b" t="t" l="l"/>
              <a:pathLst>
                <a:path h="4554601" w="11794871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1716385" y="0"/>
                  </a:lnTo>
                  <a:cubicBezTo>
                    <a:pt x="11759692" y="0"/>
                    <a:pt x="11794871" y="35179"/>
                    <a:pt x="11794871" y="78486"/>
                  </a:cubicBezTo>
                  <a:lnTo>
                    <a:pt x="11794871" y="4476115"/>
                  </a:lnTo>
                  <a:cubicBezTo>
                    <a:pt x="11794871" y="4519422"/>
                    <a:pt x="11759692" y="4554601"/>
                    <a:pt x="11716385" y="4554601"/>
                  </a:cubicBezTo>
                  <a:lnTo>
                    <a:pt x="78486" y="4554601"/>
                  </a:lnTo>
                  <a:cubicBezTo>
                    <a:pt x="35179" y="4554601"/>
                    <a:pt x="0" y="4519422"/>
                    <a:pt x="0" y="4476115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581838" y="14283880"/>
            <a:ext cx="490738" cy="392525"/>
            <a:chOff x="0" y="0"/>
            <a:chExt cx="654317" cy="523367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" r="-1" b="-7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2465101" y="14048842"/>
            <a:ext cx="7177897" cy="26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A </a:t>
            </a: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Partial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match on a preferred skill should not disqualify a candidate. A </a:t>
            </a: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No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match on an essential skill requires discussion before proceeding.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44223" y="29402132"/>
            <a:ext cx="3033055" cy="724510"/>
            <a:chOff x="0" y="0"/>
            <a:chExt cx="4044074" cy="966013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4044061" cy="965962"/>
            </a:xfrm>
            <a:custGeom>
              <a:avLst/>
              <a:gdLst/>
              <a:ahLst/>
              <a:cxnLst/>
              <a:rect r="r" b="b" t="t" l="l"/>
              <a:pathLst>
                <a:path h="965962" w="4044061">
                  <a:moveTo>
                    <a:pt x="0" y="0"/>
                  </a:moveTo>
                  <a:lnTo>
                    <a:pt x="4044061" y="0"/>
                  </a:lnTo>
                  <a:lnTo>
                    <a:pt x="4044061" y="965962"/>
                  </a:lnTo>
                  <a:lnTo>
                    <a:pt x="0" y="965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Qualifications &amp; Certifications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Verify that the candidate holds the qualifications required for the role. Only assess qualifications that are genuinely relevant to the position's responsibilities and legal requirements.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4181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Qualifications Checklist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63027" y="6226550"/>
            <a:ext cx="8868489" cy="15590834"/>
            <a:chOff x="0" y="0"/>
            <a:chExt cx="11824652" cy="207877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24589" cy="20787740"/>
            </a:xfrm>
            <a:custGeom>
              <a:avLst/>
              <a:gdLst/>
              <a:ahLst/>
              <a:cxnLst/>
              <a:rect r="r" b="b" t="t" l="l"/>
              <a:pathLst>
                <a:path h="20787740" w="11824589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11745849" y="0"/>
                  </a:lnTo>
                  <a:cubicBezTo>
                    <a:pt x="11789283" y="0"/>
                    <a:pt x="11824589" y="35306"/>
                    <a:pt x="11824589" y="78740"/>
                  </a:cubicBezTo>
                  <a:lnTo>
                    <a:pt x="11824589" y="20709001"/>
                  </a:lnTo>
                  <a:cubicBezTo>
                    <a:pt x="11824589" y="20752436"/>
                    <a:pt x="11789283" y="20787740"/>
                    <a:pt x="11745849" y="20787740"/>
                  </a:cubicBezTo>
                  <a:lnTo>
                    <a:pt x="78740" y="20787740"/>
                  </a:lnTo>
                  <a:cubicBezTo>
                    <a:pt x="35306" y="20787740"/>
                    <a:pt x="0" y="20752436"/>
                    <a:pt x="0" y="20709001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75559" t="0" r="-175559" b="0"/>
              </a:stretch>
            </a:blipFill>
            <a:ln w="2229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4181" y="8020936"/>
            <a:ext cx="8846201" cy="24536"/>
            <a:chOff x="0" y="0"/>
            <a:chExt cx="11794934" cy="32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4181" y="9793034"/>
            <a:ext cx="8846201" cy="24536"/>
            <a:chOff x="0" y="0"/>
            <a:chExt cx="11794934" cy="327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4181" y="11565131"/>
            <a:ext cx="8846201" cy="24536"/>
            <a:chOff x="0" y="0"/>
            <a:chExt cx="11794934" cy="32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4181" y="13965545"/>
            <a:ext cx="8846201" cy="24536"/>
            <a:chOff x="0" y="0"/>
            <a:chExt cx="11794934" cy="327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4181" y="16365960"/>
            <a:ext cx="8846201" cy="24536"/>
            <a:chOff x="0" y="0"/>
            <a:chExt cx="11794934" cy="327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74181" y="18766365"/>
            <a:ext cx="8846201" cy="24536"/>
            <a:chOff x="0" y="0"/>
            <a:chExt cx="11794934" cy="327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90205" y="6401800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Requirement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23324" y="6401800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Verified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56443" y="6401800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Notes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90205" y="8173898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Required education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23324" y="8173898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56443" y="8173898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90205" y="9945995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Required certification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23324" y="9945995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56443" y="9945995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90205" y="11718093"/>
            <a:ext cx="2148078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Relevant professional training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23324" y="11718093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No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56443" y="11718093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90205" y="14118507"/>
            <a:ext cx="2148078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Required licence (if applicable)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23324" y="14118507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No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56443" y="14118507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90205" y="16518912"/>
            <a:ext cx="2148078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Language requirements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23324" y="16518912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No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56443" y="16518912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90205" y="18919327"/>
            <a:ext cx="2148078" cy="26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Other role-specific qualifications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723324" y="18919327"/>
            <a:ext cx="2148078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No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56443" y="18919327"/>
            <a:ext cx="3218021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89313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Guiding Principle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89313" y="6083808"/>
            <a:ext cx="8846201" cy="548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Only include qualifications that are genuinely relevant to the position. Do not screen candidates based on educational institution prestige unless it is directly relevant to the role requirements.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Where a qualification cannot be verified from the CV alone, note it as a point to confirm during the screening call — do not disqualify the candidate prematurely.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189313" y="12010072"/>
            <a:ext cx="8846201" cy="4044344"/>
            <a:chOff x="0" y="0"/>
            <a:chExt cx="11794934" cy="539245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94871" cy="5392420"/>
            </a:xfrm>
            <a:custGeom>
              <a:avLst/>
              <a:gdLst/>
              <a:ahLst/>
              <a:cxnLst/>
              <a:rect r="r" b="b" t="t" l="l"/>
              <a:pathLst>
                <a:path h="5392420" w="11794871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1716385" y="0"/>
                  </a:lnTo>
                  <a:cubicBezTo>
                    <a:pt x="11759692" y="0"/>
                    <a:pt x="11794871" y="35179"/>
                    <a:pt x="11794871" y="78486"/>
                  </a:cubicBezTo>
                  <a:lnTo>
                    <a:pt x="11794871" y="5313934"/>
                  </a:lnTo>
                  <a:cubicBezTo>
                    <a:pt x="11794871" y="5357241"/>
                    <a:pt x="11759692" y="5392420"/>
                    <a:pt x="11716385" y="5392420"/>
                  </a:cubicBezTo>
                  <a:lnTo>
                    <a:pt x="78486" y="5392420"/>
                  </a:lnTo>
                  <a:cubicBezTo>
                    <a:pt x="35179" y="5392420"/>
                    <a:pt x="0" y="5357241"/>
                    <a:pt x="0" y="5313934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581838" y="12591717"/>
            <a:ext cx="490738" cy="392525"/>
            <a:chOff x="0" y="0"/>
            <a:chExt cx="654317" cy="523367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" r="-1" b="-7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465101" y="12356678"/>
            <a:ext cx="7177897" cy="324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Never use qualifications as a proxy for characteristics such as socioeconomic background, nationality, or age. Evaluate the qualification itself, not what it implies about the person.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Initial Screening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 these questions during the screening call to clarify candidate fit and gather information that the CV cannot fully provide. Keep all questions professional and job-related.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4181" y="4790199"/>
            <a:ext cx="883434" cy="883434"/>
            <a:chOff x="0" y="0"/>
            <a:chExt cx="1177912" cy="1177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1323" y="4863779"/>
            <a:ext cx="588959" cy="736111"/>
            <a:chOff x="0" y="0"/>
            <a:chExt cx="785279" cy="981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50131" y="4906118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Current Role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0131" y="5669166"/>
            <a:ext cx="1737441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 you briefly describe your current or most recent role?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4181" y="7187479"/>
            <a:ext cx="883434" cy="883434"/>
            <a:chOff x="0" y="0"/>
            <a:chExt cx="1177912" cy="1177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1323" y="7261050"/>
            <a:ext cx="588959" cy="736111"/>
            <a:chOff x="0" y="0"/>
            <a:chExt cx="785279" cy="9814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50131" y="7303389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Relevant Experience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50131" y="8066446"/>
            <a:ext cx="1737441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experience do you have that is most relevant to this position?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4181" y="9584760"/>
            <a:ext cx="883434" cy="883434"/>
            <a:chOff x="0" y="0"/>
            <a:chExt cx="1177912" cy="1177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21323" y="9658331"/>
            <a:ext cx="588959" cy="736111"/>
            <a:chOff x="0" y="0"/>
            <a:chExt cx="785279" cy="9814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650131" y="9700670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Motivation for Change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50131" y="10463727"/>
            <a:ext cx="1737441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are you considering a new opportunity at this time?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74181" y="11982031"/>
            <a:ext cx="883434" cy="883434"/>
            <a:chOff x="0" y="0"/>
            <a:chExt cx="1177912" cy="1177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21323" y="12055612"/>
            <a:ext cx="588959" cy="736111"/>
            <a:chOff x="0" y="0"/>
            <a:chExt cx="785279" cy="9814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650131" y="12097950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Key Skills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50131" y="12861007"/>
            <a:ext cx="1737441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are your key skills as they relate to this role?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74181" y="14379311"/>
            <a:ext cx="883434" cy="883434"/>
            <a:chOff x="0" y="0"/>
            <a:chExt cx="1177912" cy="1177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21323" y="14452892"/>
            <a:ext cx="588959" cy="736111"/>
            <a:chOff x="0" y="0"/>
            <a:chExt cx="785279" cy="9814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5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650131" y="14495221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Location &amp; Availability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50131" y="15258278"/>
            <a:ext cx="1737441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your current location, availability, and notice period? Are you comfortable with the required work location or arrangement?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74181" y="17404909"/>
            <a:ext cx="883434" cy="883434"/>
            <a:chOff x="0" y="0"/>
            <a:chExt cx="1177912" cy="1177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21323" y="17478480"/>
            <a:ext cx="588959" cy="736111"/>
            <a:chOff x="0" y="0"/>
            <a:chExt cx="785279" cy="98148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6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650131" y="17520818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Salary Expectations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50131" y="18283876"/>
            <a:ext cx="1737441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are your salary expectations for this role?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74181" y="19802180"/>
            <a:ext cx="883434" cy="883434"/>
            <a:chOff x="0" y="0"/>
            <a:chExt cx="1177912" cy="1177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7925" cy="1177925"/>
            </a:xfrm>
            <a:custGeom>
              <a:avLst/>
              <a:gdLst/>
              <a:ahLst/>
              <a:cxnLst/>
              <a:rect r="r" b="b" t="t" l="l"/>
              <a:pathLst>
                <a:path h="1177925" w="1177925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099439" y="0"/>
                  </a:lnTo>
                  <a:cubicBezTo>
                    <a:pt x="1142873" y="0"/>
                    <a:pt x="1177925" y="35179"/>
                    <a:pt x="1177925" y="78486"/>
                  </a:cubicBezTo>
                  <a:lnTo>
                    <a:pt x="1177925" y="1099439"/>
                  </a:lnTo>
                  <a:cubicBezTo>
                    <a:pt x="1177925" y="1142873"/>
                    <a:pt x="1142746" y="1177925"/>
                    <a:pt x="1099439" y="1177925"/>
                  </a:cubicBezTo>
                  <a:lnTo>
                    <a:pt x="78486" y="1177925"/>
                  </a:lnTo>
                  <a:cubicBezTo>
                    <a:pt x="35179" y="1177925"/>
                    <a:pt x="0" y="1142746"/>
                    <a:pt x="0" y="109943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21323" y="19875760"/>
            <a:ext cx="588959" cy="736111"/>
            <a:chOff x="0" y="0"/>
            <a:chExt cx="785279" cy="9814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5277" cy="981482"/>
            </a:xfrm>
            <a:custGeom>
              <a:avLst/>
              <a:gdLst/>
              <a:ahLst/>
              <a:cxnLst/>
              <a:rect r="r" b="b" t="t" l="l"/>
              <a:pathLst>
                <a:path h="981482" w="785277">
                  <a:moveTo>
                    <a:pt x="0" y="0"/>
                  </a:moveTo>
                  <a:lnTo>
                    <a:pt x="785277" y="0"/>
                  </a:lnTo>
                  <a:lnTo>
                    <a:pt x="785277" y="981482"/>
                  </a:lnTo>
                  <a:lnTo>
                    <a:pt x="0" y="981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0" t="0" r="-11036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785279" cy="9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33"/>
                </a:lnSpc>
              </a:pPr>
              <a:r>
                <a:rPr lang="en-US" sz="45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7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650131" y="19918099"/>
            <a:ext cx="17374419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Candidate Questions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650131" y="20681147"/>
            <a:ext cx="1737441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 you have any questions about the position or organisation?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74181" y="21855874"/>
            <a:ext cx="18650369" cy="2198580"/>
            <a:chOff x="0" y="0"/>
            <a:chExt cx="24867159" cy="293143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867108" cy="2931414"/>
            </a:xfrm>
            <a:custGeom>
              <a:avLst/>
              <a:gdLst/>
              <a:ahLst/>
              <a:cxnLst/>
              <a:rect r="r" b="b" t="t" l="l"/>
              <a:pathLst>
                <a:path h="2931414" w="24867108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24788622" y="0"/>
                  </a:lnTo>
                  <a:cubicBezTo>
                    <a:pt x="24832056" y="0"/>
                    <a:pt x="24867108" y="35179"/>
                    <a:pt x="24867108" y="78486"/>
                  </a:cubicBezTo>
                  <a:lnTo>
                    <a:pt x="24867108" y="2852928"/>
                  </a:lnTo>
                  <a:cubicBezTo>
                    <a:pt x="24867108" y="2896362"/>
                    <a:pt x="24831929" y="2931414"/>
                    <a:pt x="24788622" y="2931414"/>
                  </a:cubicBezTo>
                  <a:lnTo>
                    <a:pt x="78486" y="2931414"/>
                  </a:lnTo>
                  <a:cubicBezTo>
                    <a:pt x="35052" y="2931414"/>
                    <a:pt x="0" y="2896235"/>
                    <a:pt x="0" y="2852928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766697" y="22415230"/>
            <a:ext cx="490738" cy="392525"/>
            <a:chOff x="0" y="0"/>
            <a:chExt cx="654317" cy="523367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" r="-1" b="-7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2649960" y="22241666"/>
            <a:ext cx="1698206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Focus on role requirements, not personal circumstances. Questions must relate directly to the ability to perform the job.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Motivation &amp; Availability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Understanding why a candidate is interested in the opportunity — and confirming the practical details — helps ensure the right fit for both parties before progressing to interview.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4181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Motivation Assessment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3027" y="6226550"/>
            <a:ext cx="8868489" cy="7761284"/>
            <a:chOff x="0" y="0"/>
            <a:chExt cx="11824652" cy="10348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24589" cy="10348341"/>
            </a:xfrm>
            <a:custGeom>
              <a:avLst/>
              <a:gdLst/>
              <a:ahLst/>
              <a:cxnLst/>
              <a:rect r="r" b="b" t="t" l="l"/>
              <a:pathLst>
                <a:path h="10348341" w="11824589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11745849" y="0"/>
                  </a:lnTo>
                  <a:cubicBezTo>
                    <a:pt x="11789283" y="0"/>
                    <a:pt x="11824589" y="35306"/>
                    <a:pt x="11824589" y="78740"/>
                  </a:cubicBezTo>
                  <a:lnTo>
                    <a:pt x="11824589" y="10269601"/>
                  </a:lnTo>
                  <a:cubicBezTo>
                    <a:pt x="11824589" y="10313035"/>
                    <a:pt x="11789283" y="10348341"/>
                    <a:pt x="11745849" y="10348341"/>
                  </a:cubicBezTo>
                  <a:lnTo>
                    <a:pt x="78740" y="10348341"/>
                  </a:lnTo>
                  <a:cubicBezTo>
                    <a:pt x="35306" y="10348341"/>
                    <a:pt x="0" y="10313035"/>
                    <a:pt x="0" y="1026960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85" t="0" r="-62286" b="0"/>
              </a:stretch>
            </a:blipFill>
            <a:ln w="2229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74181" y="7392619"/>
            <a:ext cx="8846201" cy="24536"/>
            <a:chOff x="0" y="0"/>
            <a:chExt cx="11794934" cy="32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4181" y="9793034"/>
            <a:ext cx="8846201" cy="24536"/>
            <a:chOff x="0" y="0"/>
            <a:chExt cx="11794934" cy="32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4181" y="11565131"/>
            <a:ext cx="8846201" cy="24536"/>
            <a:chOff x="0" y="0"/>
            <a:chExt cx="11794934" cy="327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94998" cy="32766"/>
            </a:xfrm>
            <a:custGeom>
              <a:avLst/>
              <a:gdLst/>
              <a:ahLst/>
              <a:cxnLst/>
              <a:rect r="r" b="b" t="t" l="l"/>
              <a:pathLst>
                <a:path h="32766" w="11794998">
                  <a:moveTo>
                    <a:pt x="0" y="0"/>
                  </a:moveTo>
                  <a:lnTo>
                    <a:pt x="11794998" y="0"/>
                  </a:lnTo>
                  <a:lnTo>
                    <a:pt x="1179499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88986" y="6401800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Question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89802" y="6401800"/>
            <a:ext cx="4685709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Response / Notes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8986" y="7545581"/>
            <a:ext cx="3615766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is the candidate interested in this role?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89802" y="7545581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88986" y="9945995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attracts them to the company?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89802" y="9945995"/>
            <a:ext cx="3615766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8986" y="11718093"/>
            <a:ext cx="3615766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Career goal alignment with the role?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89802" y="11718093"/>
            <a:ext cx="3615766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Strongly aligned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Partially aligned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Not clear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89313" y="5163674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Availability &amp; Logistics Checklist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89313" y="6083808"/>
            <a:ext cx="8846201" cy="513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Current location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Target work location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Availability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Notice period confirmed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Work arrangement understood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Relocation discussed if relevant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Work authorisation / visa status discussed where relevant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189313" y="11656733"/>
            <a:ext cx="8846201" cy="3416027"/>
            <a:chOff x="0" y="0"/>
            <a:chExt cx="11794934" cy="45547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94871" cy="4554601"/>
            </a:xfrm>
            <a:custGeom>
              <a:avLst/>
              <a:gdLst/>
              <a:ahLst/>
              <a:cxnLst/>
              <a:rect r="r" b="b" t="t" l="l"/>
              <a:pathLst>
                <a:path h="4554601" w="11794871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1716385" y="0"/>
                  </a:lnTo>
                  <a:cubicBezTo>
                    <a:pt x="11759692" y="0"/>
                    <a:pt x="11794871" y="35179"/>
                    <a:pt x="11794871" y="78486"/>
                  </a:cubicBezTo>
                  <a:lnTo>
                    <a:pt x="11794871" y="4476115"/>
                  </a:lnTo>
                  <a:cubicBezTo>
                    <a:pt x="11794871" y="4519422"/>
                    <a:pt x="11759692" y="4554601"/>
                    <a:pt x="11716385" y="4554601"/>
                  </a:cubicBezTo>
                  <a:lnTo>
                    <a:pt x="78486" y="4554601"/>
                  </a:lnTo>
                  <a:cubicBezTo>
                    <a:pt x="35179" y="4554601"/>
                    <a:pt x="0" y="4519422"/>
                    <a:pt x="0" y="4476115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81838" y="12238377"/>
            <a:ext cx="490738" cy="392525"/>
            <a:chOff x="0" y="0"/>
            <a:chExt cx="654317" cy="523367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" r="-1" b="-7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65101" y="12003338"/>
            <a:ext cx="7177897" cy="26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Note: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Verify current local requirements when work authorisation or immigration matters are relevant. Ensure compliance with local employment regulations.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Areas to Clarify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items below are prompts for clarification during the screening conversation — not automatic reasons for rejection. Many apparent gaps have reasonable explanations that emerge when you ask directly.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374181" y="4790199"/>
            <a:ext cx="18650369" cy="2979620"/>
          </a:xfrm>
          <a:custGeom>
            <a:avLst/>
            <a:gdLst/>
            <a:ahLst/>
            <a:cxnLst/>
            <a:rect r="r" b="b" t="t" l="l"/>
            <a:pathLst>
              <a:path h="2979620" w="18650369">
                <a:moveTo>
                  <a:pt x="0" y="0"/>
                </a:moveTo>
                <a:lnTo>
                  <a:pt x="18650369" y="0"/>
                </a:lnTo>
                <a:lnTo>
                  <a:pt x="18650369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1909496" y="5985358"/>
            <a:ext cx="588959" cy="588959"/>
          </a:xfrm>
          <a:custGeom>
            <a:avLst/>
            <a:gdLst/>
            <a:ahLst/>
            <a:cxnLst/>
            <a:rect r="r" b="b" t="t" l="l"/>
            <a:pathLst>
              <a:path h="588959" w="588959">
                <a:moveTo>
                  <a:pt x="0" y="0"/>
                </a:moveTo>
                <a:lnTo>
                  <a:pt x="588959" y="0"/>
                </a:lnTo>
                <a:lnTo>
                  <a:pt x="588959" y="588959"/>
                </a:lnTo>
                <a:lnTo>
                  <a:pt x="0" y="5889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419" r="0" b="-241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81718" y="5208260"/>
            <a:ext cx="1620573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Employment Gaps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81718" y="5971308"/>
            <a:ext cx="1620573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Gap identified on CV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Ask: Can you tell me about your activity during this period?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374181" y="8162344"/>
            <a:ext cx="18650369" cy="2979620"/>
          </a:xfrm>
          <a:custGeom>
            <a:avLst/>
            <a:gdLst/>
            <a:ahLst/>
            <a:cxnLst/>
            <a:rect r="r" b="b" t="t" l="l"/>
            <a:pathLst>
              <a:path h="2979620" w="18650369">
                <a:moveTo>
                  <a:pt x="0" y="0"/>
                </a:moveTo>
                <a:lnTo>
                  <a:pt x="18650369" y="0"/>
                </a:lnTo>
                <a:lnTo>
                  <a:pt x="18650369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1909496" y="9357493"/>
            <a:ext cx="588959" cy="588959"/>
          </a:xfrm>
          <a:custGeom>
            <a:avLst/>
            <a:gdLst/>
            <a:ahLst/>
            <a:cxnLst/>
            <a:rect r="r" b="b" t="t" l="l"/>
            <a:pathLst>
              <a:path h="588959" w="588959">
                <a:moveTo>
                  <a:pt x="0" y="0"/>
                </a:moveTo>
                <a:lnTo>
                  <a:pt x="588959" y="0"/>
                </a:lnTo>
                <a:lnTo>
                  <a:pt x="588959" y="588960"/>
                </a:lnTo>
                <a:lnTo>
                  <a:pt x="0" y="588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07" r="0" b="-80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81718" y="8580396"/>
            <a:ext cx="1620573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Unclear Responsibilities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81718" y="9343453"/>
            <a:ext cx="1620573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Role scope not clear from CV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Ask: Can you describe your key responsibilities in that role?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374181" y="11534480"/>
            <a:ext cx="18650369" cy="2979620"/>
          </a:xfrm>
          <a:custGeom>
            <a:avLst/>
            <a:gdLst/>
            <a:ahLst/>
            <a:cxnLst/>
            <a:rect r="r" b="b" t="t" l="l"/>
            <a:pathLst>
              <a:path h="2979620" w="18650369">
                <a:moveTo>
                  <a:pt x="0" y="0"/>
                </a:moveTo>
                <a:lnTo>
                  <a:pt x="18650369" y="0"/>
                </a:lnTo>
                <a:lnTo>
                  <a:pt x="18650369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1909496" y="12729639"/>
            <a:ext cx="588959" cy="588959"/>
          </a:xfrm>
          <a:custGeom>
            <a:avLst/>
            <a:gdLst/>
            <a:ahLst/>
            <a:cxnLst/>
            <a:rect r="r" b="b" t="t" l="l"/>
            <a:pathLst>
              <a:path h="588959" w="588959">
                <a:moveTo>
                  <a:pt x="0" y="0"/>
                </a:moveTo>
                <a:lnTo>
                  <a:pt x="588959" y="0"/>
                </a:lnTo>
                <a:lnTo>
                  <a:pt x="588959" y="588959"/>
                </a:lnTo>
                <a:lnTo>
                  <a:pt x="0" y="5889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065" r="0" b="-806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81718" y="11952542"/>
            <a:ext cx="1620573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Missing Required Skill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81718" y="12715589"/>
            <a:ext cx="1620573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Required skill not evidenced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Ask: Do you have any experience with [skill]?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374181" y="14906625"/>
            <a:ext cx="18650369" cy="2979620"/>
          </a:xfrm>
          <a:custGeom>
            <a:avLst/>
            <a:gdLst/>
            <a:ahLst/>
            <a:cxnLst/>
            <a:rect r="r" b="b" t="t" l="l"/>
            <a:pathLst>
              <a:path h="2979620" w="18650369">
                <a:moveTo>
                  <a:pt x="0" y="0"/>
                </a:moveTo>
                <a:lnTo>
                  <a:pt x="18650369" y="0"/>
                </a:lnTo>
                <a:lnTo>
                  <a:pt x="18650369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21" id="21" descr="preencoded.png"/>
          <p:cNvSpPr/>
          <p:nvPr/>
        </p:nvSpPr>
        <p:spPr>
          <a:xfrm flipH="false" flipV="false" rot="0">
            <a:off x="1909496" y="16101774"/>
            <a:ext cx="588959" cy="588959"/>
          </a:xfrm>
          <a:custGeom>
            <a:avLst/>
            <a:gdLst/>
            <a:ahLst/>
            <a:cxnLst/>
            <a:rect r="r" b="b" t="t" l="l"/>
            <a:pathLst>
              <a:path h="588959" w="588959">
                <a:moveTo>
                  <a:pt x="0" y="0"/>
                </a:moveTo>
                <a:lnTo>
                  <a:pt x="588959" y="0"/>
                </a:lnTo>
                <a:lnTo>
                  <a:pt x="588959" y="588960"/>
                </a:lnTo>
                <a:lnTo>
                  <a:pt x="0" y="588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645" t="0" r="-5644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381718" y="15324677"/>
            <a:ext cx="1620573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Inconsistent Information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81718" y="16087735"/>
            <a:ext cx="1620573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Dates or details conflict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Ask: Can you clarify the timeline of your experience at [company]?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1374181" y="18278761"/>
            <a:ext cx="18650369" cy="2979620"/>
          </a:xfrm>
          <a:custGeom>
            <a:avLst/>
            <a:gdLst/>
            <a:ahLst/>
            <a:cxnLst/>
            <a:rect r="r" b="b" t="t" l="l"/>
            <a:pathLst>
              <a:path h="2979620" w="18650369">
                <a:moveTo>
                  <a:pt x="0" y="0"/>
                </a:moveTo>
                <a:lnTo>
                  <a:pt x="18650369" y="0"/>
                </a:lnTo>
                <a:lnTo>
                  <a:pt x="18650369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25" id="25" descr="preencoded.png"/>
          <p:cNvSpPr/>
          <p:nvPr/>
        </p:nvSpPr>
        <p:spPr>
          <a:xfrm flipH="false" flipV="false" rot="0">
            <a:off x="1909496" y="19473920"/>
            <a:ext cx="588959" cy="588959"/>
          </a:xfrm>
          <a:custGeom>
            <a:avLst/>
            <a:gdLst/>
            <a:ahLst/>
            <a:cxnLst/>
            <a:rect r="r" b="b" t="t" l="l"/>
            <a:pathLst>
              <a:path h="588959" w="588959">
                <a:moveTo>
                  <a:pt x="0" y="0"/>
                </a:moveTo>
                <a:lnTo>
                  <a:pt x="588959" y="0"/>
                </a:lnTo>
                <a:lnTo>
                  <a:pt x="588959" y="588959"/>
                </a:lnTo>
                <a:lnTo>
                  <a:pt x="0" y="5889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07" t="0" r="-805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381718" y="18696813"/>
            <a:ext cx="1620573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Unclear Availability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81718" y="19459870"/>
            <a:ext cx="1620573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Start date or notice period unclear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Ask: What is your current notice period / earliest available start date?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1374181" y="21650906"/>
            <a:ext cx="18650369" cy="2979620"/>
          </a:xfrm>
          <a:custGeom>
            <a:avLst/>
            <a:gdLst/>
            <a:ahLst/>
            <a:cxnLst/>
            <a:rect r="r" b="b" t="t" l="l"/>
            <a:pathLst>
              <a:path h="2979620" w="18650369">
                <a:moveTo>
                  <a:pt x="0" y="0"/>
                </a:moveTo>
                <a:lnTo>
                  <a:pt x="18650369" y="0"/>
                </a:lnTo>
                <a:lnTo>
                  <a:pt x="18650369" y="2979620"/>
                </a:lnTo>
                <a:lnTo>
                  <a:pt x="0" y="297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29" id="29" descr="preencoded.png"/>
          <p:cNvSpPr/>
          <p:nvPr/>
        </p:nvSpPr>
        <p:spPr>
          <a:xfrm flipH="false" flipV="false" rot="0">
            <a:off x="1909496" y="22846055"/>
            <a:ext cx="588959" cy="588959"/>
          </a:xfrm>
          <a:custGeom>
            <a:avLst/>
            <a:gdLst/>
            <a:ahLst/>
            <a:cxnLst/>
            <a:rect r="r" b="b" t="t" l="l"/>
            <a:pathLst>
              <a:path h="588959" w="588959">
                <a:moveTo>
                  <a:pt x="0" y="0"/>
                </a:moveTo>
                <a:lnTo>
                  <a:pt x="588959" y="0"/>
                </a:lnTo>
                <a:lnTo>
                  <a:pt x="588959" y="588960"/>
                </a:lnTo>
                <a:lnTo>
                  <a:pt x="0" y="5889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6935" t="0" r="-16934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381718" y="22068958"/>
            <a:ext cx="16205730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Qualification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81718" y="22832016"/>
            <a:ext cx="16205730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Qualification listed but unverified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Ask: Are you able to provide documentation for [qualification]?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74181" y="25072153"/>
            <a:ext cx="18650369" cy="2826896"/>
            <a:chOff x="0" y="0"/>
            <a:chExt cx="24867159" cy="37691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867108" cy="3769106"/>
            </a:xfrm>
            <a:custGeom>
              <a:avLst/>
              <a:gdLst/>
              <a:ahLst/>
              <a:cxnLst/>
              <a:rect r="r" b="b" t="t" l="l"/>
              <a:pathLst>
                <a:path h="3769106" w="24867108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24788622" y="0"/>
                  </a:lnTo>
                  <a:cubicBezTo>
                    <a:pt x="24831929" y="0"/>
                    <a:pt x="24867108" y="35179"/>
                    <a:pt x="24867108" y="78486"/>
                  </a:cubicBezTo>
                  <a:lnTo>
                    <a:pt x="24867108" y="3690620"/>
                  </a:lnTo>
                  <a:cubicBezTo>
                    <a:pt x="24867108" y="3733927"/>
                    <a:pt x="24831929" y="3769106"/>
                    <a:pt x="24788622" y="3769106"/>
                  </a:cubicBezTo>
                  <a:lnTo>
                    <a:pt x="78486" y="3769106"/>
                  </a:lnTo>
                  <a:cubicBezTo>
                    <a:pt x="35179" y="3769106"/>
                    <a:pt x="0" y="3733927"/>
                    <a:pt x="0" y="3690620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66697" y="25631508"/>
            <a:ext cx="490738" cy="392525"/>
            <a:chOff x="0" y="0"/>
            <a:chExt cx="654317" cy="523367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9" r="-1" b="-7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649960" y="25457944"/>
            <a:ext cx="16982065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Principle: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Do </a:t>
            </a: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not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label candidates negatively based on assumptions. Use these points as questions to clarify during the screening conversation. A principled recruiter investigates before concluding.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398722" cy="30248257"/>
            <a:chOff x="0" y="0"/>
            <a:chExt cx="28531630" cy="40331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31567" cy="40331008"/>
            </a:xfrm>
            <a:custGeom>
              <a:avLst/>
              <a:gdLst/>
              <a:ahLst/>
              <a:cxnLst/>
              <a:rect r="r" b="b" t="t" l="l"/>
              <a:pathLst>
                <a:path h="40331008" w="28531567">
                  <a:moveTo>
                    <a:pt x="0" y="0"/>
                  </a:moveTo>
                  <a:lnTo>
                    <a:pt x="28531567" y="0"/>
                  </a:lnTo>
                  <a:lnTo>
                    <a:pt x="28531567" y="40331008"/>
                  </a:lnTo>
                  <a:lnTo>
                    <a:pt x="0" y="403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4181" y="1032072"/>
            <a:ext cx="18650369" cy="12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764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Final Assessment &amp; Decision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4181" y="2987164"/>
            <a:ext cx="18650369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Complete this summary after reviewing the CV and conducting the screening conversation. Record your assessment objectively. All decisions must be based on job-related criteria only.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3027" y="4779054"/>
            <a:ext cx="18672658" cy="9936004"/>
            <a:chOff x="0" y="0"/>
            <a:chExt cx="24896877" cy="132480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896952" cy="13248004"/>
            </a:xfrm>
            <a:custGeom>
              <a:avLst/>
              <a:gdLst/>
              <a:ahLst/>
              <a:cxnLst/>
              <a:rect r="r" b="b" t="t" l="l"/>
              <a:pathLst>
                <a:path h="13248004" w="24896952">
                  <a:moveTo>
                    <a:pt x="0" y="78740"/>
                  </a:moveTo>
                  <a:cubicBezTo>
                    <a:pt x="0" y="35179"/>
                    <a:pt x="35179" y="0"/>
                    <a:pt x="78740" y="0"/>
                  </a:cubicBezTo>
                  <a:lnTo>
                    <a:pt x="24818212" y="0"/>
                  </a:lnTo>
                  <a:cubicBezTo>
                    <a:pt x="24861647" y="0"/>
                    <a:pt x="24896952" y="35179"/>
                    <a:pt x="24896952" y="78740"/>
                  </a:cubicBezTo>
                  <a:lnTo>
                    <a:pt x="24896952" y="13169264"/>
                  </a:lnTo>
                  <a:cubicBezTo>
                    <a:pt x="24896952" y="13212699"/>
                    <a:pt x="24861774" y="13248004"/>
                    <a:pt x="24818212" y="13248004"/>
                  </a:cubicBezTo>
                  <a:lnTo>
                    <a:pt x="78740" y="13248004"/>
                  </a:lnTo>
                  <a:cubicBezTo>
                    <a:pt x="35306" y="13248004"/>
                    <a:pt x="0" y="13212826"/>
                    <a:pt x="0" y="1316926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72" t="0" r="-18271" b="0"/>
              </a:stretch>
            </a:blipFill>
            <a:ln w="2229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4181" y="5945134"/>
            <a:ext cx="18650369" cy="24536"/>
            <a:chOff x="0" y="0"/>
            <a:chExt cx="24867159" cy="32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4181" y="7717231"/>
            <a:ext cx="18650369" cy="24536"/>
            <a:chOff x="0" y="0"/>
            <a:chExt cx="24867159" cy="32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4181" y="9489329"/>
            <a:ext cx="18650369" cy="24536"/>
            <a:chOff x="0" y="0"/>
            <a:chExt cx="24867159" cy="32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4181" y="10633110"/>
            <a:ext cx="18650369" cy="24536"/>
            <a:chOff x="0" y="0"/>
            <a:chExt cx="24867159" cy="32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4181" y="12405208"/>
            <a:ext cx="18650369" cy="24536"/>
            <a:chOff x="0" y="0"/>
            <a:chExt cx="24867159" cy="327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4181" y="13548989"/>
            <a:ext cx="18650369" cy="24536"/>
            <a:chOff x="0" y="0"/>
            <a:chExt cx="24867159" cy="32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867108" cy="32766"/>
            </a:xfrm>
            <a:custGeom>
              <a:avLst/>
              <a:gdLst/>
              <a:ahLst/>
              <a:cxnLst/>
              <a:rect r="r" b="b" t="t" l="l"/>
              <a:pathLst>
                <a:path h="32766" w="24867108">
                  <a:moveTo>
                    <a:pt x="0" y="0"/>
                  </a:moveTo>
                  <a:lnTo>
                    <a:pt x="24867108" y="0"/>
                  </a:lnTo>
                  <a:lnTo>
                    <a:pt x="24867108" y="32766"/>
                  </a:lnTo>
                  <a:lnTo>
                    <a:pt x="0" y="3276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99150" y="4790199"/>
            <a:ext cx="24536" cy="9913715"/>
            <a:chOff x="0" y="0"/>
            <a:chExt cx="32715" cy="132182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766" cy="13218288"/>
            </a:xfrm>
            <a:custGeom>
              <a:avLst/>
              <a:gdLst/>
              <a:ahLst/>
              <a:cxnLst/>
              <a:rect r="r" b="b" t="t" l="l"/>
              <a:pathLst>
                <a:path h="13218288" w="32766">
                  <a:moveTo>
                    <a:pt x="0" y="0"/>
                  </a:moveTo>
                  <a:lnTo>
                    <a:pt x="32766" y="0"/>
                  </a:lnTo>
                  <a:lnTo>
                    <a:pt x="32766" y="13218288"/>
                  </a:lnTo>
                  <a:lnTo>
                    <a:pt x="0" y="1321828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799744" y="4790199"/>
            <a:ext cx="24536" cy="9913715"/>
            <a:chOff x="0" y="0"/>
            <a:chExt cx="32715" cy="132182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766" cy="13218288"/>
            </a:xfrm>
            <a:custGeom>
              <a:avLst/>
              <a:gdLst/>
              <a:ahLst/>
              <a:cxnLst/>
              <a:rect r="r" b="b" t="t" l="l"/>
              <a:pathLst>
                <a:path h="13218288" w="32766">
                  <a:moveTo>
                    <a:pt x="0" y="0"/>
                  </a:moveTo>
                  <a:lnTo>
                    <a:pt x="32766" y="0"/>
                  </a:lnTo>
                  <a:lnTo>
                    <a:pt x="32766" y="13218288"/>
                  </a:lnTo>
                  <a:lnTo>
                    <a:pt x="0" y="1321828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98556" y="4812487"/>
            <a:ext cx="6200594" cy="1132637"/>
            <a:chOff x="0" y="0"/>
            <a:chExt cx="8267459" cy="15101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67446" cy="1510157"/>
            </a:xfrm>
            <a:custGeom>
              <a:avLst/>
              <a:gdLst/>
              <a:ahLst/>
              <a:cxnLst/>
              <a:rect r="r" b="b" t="t" l="l"/>
              <a:pathLst>
                <a:path h="1510157" w="8267446">
                  <a:moveTo>
                    <a:pt x="65405" y="0"/>
                  </a:moveTo>
                  <a:lnTo>
                    <a:pt x="8267446" y="0"/>
                  </a:lnTo>
                  <a:lnTo>
                    <a:pt x="8267446" y="1510157"/>
                  </a:lnTo>
                  <a:lnTo>
                    <a:pt x="0" y="1510157"/>
                  </a:lnTo>
                  <a:lnTo>
                    <a:pt x="0" y="65405"/>
                  </a:lnTo>
                  <a:cubicBezTo>
                    <a:pt x="0" y="29337"/>
                    <a:pt x="29337" y="0"/>
                    <a:pt x="65405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791081" y="495430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F5F5F5"/>
                </a:solidFill>
                <a:latin typeface="Heebo Bold"/>
                <a:ea typeface="Heebo Bold"/>
                <a:cs typeface="Heebo Bold"/>
                <a:sym typeface="Heebo Bold"/>
              </a:rPr>
              <a:t>Assessment Area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599150" y="4812487"/>
            <a:ext cx="6200594" cy="1132637"/>
            <a:chOff x="0" y="0"/>
            <a:chExt cx="8267459" cy="15101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67446" cy="1510157"/>
            </a:xfrm>
            <a:custGeom>
              <a:avLst/>
              <a:gdLst/>
              <a:ahLst/>
              <a:cxnLst/>
              <a:rect r="r" b="b" t="t" l="l"/>
              <a:pathLst>
                <a:path h="1510157" w="8267446">
                  <a:moveTo>
                    <a:pt x="0" y="0"/>
                  </a:moveTo>
                  <a:lnTo>
                    <a:pt x="8267446" y="0"/>
                  </a:lnTo>
                  <a:lnTo>
                    <a:pt x="8267446" y="1510157"/>
                  </a:lnTo>
                  <a:lnTo>
                    <a:pt x="0" y="1510157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002819" y="4954305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F5F5F5"/>
                </a:solidFill>
                <a:latin typeface="Heebo Bold"/>
                <a:ea typeface="Heebo Bold"/>
                <a:cs typeface="Heebo Bold"/>
                <a:sym typeface="Heebo Bold"/>
              </a:rPr>
              <a:t>Rating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799744" y="4812487"/>
            <a:ext cx="6200594" cy="1132637"/>
            <a:chOff x="0" y="0"/>
            <a:chExt cx="8267459" cy="15101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7447" cy="1510157"/>
            </a:xfrm>
            <a:custGeom>
              <a:avLst/>
              <a:gdLst/>
              <a:ahLst/>
              <a:cxnLst/>
              <a:rect r="r" b="b" t="t" l="l"/>
              <a:pathLst>
                <a:path h="1510157" w="8267447">
                  <a:moveTo>
                    <a:pt x="0" y="0"/>
                  </a:moveTo>
                  <a:lnTo>
                    <a:pt x="8202041" y="0"/>
                  </a:lnTo>
                  <a:cubicBezTo>
                    <a:pt x="8238236" y="0"/>
                    <a:pt x="8267447" y="29337"/>
                    <a:pt x="8267447" y="65405"/>
                  </a:cubicBezTo>
                  <a:lnTo>
                    <a:pt x="8267447" y="1510157"/>
                  </a:lnTo>
                  <a:lnTo>
                    <a:pt x="0" y="1510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203413" y="495430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F5F5F5"/>
                </a:solidFill>
                <a:latin typeface="Heebo Bold"/>
                <a:ea typeface="Heebo Bold"/>
                <a:cs typeface="Heebo Bold"/>
                <a:sym typeface="Heebo Bold"/>
              </a:rPr>
              <a:t>Notes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91081" y="609809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Experience Match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02819" y="6098095"/>
            <a:ext cx="539326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Strong   □ Moderate   □ Limited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03413" y="6098095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91081" y="7870184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Skills Match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02819" y="7870184"/>
            <a:ext cx="539326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Strong   □ Moderate   □ Limited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03413" y="7870184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91081" y="9642281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Qualifications Verified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02819" y="9642281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   □ No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203413" y="9642281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91081" y="10786072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Motivation &amp; Alignment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002819" y="10786072"/>
            <a:ext cx="5393265" cy="136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Strong   □ Partial   □ Unclear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03413" y="10786072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91081" y="12558170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Availability &amp; Logistics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002819" y="12558170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Confirmed   □ To confirm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203413" y="12558170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91081" y="13701951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Clarification Points Resolved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002819" y="13701951"/>
            <a:ext cx="6463208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□ Yes   □ Partially   □ No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03413" y="13701951"/>
            <a:ext cx="647435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91536" y="15145550"/>
            <a:ext cx="9411472" cy="7759894"/>
            <a:chOff x="0" y="0"/>
            <a:chExt cx="12548629" cy="103465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548616" cy="10346436"/>
            </a:xfrm>
            <a:custGeom>
              <a:avLst/>
              <a:gdLst/>
              <a:ahLst/>
              <a:cxnLst/>
              <a:rect r="r" b="b" t="t" l="l"/>
              <a:pathLst>
                <a:path h="10346436" w="12548616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2470130" y="0"/>
                  </a:lnTo>
                  <a:cubicBezTo>
                    <a:pt x="12513564" y="0"/>
                    <a:pt x="12548616" y="35179"/>
                    <a:pt x="12548616" y="78486"/>
                  </a:cubicBezTo>
                  <a:lnTo>
                    <a:pt x="12548616" y="10267950"/>
                  </a:lnTo>
                  <a:cubicBezTo>
                    <a:pt x="12548616" y="10311384"/>
                    <a:pt x="12513437" y="10346436"/>
                    <a:pt x="12470130" y="10346436"/>
                  </a:cubicBezTo>
                  <a:lnTo>
                    <a:pt x="78486" y="10346436"/>
                  </a:lnTo>
                  <a:cubicBezTo>
                    <a:pt x="35052" y="10346436"/>
                    <a:pt x="0" y="10311257"/>
                    <a:pt x="0" y="10267950"/>
                  </a:cubicBezTo>
                  <a:close/>
                </a:path>
              </a:pathLst>
            </a:custGeom>
            <a:solidFill>
              <a:srgbClr val="FF8C42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484062" y="15519025"/>
            <a:ext cx="862643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Decision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4062" y="16439159"/>
            <a:ext cx="8626431" cy="611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</a:t>
            </a: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Progress to interview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— Candidate meets essential requirements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</a:t>
            </a: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Hold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— Pending clarification or comparison with other candidates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□ </a:t>
            </a: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Do not progress</a:t>
            </a: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— Does not meet essential requirements</a:t>
            </a:r>
          </a:p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Decision rationale (job-related criteria only):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</a:t>
            </a:r>
          </a:p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189313" y="15519025"/>
            <a:ext cx="8846201" cy="63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82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Recruiter Sign-Off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189313" y="16439159"/>
            <a:ext cx="8846201" cy="26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Recruiter name: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___________________</a:t>
            </a:r>
          </a:p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Date reviewed: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___________________</a:t>
            </a:r>
          </a:p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Role reviewed for: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___________________</a:t>
            </a:r>
          </a:p>
          <a:p>
            <a:pPr algn="l">
              <a:lnSpc>
                <a:spcPts val="4742"/>
              </a:lnSpc>
            </a:pPr>
            <a:r>
              <a:rPr lang="en-US" sz="2971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Candidate name: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___________________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1189313" y="19498828"/>
            <a:ext cx="8846201" cy="2787710"/>
            <a:chOff x="0" y="0"/>
            <a:chExt cx="11794934" cy="37169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94871" cy="3716782"/>
            </a:xfrm>
            <a:custGeom>
              <a:avLst/>
              <a:gdLst/>
              <a:ahLst/>
              <a:cxnLst/>
              <a:rect r="r" b="b" t="t" l="l"/>
              <a:pathLst>
                <a:path h="3716782" w="11794871">
                  <a:moveTo>
                    <a:pt x="0" y="78486"/>
                  </a:moveTo>
                  <a:cubicBezTo>
                    <a:pt x="0" y="35179"/>
                    <a:pt x="35179" y="0"/>
                    <a:pt x="78486" y="0"/>
                  </a:cubicBezTo>
                  <a:lnTo>
                    <a:pt x="11716385" y="0"/>
                  </a:lnTo>
                  <a:cubicBezTo>
                    <a:pt x="11759819" y="0"/>
                    <a:pt x="11794871" y="35179"/>
                    <a:pt x="11794871" y="78486"/>
                  </a:cubicBezTo>
                  <a:lnTo>
                    <a:pt x="11794871" y="3638296"/>
                  </a:lnTo>
                  <a:cubicBezTo>
                    <a:pt x="11794871" y="3681730"/>
                    <a:pt x="11759692" y="3716782"/>
                    <a:pt x="11716385" y="3716782"/>
                  </a:cubicBezTo>
                  <a:lnTo>
                    <a:pt x="78486" y="3716782"/>
                  </a:lnTo>
                  <a:cubicBezTo>
                    <a:pt x="35052" y="3716782"/>
                    <a:pt x="0" y="3681603"/>
                    <a:pt x="0" y="3638296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581838" y="20080462"/>
            <a:ext cx="490738" cy="392525"/>
            <a:chOff x="0" y="0"/>
            <a:chExt cx="654317" cy="523367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654304" cy="523367"/>
            </a:xfrm>
            <a:custGeom>
              <a:avLst/>
              <a:gdLst/>
              <a:ahLst/>
              <a:cxnLst/>
              <a:rect r="r" b="b" t="t" l="l"/>
              <a:pathLst>
                <a:path h="523367" w="654304">
                  <a:moveTo>
                    <a:pt x="0" y="0"/>
                  </a:moveTo>
                  <a:lnTo>
                    <a:pt x="654304" y="0"/>
                  </a:lnTo>
                  <a:lnTo>
                    <a:pt x="654304" y="523367"/>
                  </a:lnTo>
                  <a:lnTo>
                    <a:pt x="0" y="523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" r="-1" b="-7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2465101" y="19845433"/>
            <a:ext cx="7177897" cy="198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297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Retain this completed checklist as part of the recruitment record for audit and compliance purposes.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39200" y="23242295"/>
            <a:ext cx="19720322" cy="73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2"/>
              </a:lnSpc>
            </a:pPr>
            <a:r>
              <a:rPr lang="en-US" sz="2971" b="true">
                <a:solidFill>
                  <a:srgbClr val="FF8C42"/>
                </a:solidFill>
                <a:latin typeface="Heebo Bold"/>
                <a:ea typeface="Heebo Bold"/>
                <a:cs typeface="Heebo Bold"/>
                <a:sym typeface="Heebo Bold"/>
              </a:rPr>
              <a:t>Falayn</a:t>
            </a:r>
            <a:r>
              <a:rPr lang="en-US" sz="297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· Candidate Screening Checklist · All evaluation criteria must be job-related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DAHR2cjsYxc</dc:identifier>
  <dcterms:modified xsi:type="dcterms:W3CDTF">2011-08-01T06:04:30Z</dcterms:modified>
  <cp:revision>1</cp:revision>
  <dc:title>Candidate-Screening-Checklist.pptx</dc:title>
</cp:coreProperties>
</file>