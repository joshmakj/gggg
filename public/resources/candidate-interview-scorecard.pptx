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rimson Pro" charset="1" panose="00000000000000000000"/>
      <p:regular r:id="rId20"/>
    </p:embeddedFont>
    <p:embeddedFont>
      <p:font typeface="Heebo" charset="1" panose="00000500000000000000"/>
      <p:regular r:id="rId21"/>
    </p:embeddedFont>
    <p:embeddedFont>
      <p:font typeface="Heebo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3.jpe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.jpe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0049" y="3736772"/>
            <a:ext cx="1612791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60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Gulf Recruiter Hiring Toolkit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049" y="5116411"/>
            <a:ext cx="17042311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 practical toolkit for recruiters, HR teams, and hiring managers to organise and improve their Gulf hiring process.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80049" y="6043022"/>
            <a:ext cx="1618355" cy="468954"/>
            <a:chOff x="0" y="0"/>
            <a:chExt cx="2157806" cy="6252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57857" cy="625348"/>
            </a:xfrm>
            <a:custGeom>
              <a:avLst/>
              <a:gdLst/>
              <a:ahLst/>
              <a:cxnLst/>
              <a:rect r="r" b="b" t="t" l="l"/>
              <a:pathLst>
                <a:path h="625348" w="2157857">
                  <a:moveTo>
                    <a:pt x="0" y="49403"/>
                  </a:moveTo>
                  <a:cubicBezTo>
                    <a:pt x="0" y="22098"/>
                    <a:pt x="22098" y="0"/>
                    <a:pt x="49403" y="0"/>
                  </a:cubicBezTo>
                  <a:lnTo>
                    <a:pt x="2108454" y="0"/>
                  </a:lnTo>
                  <a:cubicBezTo>
                    <a:pt x="2135759" y="0"/>
                    <a:pt x="2157857" y="22098"/>
                    <a:pt x="2157857" y="49403"/>
                  </a:cubicBezTo>
                  <a:lnTo>
                    <a:pt x="2157857" y="575945"/>
                  </a:lnTo>
                  <a:cubicBezTo>
                    <a:pt x="2157857" y="603250"/>
                    <a:pt x="2135759" y="625348"/>
                    <a:pt x="2108454" y="625348"/>
                  </a:cubicBezTo>
                  <a:lnTo>
                    <a:pt x="49403" y="625348"/>
                  </a:lnTo>
                  <a:cubicBezTo>
                    <a:pt x="22098" y="625221"/>
                    <a:pt x="0" y="603123"/>
                    <a:pt x="0" y="575945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65187" y="6154045"/>
            <a:ext cx="246755" cy="246755"/>
            <a:chOff x="0" y="0"/>
            <a:chExt cx="329006" cy="329006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329057" cy="329057"/>
            </a:xfrm>
            <a:custGeom>
              <a:avLst/>
              <a:gdLst/>
              <a:ahLst/>
              <a:cxnLst/>
              <a:rect r="r" b="b" t="t" l="l"/>
              <a:pathLst>
                <a:path h="329057" w="329057">
                  <a:moveTo>
                    <a:pt x="0" y="0"/>
                  </a:moveTo>
                  <a:lnTo>
                    <a:pt x="329057" y="0"/>
                  </a:lnTo>
                  <a:lnTo>
                    <a:pt x="329057" y="329057"/>
                  </a:lnTo>
                  <a:lnTo>
                    <a:pt x="0" y="329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5" b="1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35328" y="6135586"/>
            <a:ext cx="1792338" cy="283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19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FALAYN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86720"/>
            <a:ext cx="16127911" cy="76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How to Use This Toolkit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1957092"/>
            <a:ext cx="16127911" cy="68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This toolkit guides you through a structured 8-step hiring workflow. Use the checklists, templates, and frameworks to organise your process and evaluate candidates consistently.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0049" y="2838450"/>
            <a:ext cx="462858" cy="289322"/>
            <a:chOff x="0" y="0"/>
            <a:chExt cx="617144" cy="3857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7141" cy="385763"/>
            </a:xfrm>
            <a:custGeom>
              <a:avLst/>
              <a:gdLst/>
              <a:ahLst/>
              <a:cxnLst/>
              <a:rect r="r" b="b" t="t" l="l"/>
              <a:pathLst>
                <a:path h="385763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385763"/>
                  </a:lnTo>
                  <a:lnTo>
                    <a:pt x="0" y="385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9" t="0" r="-3020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617144" cy="39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0049" y="3203229"/>
            <a:ext cx="7977188" cy="28575"/>
            <a:chOff x="0" y="0"/>
            <a:chExt cx="10636250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36250" cy="38100"/>
            </a:xfrm>
            <a:custGeom>
              <a:avLst/>
              <a:gdLst/>
              <a:ahLst/>
              <a:cxnLst/>
              <a:rect r="r" b="b" t="t" l="l"/>
              <a:pathLst>
                <a:path h="38100" w="10636250">
                  <a:moveTo>
                    <a:pt x="0" y="0"/>
                  </a:moveTo>
                  <a:lnTo>
                    <a:pt x="10636250" y="0"/>
                  </a:lnTo>
                  <a:lnTo>
                    <a:pt x="1063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80049" y="3347447"/>
            <a:ext cx="7977188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Define the Role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0049" y="3803599"/>
            <a:ext cx="7977188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Clarify what you're hiring for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30763" y="2838450"/>
            <a:ext cx="462858" cy="289322"/>
            <a:chOff x="0" y="0"/>
            <a:chExt cx="617144" cy="3857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7141" cy="385763"/>
            </a:xfrm>
            <a:custGeom>
              <a:avLst/>
              <a:gdLst/>
              <a:ahLst/>
              <a:cxnLst/>
              <a:rect r="r" b="b" t="t" l="l"/>
              <a:pathLst>
                <a:path h="385763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385763"/>
                  </a:lnTo>
                  <a:lnTo>
                    <a:pt x="0" y="385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9" t="0" r="-3020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617144" cy="39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30763" y="3203229"/>
            <a:ext cx="7977188" cy="28575"/>
            <a:chOff x="0" y="0"/>
            <a:chExt cx="10636250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36250" cy="38100"/>
            </a:xfrm>
            <a:custGeom>
              <a:avLst/>
              <a:gdLst/>
              <a:ahLst/>
              <a:cxnLst/>
              <a:rect r="r" b="b" t="t" l="l"/>
              <a:pathLst>
                <a:path h="38100" w="10636250">
                  <a:moveTo>
                    <a:pt x="0" y="0"/>
                  </a:moveTo>
                  <a:lnTo>
                    <a:pt x="10636250" y="0"/>
                  </a:lnTo>
                  <a:lnTo>
                    <a:pt x="1063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230763" y="3347447"/>
            <a:ext cx="7977188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Create the Job Description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30763" y="3803599"/>
            <a:ext cx="7977188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Write a clear, compelling posting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80049" y="4512764"/>
            <a:ext cx="462858" cy="289322"/>
            <a:chOff x="0" y="0"/>
            <a:chExt cx="617144" cy="3857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7141" cy="385763"/>
            </a:xfrm>
            <a:custGeom>
              <a:avLst/>
              <a:gdLst/>
              <a:ahLst/>
              <a:cxnLst/>
              <a:rect r="r" b="b" t="t" l="l"/>
              <a:pathLst>
                <a:path h="385763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385763"/>
                  </a:lnTo>
                  <a:lnTo>
                    <a:pt x="0" y="385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9" t="0" r="-3020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617144" cy="39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0049" y="4877543"/>
            <a:ext cx="7977188" cy="28575"/>
            <a:chOff x="0" y="0"/>
            <a:chExt cx="10636250" cy="38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36250" cy="38100"/>
            </a:xfrm>
            <a:custGeom>
              <a:avLst/>
              <a:gdLst/>
              <a:ahLst/>
              <a:cxnLst/>
              <a:rect r="r" b="b" t="t" l="l"/>
              <a:pathLst>
                <a:path h="38100" w="10636250">
                  <a:moveTo>
                    <a:pt x="0" y="0"/>
                  </a:moveTo>
                  <a:lnTo>
                    <a:pt x="10636250" y="0"/>
                  </a:lnTo>
                  <a:lnTo>
                    <a:pt x="1063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80049" y="5021761"/>
            <a:ext cx="7977188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Source Candidates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0049" y="5477913"/>
            <a:ext cx="7977188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Find qualified applicants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30763" y="4512764"/>
            <a:ext cx="462858" cy="289322"/>
            <a:chOff x="0" y="0"/>
            <a:chExt cx="617144" cy="3857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7141" cy="385763"/>
            </a:xfrm>
            <a:custGeom>
              <a:avLst/>
              <a:gdLst/>
              <a:ahLst/>
              <a:cxnLst/>
              <a:rect r="r" b="b" t="t" l="l"/>
              <a:pathLst>
                <a:path h="385763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385763"/>
                  </a:lnTo>
                  <a:lnTo>
                    <a:pt x="0" y="385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9" t="0" r="-3020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617144" cy="39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30763" y="4877543"/>
            <a:ext cx="7977188" cy="28575"/>
            <a:chOff x="0" y="0"/>
            <a:chExt cx="10636250" cy="38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36250" cy="38100"/>
            </a:xfrm>
            <a:custGeom>
              <a:avLst/>
              <a:gdLst/>
              <a:ahLst/>
              <a:cxnLst/>
              <a:rect r="r" b="b" t="t" l="l"/>
              <a:pathLst>
                <a:path h="38100" w="10636250">
                  <a:moveTo>
                    <a:pt x="0" y="0"/>
                  </a:moveTo>
                  <a:lnTo>
                    <a:pt x="10636250" y="0"/>
                  </a:lnTo>
                  <a:lnTo>
                    <a:pt x="1063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230763" y="5021761"/>
            <a:ext cx="7977188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Screen Applications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30763" y="5477913"/>
            <a:ext cx="7977188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Review CVs against criteria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80049" y="6187078"/>
            <a:ext cx="462858" cy="289322"/>
            <a:chOff x="0" y="0"/>
            <a:chExt cx="617144" cy="38576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17141" cy="385763"/>
            </a:xfrm>
            <a:custGeom>
              <a:avLst/>
              <a:gdLst/>
              <a:ahLst/>
              <a:cxnLst/>
              <a:rect r="r" b="b" t="t" l="l"/>
              <a:pathLst>
                <a:path h="385763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385763"/>
                  </a:lnTo>
                  <a:lnTo>
                    <a:pt x="0" y="385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9" t="0" r="-3020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617144" cy="39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05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80049" y="6551857"/>
            <a:ext cx="7977188" cy="28575"/>
            <a:chOff x="0" y="0"/>
            <a:chExt cx="10636250" cy="381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636250" cy="38100"/>
            </a:xfrm>
            <a:custGeom>
              <a:avLst/>
              <a:gdLst/>
              <a:ahLst/>
              <a:cxnLst/>
              <a:rect r="r" b="b" t="t" l="l"/>
              <a:pathLst>
                <a:path h="38100" w="10636250">
                  <a:moveTo>
                    <a:pt x="0" y="0"/>
                  </a:moveTo>
                  <a:lnTo>
                    <a:pt x="10636250" y="0"/>
                  </a:lnTo>
                  <a:lnTo>
                    <a:pt x="1063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080049" y="6696075"/>
            <a:ext cx="7977188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Conduct Interviews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80049" y="7152237"/>
            <a:ext cx="7977188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Assess fit and capability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230763" y="6187078"/>
            <a:ext cx="462858" cy="289322"/>
            <a:chOff x="0" y="0"/>
            <a:chExt cx="617144" cy="38576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17141" cy="385763"/>
            </a:xfrm>
            <a:custGeom>
              <a:avLst/>
              <a:gdLst/>
              <a:ahLst/>
              <a:cxnLst/>
              <a:rect r="r" b="b" t="t" l="l"/>
              <a:pathLst>
                <a:path h="385763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385763"/>
                  </a:lnTo>
                  <a:lnTo>
                    <a:pt x="0" y="385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9" t="0" r="-30200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617144" cy="39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06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230763" y="6551857"/>
            <a:ext cx="7977188" cy="28575"/>
            <a:chOff x="0" y="0"/>
            <a:chExt cx="10636250" cy="381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636250" cy="38100"/>
            </a:xfrm>
            <a:custGeom>
              <a:avLst/>
              <a:gdLst/>
              <a:ahLst/>
              <a:cxnLst/>
              <a:rect r="r" b="b" t="t" l="l"/>
              <a:pathLst>
                <a:path h="38100" w="10636250">
                  <a:moveTo>
                    <a:pt x="0" y="0"/>
                  </a:moveTo>
                  <a:lnTo>
                    <a:pt x="10636250" y="0"/>
                  </a:lnTo>
                  <a:lnTo>
                    <a:pt x="1063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230763" y="6696075"/>
            <a:ext cx="7977188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Evaluate Candidates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230763" y="7152237"/>
            <a:ext cx="7977188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Score and compare fairly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080049" y="7861402"/>
            <a:ext cx="462858" cy="289322"/>
            <a:chOff x="0" y="0"/>
            <a:chExt cx="617144" cy="38576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17141" cy="385763"/>
            </a:xfrm>
            <a:custGeom>
              <a:avLst/>
              <a:gdLst/>
              <a:ahLst/>
              <a:cxnLst/>
              <a:rect r="r" b="b" t="t" l="l"/>
              <a:pathLst>
                <a:path h="385763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385763"/>
                  </a:lnTo>
                  <a:lnTo>
                    <a:pt x="0" y="385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9" t="0" r="-30200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617144" cy="39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07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80049" y="8226181"/>
            <a:ext cx="7977188" cy="28575"/>
            <a:chOff x="0" y="0"/>
            <a:chExt cx="10636250" cy="381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636250" cy="38100"/>
            </a:xfrm>
            <a:custGeom>
              <a:avLst/>
              <a:gdLst/>
              <a:ahLst/>
              <a:cxnLst/>
              <a:rect r="r" b="b" t="t" l="l"/>
              <a:pathLst>
                <a:path h="38100" w="10636250">
                  <a:moveTo>
                    <a:pt x="0" y="0"/>
                  </a:moveTo>
                  <a:lnTo>
                    <a:pt x="10636250" y="0"/>
                  </a:lnTo>
                  <a:lnTo>
                    <a:pt x="1063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080049" y="8370389"/>
            <a:ext cx="7977188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Make the Decision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80049" y="8826551"/>
            <a:ext cx="7977188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Select and approve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230763" y="7861402"/>
            <a:ext cx="462858" cy="289322"/>
            <a:chOff x="0" y="0"/>
            <a:chExt cx="617144" cy="38576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17141" cy="385763"/>
            </a:xfrm>
            <a:custGeom>
              <a:avLst/>
              <a:gdLst/>
              <a:ahLst/>
              <a:cxnLst/>
              <a:rect r="r" b="b" t="t" l="l"/>
              <a:pathLst>
                <a:path h="385763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385763"/>
                  </a:lnTo>
                  <a:lnTo>
                    <a:pt x="0" y="3857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99" t="0" r="-30200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617144" cy="39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08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230763" y="8226181"/>
            <a:ext cx="7977188" cy="28575"/>
            <a:chOff x="0" y="0"/>
            <a:chExt cx="10636250" cy="381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636250" cy="38100"/>
            </a:xfrm>
            <a:custGeom>
              <a:avLst/>
              <a:gdLst/>
              <a:ahLst/>
              <a:cxnLst/>
              <a:rect r="r" b="b" t="t" l="l"/>
              <a:pathLst>
                <a:path h="38100" w="10636250">
                  <a:moveTo>
                    <a:pt x="0" y="0"/>
                  </a:moveTo>
                  <a:lnTo>
                    <a:pt x="10636250" y="0"/>
                  </a:lnTo>
                  <a:lnTo>
                    <a:pt x="106362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9230763" y="8370389"/>
            <a:ext cx="7977188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Follow Up and Close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230763" y="8826551"/>
            <a:ext cx="7977188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Communicate and onboard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38049" y="1127227"/>
            <a:ext cx="9269911" cy="97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58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Hiring Preparation Checklist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38049" y="2448220"/>
            <a:ext cx="9269911" cy="1027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3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Before you start sourcing, confirm these fundamentals with your hiring manager: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722841" y="3801513"/>
            <a:ext cx="4700740" cy="5320160"/>
            <a:chOff x="0" y="0"/>
            <a:chExt cx="6267653" cy="70935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67704" cy="7093586"/>
            </a:xfrm>
            <a:custGeom>
              <a:avLst/>
              <a:gdLst/>
              <a:ahLst/>
              <a:cxnLst/>
              <a:rect r="r" b="b" t="t" l="l"/>
              <a:pathLst>
                <a:path h="7093586" w="6267704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6207887" y="0"/>
                  </a:lnTo>
                  <a:cubicBezTo>
                    <a:pt x="6240907" y="0"/>
                    <a:pt x="6267704" y="26797"/>
                    <a:pt x="6267704" y="59817"/>
                  </a:cubicBezTo>
                  <a:lnTo>
                    <a:pt x="6267704" y="7033768"/>
                  </a:lnTo>
                  <a:cubicBezTo>
                    <a:pt x="6267704" y="7066788"/>
                    <a:pt x="6240907" y="7093586"/>
                    <a:pt x="6207887" y="7093586"/>
                  </a:cubicBezTo>
                  <a:lnTo>
                    <a:pt x="59817" y="7093586"/>
                  </a:lnTo>
                  <a:cubicBezTo>
                    <a:pt x="26797" y="7093586"/>
                    <a:pt x="0" y="7066788"/>
                    <a:pt x="0" y="7033768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21688" y="4062565"/>
            <a:ext cx="4103046" cy="49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Role Definition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21688" y="4762052"/>
            <a:ext cx="4103046" cy="37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Role clearly defined</a:t>
            </a:r>
          </a:p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Hiring manager requirements confirmed</a:t>
            </a:r>
          </a:p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Required skills identified</a:t>
            </a:r>
          </a:p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Preferred skills identified</a:t>
            </a:r>
          </a:p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Experience requirements defined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47152" y="4062565"/>
            <a:ext cx="4270324" cy="49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Logistics &amp; Process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47152" y="4762052"/>
            <a:ext cx="4270324" cy="425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Salary range established</a:t>
            </a:r>
          </a:p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Work location confirmed</a:t>
            </a:r>
          </a:p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Employment type confirmed (full-time, contract, etc.)</a:t>
            </a:r>
          </a:p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Interview process planned</a:t>
            </a:r>
          </a:p>
          <a:p>
            <a:pPr algn="l" marL="554990" indent="-277495" lvl="1">
              <a:lnSpc>
                <a:spcPts val="3615"/>
              </a:lnSpc>
              <a:buFont typeface="Arial"/>
              <a:buChar char="•"/>
            </a:pPr>
            <a:r>
              <a:rPr lang="en-US" sz="23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Candidate evaluation criteria prepared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77643"/>
            <a:ext cx="16127911" cy="73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Ideal Candidate Profile Template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1918545"/>
            <a:ext cx="17042311" cy="343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Complete this template for every role you recruit: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080049" y="2636044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49438" y="2862558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Job Title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9438" y="3383166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5057032" y="2636044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426421" y="2862558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Department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26421" y="3383166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080049" y="4462167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49438" y="4688681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Location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9438" y="5209280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5057032" y="4462167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426421" y="4688681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Experience Required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26421" y="5209280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080049" y="6288291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49438" y="6514805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Essential Skills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49438" y="7035403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5057032" y="6288291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426421" y="6514805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Preferred Skills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26421" y="7035403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9429902" y="2636044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799291" y="2862558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Education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99291" y="3383166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29" id="29" descr="preencoded.png"/>
          <p:cNvSpPr/>
          <p:nvPr/>
        </p:nvSpPr>
        <p:spPr>
          <a:xfrm flipH="false" flipV="false" rot="0">
            <a:off x="13406885" y="2636044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776274" y="2862558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Certifications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776274" y="3383166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32" id="32" descr="preencoded.png"/>
          <p:cNvSpPr/>
          <p:nvPr/>
        </p:nvSpPr>
        <p:spPr>
          <a:xfrm flipH="false" flipV="false" rot="0">
            <a:off x="9429902" y="4462167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799291" y="4688681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Languages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99291" y="5209280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35" id="35" descr="preencoded.png"/>
          <p:cNvSpPr/>
          <p:nvPr/>
        </p:nvSpPr>
        <p:spPr>
          <a:xfrm flipH="false" flipV="false" rot="0">
            <a:off x="13406885" y="4462167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3776274" y="4688681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Availability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776274" y="5209280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sp>
        <p:nvSpPr>
          <p:cNvPr name="Freeform 38" id="38" descr="preencoded.png"/>
          <p:cNvSpPr/>
          <p:nvPr/>
        </p:nvSpPr>
        <p:spPr>
          <a:xfrm flipH="false" flipV="false" rot="0">
            <a:off x="9429902" y="6288291"/>
            <a:ext cx="3810600" cy="1659731"/>
          </a:xfrm>
          <a:custGeom>
            <a:avLst/>
            <a:gdLst/>
            <a:ahLst/>
            <a:cxnLst/>
            <a:rect r="r" b="b" t="t" l="l"/>
            <a:pathLst>
              <a:path h="1659731" w="3810600">
                <a:moveTo>
                  <a:pt x="0" y="0"/>
                </a:moveTo>
                <a:lnTo>
                  <a:pt x="3810600" y="0"/>
                </a:lnTo>
                <a:lnTo>
                  <a:pt x="3810600" y="1659731"/>
                </a:lnTo>
                <a:lnTo>
                  <a:pt x="0" y="1659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" r="0" b="-98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799291" y="6514805"/>
            <a:ext cx="3186112" cy="3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Other Requirements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99291" y="7035403"/>
            <a:ext cx="3186112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80049" y="8322469"/>
            <a:ext cx="16127911" cy="1058170"/>
            <a:chOff x="0" y="0"/>
            <a:chExt cx="21503881" cy="141089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503894" cy="1410843"/>
            </a:xfrm>
            <a:custGeom>
              <a:avLst/>
              <a:gdLst/>
              <a:ahLst/>
              <a:cxnLst/>
              <a:rect r="r" b="b" t="t" l="l"/>
              <a:pathLst>
                <a:path h="1410843" w="21503894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1458555" y="0"/>
                  </a:lnTo>
                  <a:cubicBezTo>
                    <a:pt x="21483574" y="0"/>
                    <a:pt x="21503894" y="20320"/>
                    <a:pt x="21503894" y="45339"/>
                  </a:cubicBezTo>
                  <a:lnTo>
                    <a:pt x="21503894" y="1365504"/>
                  </a:lnTo>
                  <a:cubicBezTo>
                    <a:pt x="21503894" y="1390523"/>
                    <a:pt x="21483574" y="1410843"/>
                    <a:pt x="21458555" y="1410843"/>
                  </a:cubicBezTo>
                  <a:lnTo>
                    <a:pt x="45339" y="1410843"/>
                  </a:lnTo>
                  <a:cubicBezTo>
                    <a:pt x="20320" y="1410843"/>
                    <a:pt x="0" y="1390523"/>
                    <a:pt x="0" y="1365504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06563" y="8566252"/>
            <a:ext cx="283216" cy="226514"/>
            <a:chOff x="0" y="0"/>
            <a:chExt cx="377622" cy="302019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77571" cy="302006"/>
            </a:xfrm>
            <a:custGeom>
              <a:avLst/>
              <a:gdLst/>
              <a:ahLst/>
              <a:cxnLst/>
              <a:rect r="r" b="b" t="t" l="l"/>
              <a:pathLst>
                <a:path h="302006" w="377571">
                  <a:moveTo>
                    <a:pt x="0" y="0"/>
                  </a:moveTo>
                  <a:lnTo>
                    <a:pt x="377571" y="0"/>
                  </a:lnTo>
                  <a:lnTo>
                    <a:pt x="377571" y="302006"/>
                  </a:lnTo>
                  <a:lnTo>
                    <a:pt x="0" y="302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" r="-13" b="-21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816294" y="8516836"/>
            <a:ext cx="15165143" cy="65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Essential vs Preferred:</a:t>
            </a:r>
            <a:r>
              <a:rPr lang="en-US" sz="17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Essential requirements are non-negotiable. Preferred requirements identify stronger candidates but shouldn't eliminate qualified applicants — this widens your talent pool and reduces time-to-hire.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26446"/>
            <a:ext cx="16127911" cy="76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Job Posting Checklist &amp; Sourcing Channels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1993106"/>
            <a:ext cx="7781630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Before Publishing Your Job 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0049" y="2518772"/>
            <a:ext cx="7781630" cy="382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Clear, specific job title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Brief company introduction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Key responsibilities explained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Required qualifications listed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Required skills included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Experience level specified (entry, mid, senior)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Location included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Employment type included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Application instructions clear</a:t>
            </a:r>
          </a:p>
          <a:p>
            <a:pPr algn="l" marL="434340" indent="-217170" lvl="1">
              <a:lnSpc>
                <a:spcPts val="2527"/>
              </a:lnSpc>
              <a:buFont typeface="Arial"/>
              <a:buChar char="•"/>
            </a:pPr>
            <a:r>
              <a:rPr lang="en-US" sz="18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Professional and inclusive language used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69168" y="1848145"/>
            <a:ext cx="8115005" cy="6609902"/>
            <a:chOff x="0" y="0"/>
            <a:chExt cx="10820006" cy="88132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20019" cy="8813165"/>
            </a:xfrm>
            <a:custGeom>
              <a:avLst/>
              <a:gdLst/>
              <a:ahLst/>
              <a:cxnLst/>
              <a:rect r="r" b="b" t="t" l="l"/>
              <a:pathLst>
                <a:path h="8813165" w="10820019">
                  <a:moveTo>
                    <a:pt x="0" y="46228"/>
                  </a:moveTo>
                  <a:cubicBezTo>
                    <a:pt x="0" y="20701"/>
                    <a:pt x="20701" y="0"/>
                    <a:pt x="46228" y="0"/>
                  </a:cubicBezTo>
                  <a:lnTo>
                    <a:pt x="10773791" y="0"/>
                  </a:lnTo>
                  <a:cubicBezTo>
                    <a:pt x="10799318" y="0"/>
                    <a:pt x="10820019" y="20701"/>
                    <a:pt x="10820019" y="46228"/>
                  </a:cubicBezTo>
                  <a:lnTo>
                    <a:pt x="10820019" y="8766937"/>
                  </a:lnTo>
                  <a:cubicBezTo>
                    <a:pt x="10820019" y="8792464"/>
                    <a:pt x="10799318" y="8813165"/>
                    <a:pt x="10773791" y="8813165"/>
                  </a:cubicBezTo>
                  <a:lnTo>
                    <a:pt x="46228" y="8813165"/>
                  </a:lnTo>
                  <a:cubicBezTo>
                    <a:pt x="20701" y="8813165"/>
                    <a:pt x="0" y="8792464"/>
                    <a:pt x="0" y="8766937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500587" y="1993106"/>
            <a:ext cx="7652147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Where to Source Candidates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587360" y="2585818"/>
            <a:ext cx="347072" cy="347072"/>
          </a:xfrm>
          <a:custGeom>
            <a:avLst/>
            <a:gdLst/>
            <a:ahLst/>
            <a:cxnLst/>
            <a:rect r="r" b="b" t="t" l="l"/>
            <a:pathLst>
              <a:path h="347072" w="347072">
                <a:moveTo>
                  <a:pt x="0" y="0"/>
                </a:moveTo>
                <a:lnTo>
                  <a:pt x="347072" y="0"/>
                </a:lnTo>
                <a:lnTo>
                  <a:pt x="347072" y="347072"/>
                </a:lnTo>
                <a:lnTo>
                  <a:pt x="0" y="347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06" t="0" r="-810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52767" y="2550023"/>
            <a:ext cx="6899967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LinkedIn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52767" y="3075680"/>
            <a:ext cx="6899967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Professional networks, passive candidates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587360" y="3792064"/>
            <a:ext cx="347072" cy="347072"/>
          </a:xfrm>
          <a:custGeom>
            <a:avLst/>
            <a:gdLst/>
            <a:ahLst/>
            <a:cxnLst/>
            <a:rect r="r" b="b" t="t" l="l"/>
            <a:pathLst>
              <a:path h="347072" w="347072">
                <a:moveTo>
                  <a:pt x="0" y="0"/>
                </a:moveTo>
                <a:lnTo>
                  <a:pt x="347072" y="0"/>
                </a:lnTo>
                <a:lnTo>
                  <a:pt x="347072" y="347072"/>
                </a:lnTo>
                <a:lnTo>
                  <a:pt x="0" y="347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06" t="0" r="-8106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52767" y="3756269"/>
            <a:ext cx="6899967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Job Boards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52767" y="4281935"/>
            <a:ext cx="6899967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Bayt, GulfTalent, Indeed, Naukri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9587360" y="4998320"/>
            <a:ext cx="347072" cy="347072"/>
          </a:xfrm>
          <a:custGeom>
            <a:avLst/>
            <a:gdLst/>
            <a:ahLst/>
            <a:cxnLst/>
            <a:rect r="r" b="b" t="t" l="l"/>
            <a:pathLst>
              <a:path h="347072" w="347072">
                <a:moveTo>
                  <a:pt x="0" y="0"/>
                </a:moveTo>
                <a:lnTo>
                  <a:pt x="347072" y="0"/>
                </a:lnTo>
                <a:lnTo>
                  <a:pt x="347072" y="347072"/>
                </a:lnTo>
                <a:lnTo>
                  <a:pt x="0" y="347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06" t="0" r="-8106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52767" y="4962525"/>
            <a:ext cx="6899967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Recruitment Agencies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52767" y="5488191"/>
            <a:ext cx="6899967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Specialist talent pools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9587360" y="6204566"/>
            <a:ext cx="347072" cy="347072"/>
          </a:xfrm>
          <a:custGeom>
            <a:avLst/>
            <a:gdLst/>
            <a:ahLst/>
            <a:cxnLst/>
            <a:rect r="r" b="b" t="t" l="l"/>
            <a:pathLst>
              <a:path h="347072" w="347072">
                <a:moveTo>
                  <a:pt x="0" y="0"/>
                </a:moveTo>
                <a:lnTo>
                  <a:pt x="347072" y="0"/>
                </a:lnTo>
                <a:lnTo>
                  <a:pt x="347072" y="347072"/>
                </a:lnTo>
                <a:lnTo>
                  <a:pt x="0" y="347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06" t="0" r="-8106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52767" y="6168781"/>
            <a:ext cx="6899967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Employee Referrals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52767" y="6694437"/>
            <a:ext cx="6899967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Trusted recommendations</a:t>
            </a:r>
          </a:p>
        </p:txBody>
      </p:sp>
      <p:sp>
        <p:nvSpPr>
          <p:cNvPr name="Freeform 24" id="24" descr="preencoded.png"/>
          <p:cNvSpPr/>
          <p:nvPr/>
        </p:nvSpPr>
        <p:spPr>
          <a:xfrm flipH="false" flipV="false" rot="0">
            <a:off x="9587360" y="7410821"/>
            <a:ext cx="347072" cy="347072"/>
          </a:xfrm>
          <a:custGeom>
            <a:avLst/>
            <a:gdLst/>
            <a:ahLst/>
            <a:cxnLst/>
            <a:rect r="r" b="b" t="t" l="l"/>
            <a:pathLst>
              <a:path h="347072" w="347072">
                <a:moveTo>
                  <a:pt x="0" y="0"/>
                </a:moveTo>
                <a:lnTo>
                  <a:pt x="347072" y="0"/>
                </a:lnTo>
                <a:lnTo>
                  <a:pt x="347072" y="347072"/>
                </a:lnTo>
                <a:lnTo>
                  <a:pt x="0" y="347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06" t="0" r="-8106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52767" y="7375027"/>
            <a:ext cx="6899967" cy="39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Networking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52767" y="7900692"/>
            <a:ext cx="6899967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Events, conferences, direct outreach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80049" y="8653310"/>
            <a:ext cx="16127911" cy="769144"/>
            <a:chOff x="0" y="0"/>
            <a:chExt cx="21503881" cy="10255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503894" cy="1025525"/>
            </a:xfrm>
            <a:custGeom>
              <a:avLst/>
              <a:gdLst/>
              <a:ahLst/>
              <a:cxnLst/>
              <a:rect r="r" b="b" t="t" l="l"/>
              <a:pathLst>
                <a:path h="1025525" w="21503894">
                  <a:moveTo>
                    <a:pt x="0" y="46355"/>
                  </a:moveTo>
                  <a:cubicBezTo>
                    <a:pt x="0" y="20701"/>
                    <a:pt x="20701" y="0"/>
                    <a:pt x="46355" y="0"/>
                  </a:cubicBezTo>
                  <a:lnTo>
                    <a:pt x="21457538" y="0"/>
                  </a:lnTo>
                  <a:cubicBezTo>
                    <a:pt x="21483065" y="0"/>
                    <a:pt x="21503894" y="20701"/>
                    <a:pt x="21503894" y="46355"/>
                  </a:cubicBezTo>
                  <a:lnTo>
                    <a:pt x="21503894" y="979170"/>
                  </a:lnTo>
                  <a:cubicBezTo>
                    <a:pt x="21503894" y="1004697"/>
                    <a:pt x="21483193" y="1025525"/>
                    <a:pt x="21457538" y="1025525"/>
                  </a:cubicBezTo>
                  <a:lnTo>
                    <a:pt x="46355" y="1025525"/>
                  </a:lnTo>
                  <a:cubicBezTo>
                    <a:pt x="20701" y="1025525"/>
                    <a:pt x="0" y="1004824"/>
                    <a:pt x="0" y="979170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11478" y="8901112"/>
            <a:ext cx="289322" cy="231429"/>
            <a:chOff x="0" y="0"/>
            <a:chExt cx="385762" cy="308572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385826" cy="308610"/>
            </a:xfrm>
            <a:custGeom>
              <a:avLst/>
              <a:gdLst/>
              <a:ahLst/>
              <a:cxnLst/>
              <a:rect r="r" b="b" t="t" l="l"/>
              <a:pathLst>
                <a:path h="308610" w="385826">
                  <a:moveTo>
                    <a:pt x="0" y="0"/>
                  </a:moveTo>
                  <a:lnTo>
                    <a:pt x="385826" y="0"/>
                  </a:lnTo>
                  <a:lnTo>
                    <a:pt x="385826" y="308610"/>
                  </a:lnTo>
                  <a:lnTo>
                    <a:pt x="0" y="308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11" r="16" b="-395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832219" y="8846496"/>
            <a:ext cx="16058702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0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Pro tip:</a:t>
            </a:r>
            <a:r>
              <a:rPr lang="en-US" sz="18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Focus on where your ideal candidates are most likely to be active rather than posting everywhere. Quality sourcing saves screening time.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61565"/>
            <a:ext cx="16127911" cy="70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CV Screening Framework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1825819"/>
            <a:ext cx="17042311" cy="31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Review each CV against these criteria before advancing a candidate: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080049" y="2304898"/>
            <a:ext cx="5278641" cy="1794720"/>
          </a:xfrm>
          <a:custGeom>
            <a:avLst/>
            <a:gdLst/>
            <a:ahLst/>
            <a:cxnLst/>
            <a:rect r="r" b="b" t="t" l="l"/>
            <a:pathLst>
              <a:path h="1794720" w="5278641">
                <a:moveTo>
                  <a:pt x="0" y="0"/>
                </a:moveTo>
                <a:lnTo>
                  <a:pt x="5278641" y="0"/>
                </a:lnTo>
                <a:lnTo>
                  <a:pt x="5278641" y="1794719"/>
                </a:lnTo>
                <a:lnTo>
                  <a:pt x="0" y="179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44" r="0" b="-344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592116" y="2463994"/>
            <a:ext cx="254498" cy="318192"/>
            <a:chOff x="0" y="0"/>
            <a:chExt cx="339331" cy="4242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9328" cy="424259"/>
            </a:xfrm>
            <a:custGeom>
              <a:avLst/>
              <a:gdLst/>
              <a:ahLst/>
              <a:cxnLst/>
              <a:rect r="r" b="b" t="t" l="l"/>
              <a:pathLst>
                <a:path h="424259" w="339328">
                  <a:moveTo>
                    <a:pt x="0" y="0"/>
                  </a:moveTo>
                  <a:lnTo>
                    <a:pt x="339328" y="0"/>
                  </a:lnTo>
                  <a:lnTo>
                    <a:pt x="339328" y="424259"/>
                  </a:lnTo>
                  <a:lnTo>
                    <a:pt x="0" y="4242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15" t="0" r="-110416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339331" cy="4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20698" y="3134468"/>
            <a:ext cx="4797323" cy="3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Relevant Experience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0698" y="3543891"/>
            <a:ext cx="4797323" cy="31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Does their background match the role?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6504537" y="2304898"/>
            <a:ext cx="5278784" cy="1794720"/>
          </a:xfrm>
          <a:custGeom>
            <a:avLst/>
            <a:gdLst/>
            <a:ahLst/>
            <a:cxnLst/>
            <a:rect r="r" b="b" t="t" l="l"/>
            <a:pathLst>
              <a:path h="1794720" w="5278784">
                <a:moveTo>
                  <a:pt x="0" y="0"/>
                </a:moveTo>
                <a:lnTo>
                  <a:pt x="5278783" y="0"/>
                </a:lnTo>
                <a:lnTo>
                  <a:pt x="5278783" y="1794719"/>
                </a:lnTo>
                <a:lnTo>
                  <a:pt x="0" y="179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46" r="0" b="-346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016603" y="2463994"/>
            <a:ext cx="254498" cy="318192"/>
            <a:chOff x="0" y="0"/>
            <a:chExt cx="339331" cy="4242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9328" cy="424259"/>
            </a:xfrm>
            <a:custGeom>
              <a:avLst/>
              <a:gdLst/>
              <a:ahLst/>
              <a:cxnLst/>
              <a:rect r="r" b="b" t="t" l="l"/>
              <a:pathLst>
                <a:path h="424259" w="339328">
                  <a:moveTo>
                    <a:pt x="0" y="0"/>
                  </a:moveTo>
                  <a:lnTo>
                    <a:pt x="339328" y="0"/>
                  </a:lnTo>
                  <a:lnTo>
                    <a:pt x="339328" y="424259"/>
                  </a:lnTo>
                  <a:lnTo>
                    <a:pt x="0" y="4242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15" t="0" r="-11041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39331" cy="4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745186" y="3134468"/>
            <a:ext cx="4797476" cy="3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Technical Skills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45186" y="3543891"/>
            <a:ext cx="4797476" cy="31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Do they have the essential skills listed?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1929167" y="2304898"/>
            <a:ext cx="5278784" cy="1794720"/>
          </a:xfrm>
          <a:custGeom>
            <a:avLst/>
            <a:gdLst/>
            <a:ahLst/>
            <a:cxnLst/>
            <a:rect r="r" b="b" t="t" l="l"/>
            <a:pathLst>
              <a:path h="1794720" w="5278784">
                <a:moveTo>
                  <a:pt x="0" y="0"/>
                </a:moveTo>
                <a:lnTo>
                  <a:pt x="5278784" y="0"/>
                </a:lnTo>
                <a:lnTo>
                  <a:pt x="5278784" y="1794719"/>
                </a:lnTo>
                <a:lnTo>
                  <a:pt x="0" y="17947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46" r="0" b="-346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4441243" y="2463994"/>
            <a:ext cx="254498" cy="318192"/>
            <a:chOff x="0" y="0"/>
            <a:chExt cx="339331" cy="4242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9328" cy="424259"/>
            </a:xfrm>
            <a:custGeom>
              <a:avLst/>
              <a:gdLst/>
              <a:ahLst/>
              <a:cxnLst/>
              <a:rect r="r" b="b" t="t" l="l"/>
              <a:pathLst>
                <a:path h="424259" w="339328">
                  <a:moveTo>
                    <a:pt x="0" y="0"/>
                  </a:moveTo>
                  <a:lnTo>
                    <a:pt x="339328" y="0"/>
                  </a:lnTo>
                  <a:lnTo>
                    <a:pt x="339328" y="424259"/>
                  </a:lnTo>
                  <a:lnTo>
                    <a:pt x="0" y="4242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15" t="0" r="-110416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39331" cy="4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3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169826" y="3134468"/>
            <a:ext cx="4797476" cy="3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Industry Experience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69826" y="3543891"/>
            <a:ext cx="4797476" cy="31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Have they worked in similar sectors?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1080049" y="4245473"/>
            <a:ext cx="5278641" cy="2081212"/>
          </a:xfrm>
          <a:custGeom>
            <a:avLst/>
            <a:gdLst/>
            <a:ahLst/>
            <a:cxnLst/>
            <a:rect r="r" b="b" t="t" l="l"/>
            <a:pathLst>
              <a:path h="2081212" w="5278641">
                <a:moveTo>
                  <a:pt x="0" y="0"/>
                </a:moveTo>
                <a:lnTo>
                  <a:pt x="5278641" y="0"/>
                </a:lnTo>
                <a:lnTo>
                  <a:pt x="5278641" y="2081213"/>
                </a:lnTo>
                <a:lnTo>
                  <a:pt x="0" y="20812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69" r="0" b="-269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3592116" y="4404570"/>
            <a:ext cx="254498" cy="318192"/>
            <a:chOff x="0" y="0"/>
            <a:chExt cx="339331" cy="4242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9328" cy="424259"/>
            </a:xfrm>
            <a:custGeom>
              <a:avLst/>
              <a:gdLst/>
              <a:ahLst/>
              <a:cxnLst/>
              <a:rect r="r" b="b" t="t" l="l"/>
              <a:pathLst>
                <a:path h="424259" w="339328">
                  <a:moveTo>
                    <a:pt x="0" y="0"/>
                  </a:moveTo>
                  <a:lnTo>
                    <a:pt x="339328" y="0"/>
                  </a:lnTo>
                  <a:lnTo>
                    <a:pt x="339328" y="424259"/>
                  </a:lnTo>
                  <a:lnTo>
                    <a:pt x="0" y="4242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15" t="0" r="-110416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39331" cy="4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4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320698" y="5075044"/>
            <a:ext cx="4797323" cy="3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Career Progression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20698" y="5484466"/>
            <a:ext cx="4797323" cy="31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Does their growth trajectory make sense?</a:t>
            </a:r>
          </a:p>
        </p:txBody>
      </p:sp>
      <p:sp>
        <p:nvSpPr>
          <p:cNvPr name="Freeform 32" id="32" descr="preencoded.png"/>
          <p:cNvSpPr/>
          <p:nvPr/>
        </p:nvSpPr>
        <p:spPr>
          <a:xfrm flipH="false" flipV="false" rot="0">
            <a:off x="6504537" y="4245473"/>
            <a:ext cx="5278784" cy="2081212"/>
          </a:xfrm>
          <a:custGeom>
            <a:avLst/>
            <a:gdLst/>
            <a:ahLst/>
            <a:cxnLst/>
            <a:rect r="r" b="b" t="t" l="l"/>
            <a:pathLst>
              <a:path h="2081212" w="5278784">
                <a:moveTo>
                  <a:pt x="0" y="0"/>
                </a:moveTo>
                <a:lnTo>
                  <a:pt x="5278783" y="0"/>
                </a:lnTo>
                <a:lnTo>
                  <a:pt x="5278783" y="2081213"/>
                </a:lnTo>
                <a:lnTo>
                  <a:pt x="0" y="20812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70" r="0" b="-27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9016603" y="4404570"/>
            <a:ext cx="254498" cy="318192"/>
            <a:chOff x="0" y="0"/>
            <a:chExt cx="339331" cy="4242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39328" cy="424259"/>
            </a:xfrm>
            <a:custGeom>
              <a:avLst/>
              <a:gdLst/>
              <a:ahLst/>
              <a:cxnLst/>
              <a:rect r="r" b="b" t="t" l="l"/>
              <a:pathLst>
                <a:path h="424259" w="339328">
                  <a:moveTo>
                    <a:pt x="0" y="0"/>
                  </a:moveTo>
                  <a:lnTo>
                    <a:pt x="339328" y="0"/>
                  </a:lnTo>
                  <a:lnTo>
                    <a:pt x="339328" y="424259"/>
                  </a:lnTo>
                  <a:lnTo>
                    <a:pt x="0" y="4242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15" t="0" r="-110416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339331" cy="4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5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745186" y="5075044"/>
            <a:ext cx="4797476" cy="3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Qualifications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45186" y="5484466"/>
            <a:ext cx="4797476" cy="60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Do they meet education and certification requirements?</a:t>
            </a:r>
          </a:p>
        </p:txBody>
      </p:sp>
      <p:sp>
        <p:nvSpPr>
          <p:cNvPr name="Freeform 38" id="38" descr="preencoded.png"/>
          <p:cNvSpPr/>
          <p:nvPr/>
        </p:nvSpPr>
        <p:spPr>
          <a:xfrm flipH="false" flipV="false" rot="0">
            <a:off x="11929167" y="4245473"/>
            <a:ext cx="5278784" cy="2081212"/>
          </a:xfrm>
          <a:custGeom>
            <a:avLst/>
            <a:gdLst/>
            <a:ahLst/>
            <a:cxnLst/>
            <a:rect r="r" b="b" t="t" l="l"/>
            <a:pathLst>
              <a:path h="2081212" w="5278784">
                <a:moveTo>
                  <a:pt x="0" y="0"/>
                </a:moveTo>
                <a:lnTo>
                  <a:pt x="5278784" y="0"/>
                </a:lnTo>
                <a:lnTo>
                  <a:pt x="5278784" y="2081213"/>
                </a:lnTo>
                <a:lnTo>
                  <a:pt x="0" y="20812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70" r="0" b="-27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4441243" y="4404570"/>
            <a:ext cx="254498" cy="318192"/>
            <a:chOff x="0" y="0"/>
            <a:chExt cx="339331" cy="4242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39328" cy="424259"/>
            </a:xfrm>
            <a:custGeom>
              <a:avLst/>
              <a:gdLst/>
              <a:ahLst/>
              <a:cxnLst/>
              <a:rect r="r" b="b" t="t" l="l"/>
              <a:pathLst>
                <a:path h="424259" w="339328">
                  <a:moveTo>
                    <a:pt x="0" y="0"/>
                  </a:moveTo>
                  <a:lnTo>
                    <a:pt x="339328" y="0"/>
                  </a:lnTo>
                  <a:lnTo>
                    <a:pt x="339328" y="424259"/>
                  </a:lnTo>
                  <a:lnTo>
                    <a:pt x="0" y="4242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15" t="0" r="-110416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339331" cy="4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6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169826" y="5075044"/>
            <a:ext cx="4797476" cy="3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Location / Availability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169826" y="5484466"/>
            <a:ext cx="4797476" cy="31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Can they work in the required location?</a:t>
            </a:r>
          </a:p>
        </p:txBody>
      </p:sp>
      <p:sp>
        <p:nvSpPr>
          <p:cNvPr name="Freeform 44" id="44" descr="preencoded.png"/>
          <p:cNvSpPr/>
          <p:nvPr/>
        </p:nvSpPr>
        <p:spPr>
          <a:xfrm flipH="false" flipV="false" rot="0">
            <a:off x="1080049" y="6472533"/>
            <a:ext cx="16127911" cy="1794720"/>
          </a:xfrm>
          <a:custGeom>
            <a:avLst/>
            <a:gdLst/>
            <a:ahLst/>
            <a:cxnLst/>
            <a:rect r="r" b="b" t="t" l="l"/>
            <a:pathLst>
              <a:path h="1794720" w="16127911">
                <a:moveTo>
                  <a:pt x="0" y="0"/>
                </a:moveTo>
                <a:lnTo>
                  <a:pt x="16127911" y="0"/>
                </a:lnTo>
                <a:lnTo>
                  <a:pt x="16127911" y="1794719"/>
                </a:lnTo>
                <a:lnTo>
                  <a:pt x="0" y="17947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95" r="0" b="-395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9016756" y="6631629"/>
            <a:ext cx="254498" cy="318192"/>
            <a:chOff x="0" y="0"/>
            <a:chExt cx="339331" cy="4242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9328" cy="424259"/>
            </a:xfrm>
            <a:custGeom>
              <a:avLst/>
              <a:gdLst/>
              <a:ahLst/>
              <a:cxnLst/>
              <a:rect r="r" b="b" t="t" l="l"/>
              <a:pathLst>
                <a:path h="424259" w="339328">
                  <a:moveTo>
                    <a:pt x="0" y="0"/>
                  </a:moveTo>
                  <a:lnTo>
                    <a:pt x="339328" y="0"/>
                  </a:lnTo>
                  <a:lnTo>
                    <a:pt x="339328" y="424259"/>
                  </a:lnTo>
                  <a:lnTo>
                    <a:pt x="0" y="4242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15" t="0" r="-110416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339331" cy="4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7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20698" y="7302103"/>
            <a:ext cx="15646594" cy="3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Overall Role Fit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20698" y="7711526"/>
            <a:ext cx="15646594" cy="31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Would they succeed in this position?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080049" y="8431263"/>
            <a:ext cx="16127911" cy="956072"/>
            <a:chOff x="0" y="0"/>
            <a:chExt cx="21503881" cy="127476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503894" cy="1274700"/>
            </a:xfrm>
            <a:custGeom>
              <a:avLst/>
              <a:gdLst/>
              <a:ahLst/>
              <a:cxnLst/>
              <a:rect r="r" b="b" t="t" l="l"/>
              <a:pathLst>
                <a:path h="1274700" w="21503894">
                  <a:moveTo>
                    <a:pt x="0" y="42418"/>
                  </a:moveTo>
                  <a:cubicBezTo>
                    <a:pt x="0" y="19050"/>
                    <a:pt x="19050" y="0"/>
                    <a:pt x="42418" y="0"/>
                  </a:cubicBezTo>
                  <a:lnTo>
                    <a:pt x="21461476" y="0"/>
                  </a:lnTo>
                  <a:cubicBezTo>
                    <a:pt x="21484971" y="0"/>
                    <a:pt x="21503894" y="19050"/>
                    <a:pt x="21503894" y="42418"/>
                  </a:cubicBezTo>
                  <a:lnTo>
                    <a:pt x="21503894" y="1232281"/>
                  </a:lnTo>
                  <a:cubicBezTo>
                    <a:pt x="21503894" y="1255776"/>
                    <a:pt x="21484844" y="1274699"/>
                    <a:pt x="21461476" y="1274699"/>
                  </a:cubicBezTo>
                  <a:lnTo>
                    <a:pt x="42418" y="1274699"/>
                  </a:lnTo>
                  <a:cubicBezTo>
                    <a:pt x="19050" y="1274826"/>
                    <a:pt x="0" y="1255776"/>
                    <a:pt x="0" y="1232281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92123" y="8644528"/>
            <a:ext cx="265214" cy="212084"/>
            <a:chOff x="0" y="0"/>
            <a:chExt cx="353619" cy="282778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353568" cy="282829"/>
            </a:xfrm>
            <a:custGeom>
              <a:avLst/>
              <a:gdLst/>
              <a:ahLst/>
              <a:cxnLst/>
              <a:rect r="r" b="b" t="t" l="l"/>
              <a:pathLst>
                <a:path h="282829" w="353568">
                  <a:moveTo>
                    <a:pt x="0" y="0"/>
                  </a:moveTo>
                  <a:lnTo>
                    <a:pt x="353568" y="0"/>
                  </a:lnTo>
                  <a:lnTo>
                    <a:pt x="353568" y="282829"/>
                  </a:lnTo>
                  <a:lnTo>
                    <a:pt x="0" y="28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360" r="-14" b="-1342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769421" y="8601523"/>
            <a:ext cx="15226455" cy="60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1600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Important:</a:t>
            </a:r>
            <a:r>
              <a:rPr lang="en-US" sz="16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Do not screen candidates based only on job titles. Look at actual skills and responsibilities. A candidate with a different title but relevant skills may be stronger than you initially think.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87016"/>
            <a:ext cx="16127911" cy="85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Candidate Screening Questions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2120951"/>
            <a:ext cx="17042311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Use these questions during initial screening calls or emails to qualify candidates efficiently: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0049" y="2809284"/>
            <a:ext cx="7954118" cy="1827314"/>
            <a:chOff x="0" y="0"/>
            <a:chExt cx="10605491" cy="24364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05515" cy="2436368"/>
            </a:xfrm>
            <a:custGeom>
              <a:avLst/>
              <a:gdLst/>
              <a:ahLst/>
              <a:cxnLst/>
              <a:rect r="r" b="b" t="t" l="l"/>
              <a:pathLst>
                <a:path h="2436368" w="10605515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553446" y="0"/>
                  </a:lnTo>
                  <a:cubicBezTo>
                    <a:pt x="10582148" y="0"/>
                    <a:pt x="10605515" y="23368"/>
                    <a:pt x="10605515" y="52070"/>
                  </a:cubicBezTo>
                  <a:lnTo>
                    <a:pt x="10605515" y="2384298"/>
                  </a:lnTo>
                  <a:cubicBezTo>
                    <a:pt x="10605515" y="2413000"/>
                    <a:pt x="10582148" y="2436368"/>
                    <a:pt x="10553446" y="2436368"/>
                  </a:cubicBezTo>
                  <a:lnTo>
                    <a:pt x="52070" y="2436368"/>
                  </a:lnTo>
                  <a:cubicBezTo>
                    <a:pt x="23368" y="2436368"/>
                    <a:pt x="0" y="2413000"/>
                    <a:pt x="0" y="238429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40348" y="3050534"/>
            <a:ext cx="7433520" cy="42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Current Role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0348" y="3550891"/>
            <a:ext cx="7433520" cy="82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Can you briefly describe your current role and key responsibilities?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53833" y="2809284"/>
            <a:ext cx="7954118" cy="1827314"/>
            <a:chOff x="0" y="0"/>
            <a:chExt cx="10605491" cy="24364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05515" cy="2436368"/>
            </a:xfrm>
            <a:custGeom>
              <a:avLst/>
              <a:gdLst/>
              <a:ahLst/>
              <a:cxnLst/>
              <a:rect r="r" b="b" t="t" l="l"/>
              <a:pathLst>
                <a:path h="2436368" w="10605515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553446" y="0"/>
                  </a:lnTo>
                  <a:cubicBezTo>
                    <a:pt x="10582148" y="0"/>
                    <a:pt x="10605515" y="23368"/>
                    <a:pt x="10605515" y="52070"/>
                  </a:cubicBezTo>
                  <a:lnTo>
                    <a:pt x="10605515" y="2384298"/>
                  </a:lnTo>
                  <a:cubicBezTo>
                    <a:pt x="10605515" y="2413000"/>
                    <a:pt x="10582148" y="2436368"/>
                    <a:pt x="10553446" y="2436368"/>
                  </a:cubicBezTo>
                  <a:lnTo>
                    <a:pt x="52070" y="2436368"/>
                  </a:lnTo>
                  <a:cubicBezTo>
                    <a:pt x="23368" y="2436368"/>
                    <a:pt x="0" y="2413000"/>
                    <a:pt x="0" y="238429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514132" y="3050534"/>
            <a:ext cx="7433520" cy="42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Motivation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14132" y="3550891"/>
            <a:ext cx="743352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Why are you considering a new opportunity at this time?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80049" y="4856264"/>
            <a:ext cx="7954118" cy="1827314"/>
            <a:chOff x="0" y="0"/>
            <a:chExt cx="10605491" cy="24364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05515" cy="2436368"/>
            </a:xfrm>
            <a:custGeom>
              <a:avLst/>
              <a:gdLst/>
              <a:ahLst/>
              <a:cxnLst/>
              <a:rect r="r" b="b" t="t" l="l"/>
              <a:pathLst>
                <a:path h="2436368" w="10605515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553446" y="0"/>
                  </a:lnTo>
                  <a:cubicBezTo>
                    <a:pt x="10582148" y="0"/>
                    <a:pt x="10605515" y="23368"/>
                    <a:pt x="10605515" y="52070"/>
                  </a:cubicBezTo>
                  <a:lnTo>
                    <a:pt x="10605515" y="2384298"/>
                  </a:lnTo>
                  <a:cubicBezTo>
                    <a:pt x="10605515" y="2413000"/>
                    <a:pt x="10582148" y="2436368"/>
                    <a:pt x="10553446" y="2436368"/>
                  </a:cubicBezTo>
                  <a:lnTo>
                    <a:pt x="52070" y="2436368"/>
                  </a:lnTo>
                  <a:cubicBezTo>
                    <a:pt x="23368" y="2436368"/>
                    <a:pt x="0" y="2413000"/>
                    <a:pt x="0" y="238429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40348" y="5097513"/>
            <a:ext cx="7433520" cy="42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Relevant Experience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0348" y="5597871"/>
            <a:ext cx="7433520" cy="82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experience do you have that is most relevant to this position?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53833" y="4856264"/>
            <a:ext cx="7954118" cy="1827314"/>
            <a:chOff x="0" y="0"/>
            <a:chExt cx="10605491" cy="24364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05515" cy="2436368"/>
            </a:xfrm>
            <a:custGeom>
              <a:avLst/>
              <a:gdLst/>
              <a:ahLst/>
              <a:cxnLst/>
              <a:rect r="r" b="b" t="t" l="l"/>
              <a:pathLst>
                <a:path h="2436368" w="10605515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553446" y="0"/>
                  </a:lnTo>
                  <a:cubicBezTo>
                    <a:pt x="10582148" y="0"/>
                    <a:pt x="10605515" y="23368"/>
                    <a:pt x="10605515" y="52070"/>
                  </a:cubicBezTo>
                  <a:lnTo>
                    <a:pt x="10605515" y="2384298"/>
                  </a:lnTo>
                  <a:cubicBezTo>
                    <a:pt x="10605515" y="2413000"/>
                    <a:pt x="10582148" y="2436368"/>
                    <a:pt x="10553446" y="2436368"/>
                  </a:cubicBezTo>
                  <a:lnTo>
                    <a:pt x="52070" y="2436368"/>
                  </a:lnTo>
                  <a:cubicBezTo>
                    <a:pt x="23368" y="2436368"/>
                    <a:pt x="0" y="2413000"/>
                    <a:pt x="0" y="238429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514132" y="5097513"/>
            <a:ext cx="7433520" cy="42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Availability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14132" y="5597871"/>
            <a:ext cx="7433520" cy="82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is your availability to start? What location are you currently based in?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80049" y="6903244"/>
            <a:ext cx="7954118" cy="1827314"/>
            <a:chOff x="0" y="0"/>
            <a:chExt cx="10605491" cy="24364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05515" cy="2436368"/>
            </a:xfrm>
            <a:custGeom>
              <a:avLst/>
              <a:gdLst/>
              <a:ahLst/>
              <a:cxnLst/>
              <a:rect r="r" b="b" t="t" l="l"/>
              <a:pathLst>
                <a:path h="2436368" w="10605515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553446" y="0"/>
                  </a:lnTo>
                  <a:cubicBezTo>
                    <a:pt x="10582148" y="0"/>
                    <a:pt x="10605515" y="23368"/>
                    <a:pt x="10605515" y="52070"/>
                  </a:cubicBezTo>
                  <a:lnTo>
                    <a:pt x="10605515" y="2384298"/>
                  </a:lnTo>
                  <a:cubicBezTo>
                    <a:pt x="10605515" y="2413000"/>
                    <a:pt x="10582148" y="2436368"/>
                    <a:pt x="10553446" y="2436368"/>
                  </a:cubicBezTo>
                  <a:lnTo>
                    <a:pt x="52070" y="2436368"/>
                  </a:lnTo>
                  <a:cubicBezTo>
                    <a:pt x="23368" y="2436368"/>
                    <a:pt x="0" y="2413000"/>
                    <a:pt x="0" y="238429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40348" y="7144493"/>
            <a:ext cx="7433520" cy="42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Work Arrangement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0348" y="7644851"/>
            <a:ext cx="7433520" cy="82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Are you open to the required work arrangement — office, hybrid, or remote?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53833" y="6903244"/>
            <a:ext cx="7954118" cy="1827314"/>
            <a:chOff x="0" y="0"/>
            <a:chExt cx="10605491" cy="243641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05515" cy="2436368"/>
            </a:xfrm>
            <a:custGeom>
              <a:avLst/>
              <a:gdLst/>
              <a:ahLst/>
              <a:cxnLst/>
              <a:rect r="r" b="b" t="t" l="l"/>
              <a:pathLst>
                <a:path h="2436368" w="10605515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553446" y="0"/>
                  </a:lnTo>
                  <a:cubicBezTo>
                    <a:pt x="10582148" y="0"/>
                    <a:pt x="10605515" y="23368"/>
                    <a:pt x="10605515" y="52070"/>
                  </a:cubicBezTo>
                  <a:lnTo>
                    <a:pt x="10605515" y="2384298"/>
                  </a:lnTo>
                  <a:cubicBezTo>
                    <a:pt x="10605515" y="2413000"/>
                    <a:pt x="10582148" y="2436368"/>
                    <a:pt x="10553446" y="2436368"/>
                  </a:cubicBezTo>
                  <a:lnTo>
                    <a:pt x="52070" y="2436368"/>
                  </a:lnTo>
                  <a:cubicBezTo>
                    <a:pt x="23368" y="2436368"/>
                    <a:pt x="0" y="2413000"/>
                    <a:pt x="0" y="238429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514132" y="7144493"/>
            <a:ext cx="7433520" cy="42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Compensation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14132" y="7644851"/>
            <a:ext cx="743352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are your salary expectations for this role?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80049" y="8920458"/>
            <a:ext cx="17042311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Keep questions professional, legally appropriate, and focused on job-related criteria only.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103557"/>
            <a:ext cx="1612791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60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Interview Preparation Checklist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2637530"/>
            <a:ext cx="17042311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Before each interview, ensure you are fully prepared to assess the candidate fairly and thoroughly: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0049" y="3844080"/>
            <a:ext cx="7687570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Candidate Review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049" y="4577658"/>
            <a:ext cx="7687570" cy="2384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Review the candidate's CV thoroughly</a:t>
            </a:r>
          </a:p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Review the job description and requirements</a:t>
            </a:r>
          </a:p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Prepare role-specific questions</a:t>
            </a:r>
          </a:p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☐ Define evaluation criteria for scoring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07706" y="3564141"/>
            <a:ext cx="8131969" cy="3506095"/>
            <a:chOff x="0" y="0"/>
            <a:chExt cx="10842625" cy="46747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42625" cy="4674743"/>
            </a:xfrm>
            <a:custGeom>
              <a:avLst/>
              <a:gdLst/>
              <a:ahLst/>
              <a:cxnLst/>
              <a:rect r="r" b="b" t="t" l="l"/>
              <a:pathLst>
                <a:path h="4674743" w="10842625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0780903" y="0"/>
                  </a:lnTo>
                  <a:cubicBezTo>
                    <a:pt x="10814939" y="0"/>
                    <a:pt x="10842625" y="27686"/>
                    <a:pt x="10842625" y="61722"/>
                  </a:cubicBezTo>
                  <a:lnTo>
                    <a:pt x="10842625" y="4613021"/>
                  </a:lnTo>
                  <a:cubicBezTo>
                    <a:pt x="10842625" y="4647057"/>
                    <a:pt x="10814939" y="4674743"/>
                    <a:pt x="10780903" y="4674743"/>
                  </a:cubicBezTo>
                  <a:lnTo>
                    <a:pt x="61722" y="4674743"/>
                  </a:lnTo>
                  <a:cubicBezTo>
                    <a:pt x="27686" y="4674743"/>
                    <a:pt x="0" y="4647057"/>
                    <a:pt x="0" y="4613021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616230" y="3844080"/>
            <a:ext cx="7514930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Interview Execution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16230" y="4577658"/>
            <a:ext cx="7514930" cy="2384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Prepare behavioural questions (STAR method)</a:t>
            </a:r>
          </a:p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Prepare technical questions where appropriate</a:t>
            </a:r>
          </a:p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Plan to keep detailed interview notes</a:t>
            </a:r>
          </a:p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☐ Prepare to explain next steps clearly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80049" y="7417298"/>
            <a:ext cx="16127911" cy="1728045"/>
            <a:chOff x="0" y="0"/>
            <a:chExt cx="21503881" cy="23040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503894" cy="2304034"/>
            </a:xfrm>
            <a:custGeom>
              <a:avLst/>
              <a:gdLst/>
              <a:ahLst/>
              <a:cxnLst/>
              <a:rect r="r" b="b" t="t" l="l"/>
              <a:pathLst>
                <a:path h="2304034" w="21503894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21442172" y="0"/>
                  </a:lnTo>
                  <a:cubicBezTo>
                    <a:pt x="21476208" y="0"/>
                    <a:pt x="21503894" y="27686"/>
                    <a:pt x="21503894" y="61722"/>
                  </a:cubicBezTo>
                  <a:lnTo>
                    <a:pt x="21503894" y="2242312"/>
                  </a:lnTo>
                  <a:cubicBezTo>
                    <a:pt x="21503894" y="2276348"/>
                    <a:pt x="21476208" y="2304034"/>
                    <a:pt x="21442172" y="2304034"/>
                  </a:cubicBezTo>
                  <a:lnTo>
                    <a:pt x="61722" y="2304034"/>
                  </a:lnTo>
                  <a:cubicBezTo>
                    <a:pt x="27686" y="2304034"/>
                    <a:pt x="0" y="2276348"/>
                    <a:pt x="0" y="2242312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88564" y="7856782"/>
            <a:ext cx="385762" cy="308524"/>
            <a:chOff x="0" y="0"/>
            <a:chExt cx="514350" cy="41136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514350" cy="411353"/>
            </a:xfrm>
            <a:custGeom>
              <a:avLst/>
              <a:gdLst/>
              <a:ahLst/>
              <a:cxnLst/>
              <a:rect r="r" b="b" t="t" l="l"/>
              <a:pathLst>
                <a:path h="411353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11353"/>
                  </a:lnTo>
                  <a:lnTo>
                    <a:pt x="0" y="411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7" r="0" b="-324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082851" y="7717184"/>
            <a:ext cx="14816585" cy="107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The </a:t>
            </a:r>
            <a:r>
              <a:rPr lang="en-US" sz="2400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STAR method</a:t>
            </a:r>
            <a:r>
              <a:rPr lang="en-US" sz="24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(Situation, Task, Action, Result) helps candidates give structured answers and helps you assess real-world capability rather than hypothetical responses.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115911"/>
            <a:ext cx="16127911" cy="85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Interview Evaluation Framework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2349846"/>
            <a:ext cx="17042311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Score each candidate on these dimensions. Use a </a:t>
            </a:r>
            <a:r>
              <a:rPr lang="en-US" sz="20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1–5 scale</a:t>
            </a: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: </a:t>
            </a:r>
            <a:r>
              <a:rPr lang="en-US" sz="2000">
                <a:solidFill>
                  <a:srgbClr val="E67E22"/>
                </a:solidFill>
                <a:latin typeface="Heebo"/>
                <a:ea typeface="Heebo"/>
                <a:cs typeface="Heebo"/>
                <a:sym typeface="Heebo"/>
              </a:rPr>
              <a:t>1 = Does not meet requirements</a:t>
            </a: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→ </a:t>
            </a:r>
            <a:r>
              <a:rPr lang="en-US" sz="2000">
                <a:solidFill>
                  <a:srgbClr val="2C3E50"/>
                </a:solidFill>
                <a:latin typeface="Heebo"/>
                <a:ea typeface="Heebo"/>
                <a:cs typeface="Heebo"/>
                <a:sym typeface="Heebo"/>
              </a:rPr>
              <a:t>5 = Exceeds requirements</a:t>
            </a: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75287" y="3033417"/>
            <a:ext cx="16137436" cy="6104182"/>
            <a:chOff x="0" y="0"/>
            <a:chExt cx="21516581" cy="81389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16594" cy="8138922"/>
            </a:xfrm>
            <a:custGeom>
              <a:avLst/>
              <a:gdLst/>
              <a:ahLst/>
              <a:cxnLst/>
              <a:rect r="r" b="b" t="t" l="l"/>
              <a:pathLst>
                <a:path h="8138922" w="21516594">
                  <a:moveTo>
                    <a:pt x="0" y="52197"/>
                  </a:moveTo>
                  <a:cubicBezTo>
                    <a:pt x="0" y="23368"/>
                    <a:pt x="23368" y="0"/>
                    <a:pt x="52197" y="0"/>
                  </a:cubicBezTo>
                  <a:lnTo>
                    <a:pt x="21464397" y="0"/>
                  </a:lnTo>
                  <a:cubicBezTo>
                    <a:pt x="21493226" y="0"/>
                    <a:pt x="21516594" y="23368"/>
                    <a:pt x="21516594" y="52197"/>
                  </a:cubicBezTo>
                  <a:lnTo>
                    <a:pt x="21516594" y="8086725"/>
                  </a:lnTo>
                  <a:cubicBezTo>
                    <a:pt x="21516594" y="8115554"/>
                    <a:pt x="21493226" y="8138922"/>
                    <a:pt x="21464397" y="8138922"/>
                  </a:cubicBezTo>
                  <a:lnTo>
                    <a:pt x="52197" y="8138922"/>
                  </a:lnTo>
                  <a:cubicBezTo>
                    <a:pt x="23368" y="8138922"/>
                    <a:pt x="0" y="8115554"/>
                    <a:pt x="0" y="808672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1" r="0" b="-1511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80049" y="3719065"/>
            <a:ext cx="16127911" cy="16278"/>
            <a:chOff x="0" y="0"/>
            <a:chExt cx="21503881" cy="217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03894" cy="21717"/>
            </a:xfrm>
            <a:custGeom>
              <a:avLst/>
              <a:gdLst/>
              <a:ahLst/>
              <a:cxnLst/>
              <a:rect r="r" b="b" t="t" l="l"/>
              <a:pathLst>
                <a:path h="21717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1717"/>
                  </a:lnTo>
                  <a:lnTo>
                    <a:pt x="0" y="21717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0049" y="4395187"/>
            <a:ext cx="16127911" cy="16278"/>
            <a:chOff x="0" y="0"/>
            <a:chExt cx="21503881" cy="217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503894" cy="21717"/>
            </a:xfrm>
            <a:custGeom>
              <a:avLst/>
              <a:gdLst/>
              <a:ahLst/>
              <a:cxnLst/>
              <a:rect r="r" b="b" t="t" l="l"/>
              <a:pathLst>
                <a:path h="21717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1717"/>
                  </a:lnTo>
                  <a:lnTo>
                    <a:pt x="0" y="21717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0049" y="5071320"/>
            <a:ext cx="16127911" cy="16278"/>
            <a:chOff x="0" y="0"/>
            <a:chExt cx="21503881" cy="217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503894" cy="21717"/>
            </a:xfrm>
            <a:custGeom>
              <a:avLst/>
              <a:gdLst/>
              <a:ahLst/>
              <a:cxnLst/>
              <a:rect r="r" b="b" t="t" l="l"/>
              <a:pathLst>
                <a:path h="21717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1717"/>
                  </a:lnTo>
                  <a:lnTo>
                    <a:pt x="0" y="21717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80049" y="5747442"/>
            <a:ext cx="16127911" cy="16278"/>
            <a:chOff x="0" y="0"/>
            <a:chExt cx="21503881" cy="217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03894" cy="21717"/>
            </a:xfrm>
            <a:custGeom>
              <a:avLst/>
              <a:gdLst/>
              <a:ahLst/>
              <a:cxnLst/>
              <a:rect r="r" b="b" t="t" l="l"/>
              <a:pathLst>
                <a:path h="21717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1717"/>
                  </a:lnTo>
                  <a:lnTo>
                    <a:pt x="0" y="21717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0049" y="6423574"/>
            <a:ext cx="16127911" cy="16278"/>
            <a:chOff x="0" y="0"/>
            <a:chExt cx="21503881" cy="217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503894" cy="21717"/>
            </a:xfrm>
            <a:custGeom>
              <a:avLst/>
              <a:gdLst/>
              <a:ahLst/>
              <a:cxnLst/>
              <a:rect r="r" b="b" t="t" l="l"/>
              <a:pathLst>
                <a:path h="21717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1717"/>
                  </a:lnTo>
                  <a:lnTo>
                    <a:pt x="0" y="21717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80049" y="7099697"/>
            <a:ext cx="16127911" cy="16278"/>
            <a:chOff x="0" y="0"/>
            <a:chExt cx="21503881" cy="217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503894" cy="21717"/>
            </a:xfrm>
            <a:custGeom>
              <a:avLst/>
              <a:gdLst/>
              <a:ahLst/>
              <a:cxnLst/>
              <a:rect r="r" b="b" t="t" l="l"/>
              <a:pathLst>
                <a:path h="21717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1717"/>
                  </a:lnTo>
                  <a:lnTo>
                    <a:pt x="0" y="21717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80049" y="7775819"/>
            <a:ext cx="16127911" cy="16278"/>
            <a:chOff x="0" y="0"/>
            <a:chExt cx="21503881" cy="217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3894" cy="21717"/>
            </a:xfrm>
            <a:custGeom>
              <a:avLst/>
              <a:gdLst/>
              <a:ahLst/>
              <a:cxnLst/>
              <a:rect r="r" b="b" t="t" l="l"/>
              <a:pathLst>
                <a:path h="21717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1717"/>
                  </a:lnTo>
                  <a:lnTo>
                    <a:pt x="0" y="21717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80049" y="8451952"/>
            <a:ext cx="16127911" cy="16278"/>
            <a:chOff x="0" y="0"/>
            <a:chExt cx="21503881" cy="217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503894" cy="21717"/>
            </a:xfrm>
            <a:custGeom>
              <a:avLst/>
              <a:gdLst/>
              <a:ahLst/>
              <a:cxnLst/>
              <a:rect r="r" b="b" t="t" l="l"/>
              <a:pathLst>
                <a:path h="21717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1717"/>
                  </a:lnTo>
                  <a:lnTo>
                    <a:pt x="0" y="21717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89870" y="3047705"/>
            <a:ext cx="4510383" cy="671360"/>
            <a:chOff x="0" y="0"/>
            <a:chExt cx="6013844" cy="8951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13831" cy="895096"/>
            </a:xfrm>
            <a:custGeom>
              <a:avLst/>
              <a:gdLst/>
              <a:ahLst/>
              <a:cxnLst/>
              <a:rect r="r" b="b" t="t" l="l"/>
              <a:pathLst>
                <a:path h="895096" w="6013831">
                  <a:moveTo>
                    <a:pt x="43434" y="0"/>
                  </a:moveTo>
                  <a:lnTo>
                    <a:pt x="6013831" y="0"/>
                  </a:lnTo>
                  <a:lnTo>
                    <a:pt x="6013831" y="895096"/>
                  </a:lnTo>
                  <a:lnTo>
                    <a:pt x="0" y="895096"/>
                  </a:lnTo>
                  <a:lnTo>
                    <a:pt x="0" y="43434"/>
                  </a:lnTo>
                  <a:cubicBezTo>
                    <a:pt x="0" y="19431"/>
                    <a:pt x="19431" y="0"/>
                    <a:pt x="43434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50169" y="3131791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Evaluation Dimension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600252" y="3047705"/>
            <a:ext cx="1932984" cy="671360"/>
            <a:chOff x="0" y="0"/>
            <a:chExt cx="2577313" cy="8951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77338" cy="895096"/>
            </a:xfrm>
            <a:custGeom>
              <a:avLst/>
              <a:gdLst/>
              <a:ahLst/>
              <a:cxnLst/>
              <a:rect r="r" b="b" t="t" l="l"/>
              <a:pathLst>
                <a:path h="895096" w="2577338">
                  <a:moveTo>
                    <a:pt x="0" y="0"/>
                  </a:moveTo>
                  <a:lnTo>
                    <a:pt x="2577338" y="0"/>
                  </a:lnTo>
                  <a:lnTo>
                    <a:pt x="2577338" y="895096"/>
                  </a:lnTo>
                  <a:lnTo>
                    <a:pt x="0" y="895096"/>
                  </a:lnTo>
                  <a:close/>
                </a:path>
              </a:pathLst>
            </a:custGeom>
            <a:solidFill>
              <a:srgbClr val="2C3E50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5860552" y="3131791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Score (1–5)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533237" y="3047705"/>
            <a:ext cx="9665198" cy="671360"/>
            <a:chOff x="0" y="0"/>
            <a:chExt cx="12886931" cy="8951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86944" cy="895096"/>
            </a:xfrm>
            <a:custGeom>
              <a:avLst/>
              <a:gdLst/>
              <a:ahLst/>
              <a:cxnLst/>
              <a:rect r="r" b="b" t="t" l="l"/>
              <a:pathLst>
                <a:path h="895096" w="12886944">
                  <a:moveTo>
                    <a:pt x="0" y="0"/>
                  </a:moveTo>
                  <a:lnTo>
                    <a:pt x="12843510" y="0"/>
                  </a:lnTo>
                  <a:cubicBezTo>
                    <a:pt x="12867513" y="0"/>
                    <a:pt x="12886944" y="19431"/>
                    <a:pt x="12886944" y="43434"/>
                  </a:cubicBezTo>
                  <a:lnTo>
                    <a:pt x="12886944" y="895096"/>
                  </a:lnTo>
                  <a:lnTo>
                    <a:pt x="0" y="8950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3E50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7793536" y="3131791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Notes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0169" y="3807914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Technical Skills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860552" y="3807914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93536" y="3807914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_____________________________________________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0169" y="4484046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Relevant Experience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860552" y="4484046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793536" y="4484046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_____________________________________________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50169" y="5160169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Communication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860552" y="5160169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793536" y="5160169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_____________________________________________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50169" y="5836291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Problem Solving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860552" y="5836291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793536" y="5836291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_____________________________________________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50169" y="6512423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Role Understanding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860552" y="6512423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793536" y="6512423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_____________________________________________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50169" y="7188546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Culture / Team Fit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860552" y="7188546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793536" y="7188546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_____________________________________________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50169" y="7864678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Motivation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860552" y="7864678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793536" y="7864678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_____________________________________________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089870" y="8451952"/>
            <a:ext cx="4510383" cy="671360"/>
            <a:chOff x="0" y="0"/>
            <a:chExt cx="6013844" cy="89514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13831" cy="895096"/>
            </a:xfrm>
            <a:custGeom>
              <a:avLst/>
              <a:gdLst/>
              <a:ahLst/>
              <a:cxnLst/>
              <a:rect r="r" b="b" t="t" l="l"/>
              <a:pathLst>
                <a:path h="895096" w="6013831">
                  <a:moveTo>
                    <a:pt x="0" y="0"/>
                  </a:moveTo>
                  <a:lnTo>
                    <a:pt x="6013831" y="0"/>
                  </a:lnTo>
                  <a:lnTo>
                    <a:pt x="6013831" y="895096"/>
                  </a:lnTo>
                  <a:lnTo>
                    <a:pt x="43434" y="895096"/>
                  </a:lnTo>
                  <a:cubicBezTo>
                    <a:pt x="19431" y="895096"/>
                    <a:pt x="0" y="875665"/>
                    <a:pt x="0" y="85178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CF0F1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350169" y="8540801"/>
            <a:ext cx="4904184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Total Score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5600252" y="8451952"/>
            <a:ext cx="1932984" cy="671360"/>
            <a:chOff x="0" y="0"/>
            <a:chExt cx="2577313" cy="89514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77338" cy="895096"/>
            </a:xfrm>
            <a:custGeom>
              <a:avLst/>
              <a:gdLst/>
              <a:ahLst/>
              <a:cxnLst/>
              <a:rect r="r" b="b" t="t" l="l"/>
              <a:pathLst>
                <a:path h="895096" w="2577338">
                  <a:moveTo>
                    <a:pt x="0" y="0"/>
                  </a:moveTo>
                  <a:lnTo>
                    <a:pt x="2577338" y="0"/>
                  </a:lnTo>
                  <a:lnTo>
                    <a:pt x="2577338" y="895096"/>
                  </a:lnTo>
                  <a:lnTo>
                    <a:pt x="0" y="895096"/>
                  </a:lnTo>
                  <a:close/>
                </a:path>
              </a:pathLst>
            </a:custGeom>
            <a:solidFill>
              <a:srgbClr val="ECF0F1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5860552" y="8540801"/>
            <a:ext cx="2326777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_____ / 35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7533237" y="8451952"/>
            <a:ext cx="9665198" cy="671360"/>
            <a:chOff x="0" y="0"/>
            <a:chExt cx="12886931" cy="89514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886944" cy="895223"/>
            </a:xfrm>
            <a:custGeom>
              <a:avLst/>
              <a:gdLst/>
              <a:ahLst/>
              <a:cxnLst/>
              <a:rect r="r" b="b" t="t" l="l"/>
              <a:pathLst>
                <a:path h="895223" w="12886944">
                  <a:moveTo>
                    <a:pt x="0" y="0"/>
                  </a:moveTo>
                  <a:lnTo>
                    <a:pt x="12886944" y="0"/>
                  </a:lnTo>
                  <a:lnTo>
                    <a:pt x="12886944" y="851789"/>
                  </a:lnTo>
                  <a:cubicBezTo>
                    <a:pt x="12886944" y="875792"/>
                    <a:pt x="12867513" y="895223"/>
                    <a:pt x="12843510" y="895223"/>
                  </a:cubicBezTo>
                  <a:lnTo>
                    <a:pt x="0" y="8950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F0F1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7793536" y="8540801"/>
            <a:ext cx="10059000" cy="44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000">
                <a:solidFill>
                  <a:srgbClr val="272525"/>
                </a:solidFill>
                <a:latin typeface="Heebo"/>
                <a:ea typeface="Heebo"/>
                <a:cs typeface="Heebo"/>
                <a:sym typeface="Heebo"/>
              </a:rPr>
              <a:t>Keep scoring objective and based on job-related criteria only.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051474"/>
            <a:ext cx="1612791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2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Candidate Comparison Table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2307279"/>
            <a:ext cx="17042311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Use this table to compare shortlisted candidates fairly and consistently against the same criteria: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75287" y="3010348"/>
            <a:ext cx="16137436" cy="4590755"/>
            <a:chOff x="0" y="0"/>
            <a:chExt cx="21516581" cy="61210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16595" cy="6120892"/>
            </a:xfrm>
            <a:custGeom>
              <a:avLst/>
              <a:gdLst/>
              <a:ahLst/>
              <a:cxnLst/>
              <a:rect r="r" b="b" t="t" l="l"/>
              <a:pathLst>
                <a:path h="6120892" w="21516595">
                  <a:moveTo>
                    <a:pt x="0" y="53086"/>
                  </a:moveTo>
                  <a:cubicBezTo>
                    <a:pt x="0" y="23749"/>
                    <a:pt x="23749" y="0"/>
                    <a:pt x="53086" y="0"/>
                  </a:cubicBezTo>
                  <a:lnTo>
                    <a:pt x="21463508" y="0"/>
                  </a:lnTo>
                  <a:cubicBezTo>
                    <a:pt x="21492846" y="0"/>
                    <a:pt x="21516595" y="23749"/>
                    <a:pt x="21516595" y="53086"/>
                  </a:cubicBezTo>
                  <a:lnTo>
                    <a:pt x="21516595" y="6067806"/>
                  </a:lnTo>
                  <a:cubicBezTo>
                    <a:pt x="21516595" y="6097143"/>
                    <a:pt x="21492846" y="6120892"/>
                    <a:pt x="21463508" y="6120892"/>
                  </a:cubicBezTo>
                  <a:lnTo>
                    <a:pt x="53086" y="6120892"/>
                  </a:lnTo>
                  <a:cubicBezTo>
                    <a:pt x="23749" y="6120892"/>
                    <a:pt x="0" y="6097143"/>
                    <a:pt x="0" y="606780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94" r="0" b="-18496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80049" y="4110485"/>
            <a:ext cx="16127911" cy="16574"/>
            <a:chOff x="0" y="0"/>
            <a:chExt cx="21503881" cy="22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03894" cy="22098"/>
            </a:xfrm>
            <a:custGeom>
              <a:avLst/>
              <a:gdLst/>
              <a:ahLst/>
              <a:cxnLst/>
              <a:rect r="r" b="b" t="t" l="l"/>
              <a:pathLst>
                <a:path h="22098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2098"/>
                  </a:lnTo>
                  <a:lnTo>
                    <a:pt x="0" y="22098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0049" y="4806706"/>
            <a:ext cx="16127911" cy="16574"/>
            <a:chOff x="0" y="0"/>
            <a:chExt cx="21503881" cy="22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503894" cy="22098"/>
            </a:xfrm>
            <a:custGeom>
              <a:avLst/>
              <a:gdLst/>
              <a:ahLst/>
              <a:cxnLst/>
              <a:rect r="r" b="b" t="t" l="l"/>
              <a:pathLst>
                <a:path h="22098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2098"/>
                  </a:lnTo>
                  <a:lnTo>
                    <a:pt x="0" y="22098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0049" y="5502916"/>
            <a:ext cx="16127911" cy="16574"/>
            <a:chOff x="0" y="0"/>
            <a:chExt cx="21503881" cy="220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503894" cy="22098"/>
            </a:xfrm>
            <a:custGeom>
              <a:avLst/>
              <a:gdLst/>
              <a:ahLst/>
              <a:cxnLst/>
              <a:rect r="r" b="b" t="t" l="l"/>
              <a:pathLst>
                <a:path h="22098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2098"/>
                  </a:lnTo>
                  <a:lnTo>
                    <a:pt x="0" y="22098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80049" y="6199137"/>
            <a:ext cx="16127911" cy="16574"/>
            <a:chOff x="0" y="0"/>
            <a:chExt cx="21503881" cy="220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03894" cy="22098"/>
            </a:xfrm>
            <a:custGeom>
              <a:avLst/>
              <a:gdLst/>
              <a:ahLst/>
              <a:cxnLst/>
              <a:rect r="r" b="b" t="t" l="l"/>
              <a:pathLst>
                <a:path h="22098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2098"/>
                  </a:lnTo>
                  <a:lnTo>
                    <a:pt x="0" y="22098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0049" y="6895357"/>
            <a:ext cx="16127911" cy="16574"/>
            <a:chOff x="0" y="0"/>
            <a:chExt cx="21503881" cy="220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503894" cy="22098"/>
            </a:xfrm>
            <a:custGeom>
              <a:avLst/>
              <a:gdLst/>
              <a:ahLst/>
              <a:cxnLst/>
              <a:rect r="r" b="b" t="t" l="l"/>
              <a:pathLst>
                <a:path h="22098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2098"/>
                  </a:lnTo>
                  <a:lnTo>
                    <a:pt x="0" y="22098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345209" y="3015110"/>
            <a:ext cx="16574" cy="4581230"/>
            <a:chOff x="0" y="0"/>
            <a:chExt cx="22098" cy="61083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098" cy="6108319"/>
            </a:xfrm>
            <a:custGeom>
              <a:avLst/>
              <a:gdLst/>
              <a:ahLst/>
              <a:cxnLst/>
              <a:rect r="r" b="b" t="t" l="l"/>
              <a:pathLst>
                <a:path h="6108319" w="22098">
                  <a:moveTo>
                    <a:pt x="0" y="0"/>
                  </a:moveTo>
                  <a:lnTo>
                    <a:pt x="22098" y="0"/>
                  </a:lnTo>
                  <a:lnTo>
                    <a:pt x="22098" y="6108319"/>
                  </a:lnTo>
                  <a:lnTo>
                    <a:pt x="0" y="610831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244676" y="3015110"/>
            <a:ext cx="16574" cy="4581230"/>
            <a:chOff x="0" y="0"/>
            <a:chExt cx="22098" cy="610830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098" cy="6108319"/>
            </a:xfrm>
            <a:custGeom>
              <a:avLst/>
              <a:gdLst/>
              <a:ahLst/>
              <a:cxnLst/>
              <a:rect r="r" b="b" t="t" l="l"/>
              <a:pathLst>
                <a:path h="6108319" w="22098">
                  <a:moveTo>
                    <a:pt x="0" y="0"/>
                  </a:moveTo>
                  <a:lnTo>
                    <a:pt x="22098" y="0"/>
                  </a:lnTo>
                  <a:lnTo>
                    <a:pt x="22098" y="6108319"/>
                  </a:lnTo>
                  <a:lnTo>
                    <a:pt x="0" y="610831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822084" y="3015110"/>
            <a:ext cx="16574" cy="4581230"/>
            <a:chOff x="0" y="0"/>
            <a:chExt cx="22098" cy="61083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098" cy="6108319"/>
            </a:xfrm>
            <a:custGeom>
              <a:avLst/>
              <a:gdLst/>
              <a:ahLst/>
              <a:cxnLst/>
              <a:rect r="r" b="b" t="t" l="l"/>
              <a:pathLst>
                <a:path h="6108319" w="22098">
                  <a:moveTo>
                    <a:pt x="0" y="0"/>
                  </a:moveTo>
                  <a:lnTo>
                    <a:pt x="22098" y="0"/>
                  </a:lnTo>
                  <a:lnTo>
                    <a:pt x="22098" y="6108319"/>
                  </a:lnTo>
                  <a:lnTo>
                    <a:pt x="0" y="610831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077280" y="3015110"/>
            <a:ext cx="16574" cy="4581230"/>
            <a:chOff x="0" y="0"/>
            <a:chExt cx="22098" cy="61083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098" cy="6108319"/>
            </a:xfrm>
            <a:custGeom>
              <a:avLst/>
              <a:gdLst/>
              <a:ahLst/>
              <a:cxnLst/>
              <a:rect r="r" b="b" t="t" l="l"/>
              <a:pathLst>
                <a:path h="6108319" w="22098">
                  <a:moveTo>
                    <a:pt x="0" y="0"/>
                  </a:moveTo>
                  <a:lnTo>
                    <a:pt x="22098" y="0"/>
                  </a:lnTo>
                  <a:lnTo>
                    <a:pt x="22098" y="6108319"/>
                  </a:lnTo>
                  <a:lnTo>
                    <a:pt x="0" y="610831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654678" y="3015110"/>
            <a:ext cx="16574" cy="4581230"/>
            <a:chOff x="0" y="0"/>
            <a:chExt cx="22098" cy="61083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098" cy="6108319"/>
            </a:xfrm>
            <a:custGeom>
              <a:avLst/>
              <a:gdLst/>
              <a:ahLst/>
              <a:cxnLst/>
              <a:rect r="r" b="b" t="t" l="l"/>
              <a:pathLst>
                <a:path h="6108319" w="22098">
                  <a:moveTo>
                    <a:pt x="0" y="0"/>
                  </a:moveTo>
                  <a:lnTo>
                    <a:pt x="22098" y="0"/>
                  </a:lnTo>
                  <a:lnTo>
                    <a:pt x="22098" y="6108319"/>
                  </a:lnTo>
                  <a:lnTo>
                    <a:pt x="0" y="610831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587662" y="3015110"/>
            <a:ext cx="16574" cy="4581230"/>
            <a:chOff x="0" y="0"/>
            <a:chExt cx="22098" cy="61083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098" cy="6108319"/>
            </a:xfrm>
            <a:custGeom>
              <a:avLst/>
              <a:gdLst/>
              <a:ahLst/>
              <a:cxnLst/>
              <a:rect r="r" b="b" t="t" l="l"/>
              <a:pathLst>
                <a:path h="6108319" w="22098">
                  <a:moveTo>
                    <a:pt x="0" y="0"/>
                  </a:moveTo>
                  <a:lnTo>
                    <a:pt x="22098" y="0"/>
                  </a:lnTo>
                  <a:lnTo>
                    <a:pt x="22098" y="6108319"/>
                  </a:lnTo>
                  <a:lnTo>
                    <a:pt x="0" y="610831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90022" y="3024635"/>
            <a:ext cx="2255196" cy="1085850"/>
            <a:chOff x="0" y="0"/>
            <a:chExt cx="3006928" cy="1447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06979" cy="1447800"/>
            </a:xfrm>
            <a:custGeom>
              <a:avLst/>
              <a:gdLst/>
              <a:ahLst/>
              <a:cxnLst/>
              <a:rect r="r" b="b" t="t" l="l"/>
              <a:pathLst>
                <a:path h="1447800" w="3006979">
                  <a:moveTo>
                    <a:pt x="44196" y="0"/>
                  </a:moveTo>
                  <a:lnTo>
                    <a:pt x="3006979" y="0"/>
                  </a:lnTo>
                  <a:lnTo>
                    <a:pt x="3006979" y="1447800"/>
                  </a:lnTo>
                  <a:lnTo>
                    <a:pt x="0" y="1447800"/>
                  </a:lnTo>
                  <a:lnTo>
                    <a:pt x="0" y="44196"/>
                  </a:lnTo>
                  <a:cubicBezTo>
                    <a:pt x="0" y="19812"/>
                    <a:pt x="19812" y="0"/>
                    <a:pt x="44196" y="0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55227" y="3113637"/>
            <a:ext cx="263440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Candidate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3345209" y="3024635"/>
            <a:ext cx="2899467" cy="1085850"/>
            <a:chOff x="0" y="0"/>
            <a:chExt cx="3865956" cy="1447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66007" cy="1447800"/>
            </a:xfrm>
            <a:custGeom>
              <a:avLst/>
              <a:gdLst/>
              <a:ahLst/>
              <a:cxnLst/>
              <a:rect r="r" b="b" t="t" l="l"/>
              <a:pathLst>
                <a:path h="1447800" w="3866007">
                  <a:moveTo>
                    <a:pt x="0" y="0"/>
                  </a:moveTo>
                  <a:lnTo>
                    <a:pt x="3866007" y="0"/>
                  </a:lnTo>
                  <a:lnTo>
                    <a:pt x="3866007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3615185" y="3113637"/>
            <a:ext cx="2359523" cy="84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Relevant Experience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244676" y="3024635"/>
            <a:ext cx="2577408" cy="1085850"/>
            <a:chOff x="0" y="0"/>
            <a:chExt cx="3436544" cy="1447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36493" cy="1447800"/>
            </a:xfrm>
            <a:custGeom>
              <a:avLst/>
              <a:gdLst/>
              <a:ahLst/>
              <a:cxnLst/>
              <a:rect r="r" b="b" t="t" l="l"/>
              <a:pathLst>
                <a:path h="1447800" w="3436493">
                  <a:moveTo>
                    <a:pt x="0" y="0"/>
                  </a:moveTo>
                  <a:lnTo>
                    <a:pt x="3436493" y="0"/>
                  </a:lnTo>
                  <a:lnTo>
                    <a:pt x="3436493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6514652" y="3113637"/>
            <a:ext cx="295185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Key Skills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822084" y="3024635"/>
            <a:ext cx="2255196" cy="1085850"/>
            <a:chOff x="0" y="0"/>
            <a:chExt cx="3006928" cy="1447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06979" cy="1447800"/>
            </a:xfrm>
            <a:custGeom>
              <a:avLst/>
              <a:gdLst/>
              <a:ahLst/>
              <a:cxnLst/>
              <a:rect r="r" b="b" t="t" l="l"/>
              <a:pathLst>
                <a:path h="1447800" w="3006979">
                  <a:moveTo>
                    <a:pt x="0" y="0"/>
                  </a:moveTo>
                  <a:lnTo>
                    <a:pt x="3006979" y="0"/>
                  </a:lnTo>
                  <a:lnTo>
                    <a:pt x="3006979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092060" y="3113637"/>
            <a:ext cx="1715243" cy="84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Interview Score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077280" y="3024635"/>
            <a:ext cx="2577408" cy="1085850"/>
            <a:chOff x="0" y="0"/>
            <a:chExt cx="3436544" cy="1447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36493" cy="1447800"/>
            </a:xfrm>
            <a:custGeom>
              <a:avLst/>
              <a:gdLst/>
              <a:ahLst/>
              <a:cxnLst/>
              <a:rect r="r" b="b" t="t" l="l"/>
              <a:pathLst>
                <a:path h="1447800" w="3436493">
                  <a:moveTo>
                    <a:pt x="0" y="0"/>
                  </a:moveTo>
                  <a:lnTo>
                    <a:pt x="3436493" y="0"/>
                  </a:lnTo>
                  <a:lnTo>
                    <a:pt x="3436493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1347256" y="3113637"/>
            <a:ext cx="295185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Strengths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3654678" y="3024635"/>
            <a:ext cx="1932984" cy="1085850"/>
            <a:chOff x="0" y="0"/>
            <a:chExt cx="2577313" cy="1447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77338" cy="1447800"/>
            </a:xfrm>
            <a:custGeom>
              <a:avLst/>
              <a:gdLst/>
              <a:ahLst/>
              <a:cxnLst/>
              <a:rect r="r" b="b" t="t" l="l"/>
              <a:pathLst>
                <a:path h="1447800" w="2577338">
                  <a:moveTo>
                    <a:pt x="0" y="0"/>
                  </a:moveTo>
                  <a:lnTo>
                    <a:pt x="2577338" y="0"/>
                  </a:lnTo>
                  <a:lnTo>
                    <a:pt x="2577338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3924655" y="3113637"/>
            <a:ext cx="2307431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Concerns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5587662" y="3024635"/>
            <a:ext cx="1610763" cy="1085850"/>
            <a:chOff x="0" y="0"/>
            <a:chExt cx="2147684" cy="1447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47697" cy="1447800"/>
            </a:xfrm>
            <a:custGeom>
              <a:avLst/>
              <a:gdLst/>
              <a:ahLst/>
              <a:cxnLst/>
              <a:rect r="r" b="b" t="t" l="l"/>
              <a:pathLst>
                <a:path h="1447800" w="2147697">
                  <a:moveTo>
                    <a:pt x="0" y="0"/>
                  </a:moveTo>
                  <a:lnTo>
                    <a:pt x="2103501" y="0"/>
                  </a:lnTo>
                  <a:cubicBezTo>
                    <a:pt x="2127885" y="0"/>
                    <a:pt x="2147697" y="19812"/>
                    <a:pt x="2147697" y="44196"/>
                  </a:cubicBezTo>
                  <a:lnTo>
                    <a:pt x="2147697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5857639" y="3113637"/>
            <a:ext cx="1075582" cy="84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Recommendation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55227" y="4204249"/>
            <a:ext cx="263440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1. ___________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092060" y="4204249"/>
            <a:ext cx="2629643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 / 35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55227" y="4900460"/>
            <a:ext cx="263440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2. ___________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092060" y="4900460"/>
            <a:ext cx="2629643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 / 35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55227" y="5596680"/>
            <a:ext cx="263440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3. ___________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092060" y="5596680"/>
            <a:ext cx="2629643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 / 35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55227" y="6292901"/>
            <a:ext cx="263440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4. ___________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092060" y="6292901"/>
            <a:ext cx="2629643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 / 35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55227" y="6989121"/>
            <a:ext cx="263440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5. ___________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092060" y="6989121"/>
            <a:ext cx="2629643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 / 35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080049" y="7852620"/>
            <a:ext cx="16127911" cy="1354188"/>
            <a:chOff x="0" y="0"/>
            <a:chExt cx="21503881" cy="180558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503895" cy="1805559"/>
            </a:xfrm>
            <a:custGeom>
              <a:avLst/>
              <a:gdLst/>
              <a:ahLst/>
              <a:cxnLst/>
              <a:rect r="r" b="b" t="t" l="l"/>
              <a:pathLst>
                <a:path h="1805559" w="21503895">
                  <a:moveTo>
                    <a:pt x="0" y="53086"/>
                  </a:moveTo>
                  <a:cubicBezTo>
                    <a:pt x="0" y="23749"/>
                    <a:pt x="23749" y="0"/>
                    <a:pt x="53086" y="0"/>
                  </a:cubicBezTo>
                  <a:lnTo>
                    <a:pt x="21450808" y="0"/>
                  </a:lnTo>
                  <a:cubicBezTo>
                    <a:pt x="21480146" y="0"/>
                    <a:pt x="21503895" y="23749"/>
                    <a:pt x="21503895" y="53086"/>
                  </a:cubicBezTo>
                  <a:lnTo>
                    <a:pt x="21503895" y="1752473"/>
                  </a:lnTo>
                  <a:cubicBezTo>
                    <a:pt x="21503895" y="1781810"/>
                    <a:pt x="21480146" y="1805559"/>
                    <a:pt x="21450808" y="1805559"/>
                  </a:cubicBezTo>
                  <a:lnTo>
                    <a:pt x="53086" y="1805559"/>
                  </a:lnTo>
                  <a:cubicBezTo>
                    <a:pt x="23749" y="1805559"/>
                    <a:pt x="0" y="1781810"/>
                    <a:pt x="0" y="1752473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45254" y="8181232"/>
            <a:ext cx="331441" cy="265214"/>
            <a:chOff x="0" y="0"/>
            <a:chExt cx="441922" cy="353619"/>
          </a:xfrm>
        </p:grpSpPr>
        <p:sp>
          <p:nvSpPr>
            <p:cNvPr name="Freeform 66" id="66" descr="preencoded.png"/>
            <p:cNvSpPr/>
            <p:nvPr/>
          </p:nvSpPr>
          <p:spPr>
            <a:xfrm flipH="false" flipV="false" rot="0">
              <a:off x="0" y="0"/>
              <a:ext cx="441960" cy="353568"/>
            </a:xfrm>
            <a:custGeom>
              <a:avLst/>
              <a:gdLst/>
              <a:ahLst/>
              <a:cxnLst/>
              <a:rect r="r" b="b" t="t" l="l"/>
              <a:pathLst>
                <a:path h="353568" w="441960">
                  <a:moveTo>
                    <a:pt x="0" y="0"/>
                  </a:moveTo>
                  <a:lnTo>
                    <a:pt x="441960" y="0"/>
                  </a:lnTo>
                  <a:lnTo>
                    <a:pt x="441960" y="353568"/>
                  </a:lnTo>
                  <a:lnTo>
                    <a:pt x="0" y="353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2" b="-14"/>
              </a:stretch>
            </a:blip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1941909" y="8089554"/>
            <a:ext cx="15000837" cy="84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Reminder:</a:t>
            </a:r>
            <a:r>
              <a:rPr lang="en-US" sz="20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Evaluate candidates against the same criteria whenever possible. This ensures fair comparison and reduces bias in your hiring decisions.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695450"/>
            <a:ext cx="1612791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60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Your Hiring Process, Organised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3229423"/>
            <a:ext cx="17042311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This toolkit gives you everything you need to run a consistent, fair, and efficient hiring process across Gulf markets.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0049" y="4156024"/>
            <a:ext cx="16127911" cy="3556397"/>
            <a:chOff x="0" y="0"/>
            <a:chExt cx="21503881" cy="47418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03894" cy="4741799"/>
            </a:xfrm>
            <a:custGeom>
              <a:avLst/>
              <a:gdLst/>
              <a:ahLst/>
              <a:cxnLst/>
              <a:rect r="r" b="b" t="t" l="l"/>
              <a:pathLst>
                <a:path h="4741799" w="21503894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21442172" y="0"/>
                  </a:lnTo>
                  <a:cubicBezTo>
                    <a:pt x="21476208" y="0"/>
                    <a:pt x="21503894" y="27686"/>
                    <a:pt x="21503894" y="61722"/>
                  </a:cubicBezTo>
                  <a:lnTo>
                    <a:pt x="21503894" y="4680077"/>
                  </a:lnTo>
                  <a:cubicBezTo>
                    <a:pt x="21503894" y="4714113"/>
                    <a:pt x="21476208" y="4741799"/>
                    <a:pt x="21442172" y="4741799"/>
                  </a:cubicBezTo>
                  <a:lnTo>
                    <a:pt x="61722" y="4741799"/>
                  </a:lnTo>
                  <a:cubicBezTo>
                    <a:pt x="27686" y="4741799"/>
                    <a:pt x="0" y="4714113"/>
                    <a:pt x="0" y="468007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0049" y="4156024"/>
            <a:ext cx="8063951" cy="1778194"/>
            <a:chOff x="0" y="0"/>
            <a:chExt cx="10751934" cy="23709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51947" cy="2370963"/>
            </a:xfrm>
            <a:custGeom>
              <a:avLst/>
              <a:gdLst/>
              <a:ahLst/>
              <a:cxnLst/>
              <a:rect r="r" b="b" t="t" l="l"/>
              <a:pathLst>
                <a:path h="2370963" w="10751947">
                  <a:moveTo>
                    <a:pt x="51435" y="0"/>
                  </a:moveTo>
                  <a:lnTo>
                    <a:pt x="10751947" y="0"/>
                  </a:lnTo>
                  <a:lnTo>
                    <a:pt x="10751947" y="2370963"/>
                  </a:lnTo>
                  <a:lnTo>
                    <a:pt x="0" y="2370963"/>
                  </a:lnTo>
                  <a:lnTo>
                    <a:pt x="0" y="51435"/>
                  </a:lnTo>
                  <a:cubicBezTo>
                    <a:pt x="0" y="22987"/>
                    <a:pt x="22987" y="0"/>
                    <a:pt x="51435" y="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88564" y="4435973"/>
            <a:ext cx="7446912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Define &amp; Prepare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8564" y="5046164"/>
            <a:ext cx="7446912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Cards 3–4: Role definition and candidate profile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0" y="4156024"/>
            <a:ext cx="8063951" cy="1778194"/>
            <a:chOff x="0" y="0"/>
            <a:chExt cx="10751934" cy="23709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1947" cy="2370963"/>
            </a:xfrm>
            <a:custGeom>
              <a:avLst/>
              <a:gdLst/>
              <a:ahLst/>
              <a:cxnLst/>
              <a:rect r="r" b="b" t="t" l="l"/>
              <a:pathLst>
                <a:path h="2370963" w="10751947">
                  <a:moveTo>
                    <a:pt x="0" y="0"/>
                  </a:moveTo>
                  <a:lnTo>
                    <a:pt x="10700512" y="0"/>
                  </a:lnTo>
                  <a:cubicBezTo>
                    <a:pt x="10728960" y="0"/>
                    <a:pt x="10751947" y="22987"/>
                    <a:pt x="10751947" y="51435"/>
                  </a:cubicBezTo>
                  <a:lnTo>
                    <a:pt x="10751947" y="2370963"/>
                  </a:lnTo>
                  <a:lnTo>
                    <a:pt x="0" y="2370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0" y="4156024"/>
            <a:ext cx="38100" cy="1778194"/>
            <a:chOff x="0" y="0"/>
            <a:chExt cx="50800" cy="23709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" cy="2370963"/>
            </a:xfrm>
            <a:custGeom>
              <a:avLst/>
              <a:gdLst/>
              <a:ahLst/>
              <a:cxnLst/>
              <a:rect r="r" b="b" t="t" l="l"/>
              <a:pathLst>
                <a:path h="2370963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345563"/>
                  </a:lnTo>
                  <a:cubicBezTo>
                    <a:pt x="50800" y="2359533"/>
                    <a:pt x="39370" y="2370963"/>
                    <a:pt x="25400" y="2370963"/>
                  </a:cubicBezTo>
                  <a:cubicBezTo>
                    <a:pt x="11430" y="2370963"/>
                    <a:pt x="0" y="2359533"/>
                    <a:pt x="0" y="2345563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452524" y="4435973"/>
            <a:ext cx="7446912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Post &amp; Source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52524" y="5046164"/>
            <a:ext cx="7446912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Cards 5–6: Job posting and sourcing channels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80049" y="5934227"/>
            <a:ext cx="8063951" cy="1778194"/>
            <a:chOff x="0" y="0"/>
            <a:chExt cx="10751934" cy="23709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51947" cy="2370963"/>
            </a:xfrm>
            <a:custGeom>
              <a:avLst/>
              <a:gdLst/>
              <a:ahLst/>
              <a:cxnLst/>
              <a:rect r="r" b="b" t="t" l="l"/>
              <a:pathLst>
                <a:path h="2370963" w="10751947">
                  <a:moveTo>
                    <a:pt x="0" y="0"/>
                  </a:moveTo>
                  <a:lnTo>
                    <a:pt x="10751947" y="0"/>
                  </a:lnTo>
                  <a:lnTo>
                    <a:pt x="10751947" y="2370963"/>
                  </a:lnTo>
                  <a:lnTo>
                    <a:pt x="51435" y="2370963"/>
                  </a:lnTo>
                  <a:cubicBezTo>
                    <a:pt x="22987" y="2370963"/>
                    <a:pt x="0" y="2347976"/>
                    <a:pt x="0" y="231952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80049" y="5934227"/>
            <a:ext cx="8063951" cy="38100"/>
            <a:chOff x="0" y="0"/>
            <a:chExt cx="10751934" cy="5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51947" cy="50800"/>
            </a:xfrm>
            <a:custGeom>
              <a:avLst/>
              <a:gdLst/>
              <a:ahLst/>
              <a:cxnLst/>
              <a:rect r="r" b="b" t="t" l="l"/>
              <a:pathLst>
                <a:path h="50800" w="10751947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726547" y="0"/>
                  </a:lnTo>
                  <a:cubicBezTo>
                    <a:pt x="10740517" y="0"/>
                    <a:pt x="10751947" y="11430"/>
                    <a:pt x="10751947" y="25400"/>
                  </a:cubicBezTo>
                  <a:cubicBezTo>
                    <a:pt x="10751947" y="39370"/>
                    <a:pt x="10740517" y="50800"/>
                    <a:pt x="10726547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88564" y="6214167"/>
            <a:ext cx="7446912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Screen &amp; Interview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8564" y="6824367"/>
            <a:ext cx="7446912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Cards 7–9: CV review, screening, and interviews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0" y="5934227"/>
            <a:ext cx="8063951" cy="1778194"/>
            <a:chOff x="0" y="0"/>
            <a:chExt cx="10751934" cy="23709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51947" cy="2370963"/>
            </a:xfrm>
            <a:custGeom>
              <a:avLst/>
              <a:gdLst/>
              <a:ahLst/>
              <a:cxnLst/>
              <a:rect r="r" b="b" t="t" l="l"/>
              <a:pathLst>
                <a:path h="2370963" w="10751947">
                  <a:moveTo>
                    <a:pt x="0" y="0"/>
                  </a:moveTo>
                  <a:lnTo>
                    <a:pt x="10751947" y="0"/>
                  </a:lnTo>
                  <a:lnTo>
                    <a:pt x="10751947" y="2319528"/>
                  </a:lnTo>
                  <a:cubicBezTo>
                    <a:pt x="10751947" y="2347976"/>
                    <a:pt x="10728960" y="2370963"/>
                    <a:pt x="10700512" y="2370963"/>
                  </a:cubicBezTo>
                  <a:lnTo>
                    <a:pt x="0" y="2370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0" y="5934227"/>
            <a:ext cx="38100" cy="1778194"/>
            <a:chOff x="0" y="0"/>
            <a:chExt cx="50800" cy="23709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800" cy="2370963"/>
            </a:xfrm>
            <a:custGeom>
              <a:avLst/>
              <a:gdLst/>
              <a:ahLst/>
              <a:cxnLst/>
              <a:rect r="r" b="b" t="t" l="l"/>
              <a:pathLst>
                <a:path h="2370963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345563"/>
                  </a:lnTo>
                  <a:cubicBezTo>
                    <a:pt x="50800" y="2359533"/>
                    <a:pt x="39370" y="2370963"/>
                    <a:pt x="25400" y="2370963"/>
                  </a:cubicBezTo>
                  <a:cubicBezTo>
                    <a:pt x="11430" y="2370963"/>
                    <a:pt x="0" y="2359533"/>
                    <a:pt x="0" y="2345563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0" y="5934227"/>
            <a:ext cx="8063951" cy="38100"/>
            <a:chOff x="0" y="0"/>
            <a:chExt cx="10751934" cy="50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51947" cy="50800"/>
            </a:xfrm>
            <a:custGeom>
              <a:avLst/>
              <a:gdLst/>
              <a:ahLst/>
              <a:cxnLst/>
              <a:rect r="r" b="b" t="t" l="l"/>
              <a:pathLst>
                <a:path h="50800" w="10751947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726547" y="0"/>
                  </a:lnTo>
                  <a:cubicBezTo>
                    <a:pt x="10740517" y="0"/>
                    <a:pt x="10751947" y="11430"/>
                    <a:pt x="10751947" y="25400"/>
                  </a:cubicBezTo>
                  <a:cubicBezTo>
                    <a:pt x="10751947" y="39370"/>
                    <a:pt x="10740517" y="50800"/>
                    <a:pt x="10726547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452524" y="6214167"/>
            <a:ext cx="7446912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Evaluate &amp; Decide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52524" y="6824367"/>
            <a:ext cx="7446912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Cards 10–11: Scoring and candidate comparison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22849" y="7973768"/>
            <a:ext cx="17042311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0"/>
              </a:lnSpc>
            </a:pPr>
            <a:r>
              <a:rPr lang="en-US" sz="24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Falayn</a:t>
            </a: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— Built for Gulf recruiters.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DAHR1GTSppo</dc:identifier>
  <dcterms:modified xsi:type="dcterms:W3CDTF">2011-08-01T06:04:30Z</dcterms:modified>
  <cp:revision>1</cp:revision>
  <dc:title>Gulf-Recruiter-Hiring-Toolkit (1).pptx</dc:title>
</cp:coreProperties>
</file>