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6"/>
  </p:notes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Crimson Pro" charset="1" panose="00000000000000000000"/>
      <p:regular r:id="rId19"/>
    </p:embeddedFont>
    <p:embeddedFont>
      <p:font typeface="Heebo" charset="1" panose="00000500000000000000"/>
      <p:regular r:id="rId20"/>
    </p:embeddedFont>
    <p:embeddedFont>
      <p:font typeface="Heebo Bold" charset="1" panose="00000800000000000000"/>
      <p:regular r:id="rId22"/>
    </p:embeddedFont>
    <p:embeddedFont>
      <p:font typeface="Consolas" charset="1" panose="020B0609020204030204"/>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notesMasters/notesMaster1.xml" Type="http://schemas.openxmlformats.org/officeDocument/2006/relationships/notesMaster"/><Relationship Id="rId17" Target="theme/theme2.xml" Type="http://schemas.openxmlformats.org/officeDocument/2006/relationships/theme"/><Relationship Id="rId18" Target="notesSlides/notesSlide1.xml" Type="http://schemas.openxmlformats.org/officeDocument/2006/relationships/note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notesSlides/notesSlide2.xml" Type="http://schemas.openxmlformats.org/officeDocument/2006/relationships/notesSlide"/><Relationship Id="rId22" Target="fonts/font22.fntdata" Type="http://schemas.openxmlformats.org/officeDocument/2006/relationships/font"/><Relationship Id="rId23" Target="notesSlides/notesSlide3.xml" Type="http://schemas.openxmlformats.org/officeDocument/2006/relationships/notesSlide"/><Relationship Id="rId24" Target="notesSlides/notesSlide4.xml" Type="http://schemas.openxmlformats.org/officeDocument/2006/relationships/notesSlide"/><Relationship Id="rId25" Target="fonts/font25.fntdata" Type="http://schemas.openxmlformats.org/officeDocument/2006/relationships/font"/><Relationship Id="rId26" Target="notesSlides/notesSlide5.xml" Type="http://schemas.openxmlformats.org/officeDocument/2006/relationships/notesSlide"/><Relationship Id="rId27" Target="notesSlides/notesSlide6.xml" Type="http://schemas.openxmlformats.org/officeDocument/2006/relationships/notesSlide"/><Relationship Id="rId28" Target="notesSlides/notesSlide7.xml" Type="http://schemas.openxmlformats.org/officeDocument/2006/relationships/notesSlide"/><Relationship Id="rId29" Target="notesSlides/notesSlide8.xml" Type="http://schemas.openxmlformats.org/officeDocument/2006/relationships/notesSlide"/><Relationship Id="rId3" Target="viewProps.xml" Type="http://schemas.openxmlformats.org/officeDocument/2006/relationships/viewProps"/><Relationship Id="rId30" Target="notesSlides/notesSlide9.xml" Type="http://schemas.openxmlformats.org/officeDocument/2006/relationships/notesSlide"/><Relationship Id="rId31" Target="notesSlides/notesSlide10.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svg" Type="http://schemas.openxmlformats.org/officeDocument/2006/relationships/image"/><Relationship Id="rId11" Target="../media/image11.png" Type="http://schemas.openxmlformats.org/officeDocument/2006/relationships/image"/><Relationship Id="rId12" Target="../media/image12.svg" Type="http://schemas.openxmlformats.org/officeDocument/2006/relationships/image"/><Relationship Id="rId13" Target="../media/image13.png" Type="http://schemas.openxmlformats.org/officeDocument/2006/relationships/image"/><Relationship Id="rId2" Target="../notesSlides/notesSlide2.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8.png" Type="http://schemas.openxmlformats.org/officeDocument/2006/relationships/image"/><Relationship Id="rId4" Target="../media/image1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20.png" Type="http://schemas.openxmlformats.org/officeDocument/2006/relationships/image"/><Relationship Id="rId4" Target="../media/image21.svg" Type="http://schemas.openxmlformats.org/officeDocument/2006/relationships/image"/><Relationship Id="rId5" Target="../media/image22.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23.png" Type="http://schemas.openxmlformats.org/officeDocument/2006/relationships/image"/><Relationship Id="rId4" Target="../media/image24.svg" Type="http://schemas.openxmlformats.org/officeDocument/2006/relationships/image"/><Relationship Id="rId5" Target="../media/image22.jpe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0F0F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6" id="6"/>
          <p:cNvGrpSpPr/>
          <p:nvPr/>
        </p:nvGrpSpPr>
        <p:grpSpPr>
          <a:xfrm rot="0">
            <a:off x="0" y="0"/>
            <a:ext cx="18288000" cy="10287000"/>
            <a:chOff x="0" y="0"/>
            <a:chExt cx="24384000" cy="13716000"/>
          </a:xfrm>
        </p:grpSpPr>
        <p:sp>
          <p:nvSpPr>
            <p:cNvPr name="Freeform 7" id="7"/>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FDFE0"/>
            </a:solidFill>
          </p:spPr>
        </p:sp>
      </p:grpSp>
      <p:grpSp>
        <p:nvGrpSpPr>
          <p:cNvPr name="Group 8" id="8"/>
          <p:cNvGrpSpPr/>
          <p:nvPr/>
        </p:nvGrpSpPr>
        <p:grpSpPr>
          <a:xfrm rot="0">
            <a:off x="0" y="0"/>
            <a:ext cx="18288000" cy="10287000"/>
            <a:chOff x="0" y="0"/>
            <a:chExt cx="24384000" cy="13716000"/>
          </a:xfrm>
        </p:grpSpPr>
        <p:sp>
          <p:nvSpPr>
            <p:cNvPr name="Freeform 9" id="9"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10" id="10"/>
          <p:cNvSpPr txBox="true"/>
          <p:nvPr/>
        </p:nvSpPr>
        <p:spPr>
          <a:xfrm rot="0">
            <a:off x="1080049" y="1877616"/>
            <a:ext cx="16127911" cy="1002506"/>
          </a:xfrm>
          <a:prstGeom prst="rect">
            <a:avLst/>
          </a:prstGeom>
        </p:spPr>
        <p:txBody>
          <a:bodyPr anchor="t" rtlCol="false" tIns="0" lIns="0" bIns="0" rIns="0">
            <a:spAutoFit/>
          </a:bodyPr>
          <a:lstStyle/>
          <a:p>
            <a:pPr algn="ctr">
              <a:lnSpc>
                <a:spcPts val="7488"/>
              </a:lnSpc>
            </a:pPr>
            <a:r>
              <a:rPr lang="en-US" sz="6000">
                <a:solidFill>
                  <a:srgbClr val="152D47"/>
                </a:solidFill>
                <a:latin typeface="Crimson Pro"/>
                <a:ea typeface="Crimson Pro"/>
                <a:cs typeface="Crimson Pro"/>
                <a:sym typeface="Crimson Pro"/>
              </a:rPr>
              <a:t>Job Description Template Pack</a:t>
            </a:r>
          </a:p>
        </p:txBody>
      </p:sp>
      <p:sp>
        <p:nvSpPr>
          <p:cNvPr name="TextBox 11" id="11"/>
          <p:cNvSpPr txBox="true"/>
          <p:nvPr/>
        </p:nvSpPr>
        <p:spPr>
          <a:xfrm rot="0">
            <a:off x="1080049" y="2974924"/>
            <a:ext cx="16127911" cy="510778"/>
          </a:xfrm>
          <a:prstGeom prst="rect">
            <a:avLst/>
          </a:prstGeom>
        </p:spPr>
        <p:txBody>
          <a:bodyPr anchor="t" rtlCol="false" tIns="0" lIns="0" bIns="0" rIns="0">
            <a:spAutoFit/>
          </a:bodyPr>
          <a:lstStyle/>
          <a:p>
            <a:pPr algn="ctr">
              <a:lnSpc>
                <a:spcPts val="3744"/>
              </a:lnSpc>
            </a:pPr>
            <a:r>
              <a:rPr lang="en-US" sz="3000">
                <a:solidFill>
                  <a:srgbClr val="152D47"/>
                </a:solidFill>
                <a:latin typeface="Crimson Pro"/>
                <a:ea typeface="Crimson Pro"/>
                <a:cs typeface="Crimson Pro"/>
                <a:sym typeface="Crimson Pro"/>
              </a:rPr>
              <a:t>Ready-to-use templates for creating clear and professional job descriptions</a:t>
            </a:r>
          </a:p>
        </p:txBody>
      </p:sp>
      <p:grpSp>
        <p:nvGrpSpPr>
          <p:cNvPr name="Group 12" id="12"/>
          <p:cNvGrpSpPr/>
          <p:nvPr/>
        </p:nvGrpSpPr>
        <p:grpSpPr>
          <a:xfrm rot="0">
            <a:off x="7148512" y="3948560"/>
            <a:ext cx="3990975" cy="468954"/>
            <a:chOff x="0" y="0"/>
            <a:chExt cx="5321300" cy="625272"/>
          </a:xfrm>
        </p:grpSpPr>
        <p:sp>
          <p:nvSpPr>
            <p:cNvPr name="Freeform 13" id="13"/>
            <p:cNvSpPr/>
            <p:nvPr/>
          </p:nvSpPr>
          <p:spPr>
            <a:xfrm flipH="false" flipV="false" rot="0">
              <a:off x="0" y="0"/>
              <a:ext cx="5321300" cy="625348"/>
            </a:xfrm>
            <a:custGeom>
              <a:avLst/>
              <a:gdLst/>
              <a:ahLst/>
              <a:cxnLst/>
              <a:rect r="r" b="b" t="t" l="l"/>
              <a:pathLst>
                <a:path h="625348" w="5321300">
                  <a:moveTo>
                    <a:pt x="0" y="49403"/>
                  </a:moveTo>
                  <a:cubicBezTo>
                    <a:pt x="0" y="22098"/>
                    <a:pt x="22098" y="0"/>
                    <a:pt x="49403" y="0"/>
                  </a:cubicBezTo>
                  <a:lnTo>
                    <a:pt x="5271897" y="0"/>
                  </a:lnTo>
                  <a:cubicBezTo>
                    <a:pt x="5299202" y="0"/>
                    <a:pt x="5321300" y="22098"/>
                    <a:pt x="5321300" y="49403"/>
                  </a:cubicBezTo>
                  <a:lnTo>
                    <a:pt x="5321300" y="575945"/>
                  </a:lnTo>
                  <a:cubicBezTo>
                    <a:pt x="5321300" y="603250"/>
                    <a:pt x="5299202" y="625348"/>
                    <a:pt x="5271897" y="625348"/>
                  </a:cubicBezTo>
                  <a:lnTo>
                    <a:pt x="49403" y="625348"/>
                  </a:lnTo>
                  <a:cubicBezTo>
                    <a:pt x="22098" y="625221"/>
                    <a:pt x="0" y="603123"/>
                    <a:pt x="0" y="575945"/>
                  </a:cubicBezTo>
                  <a:close/>
                </a:path>
              </a:pathLst>
            </a:custGeom>
            <a:solidFill>
              <a:srgbClr val="CCD7FF"/>
            </a:solidFill>
          </p:spPr>
        </p:sp>
      </p:grpSp>
      <p:grpSp>
        <p:nvGrpSpPr>
          <p:cNvPr name="Group 14" id="14"/>
          <p:cNvGrpSpPr/>
          <p:nvPr/>
        </p:nvGrpSpPr>
        <p:grpSpPr>
          <a:xfrm rot="0">
            <a:off x="7333650" y="4059584"/>
            <a:ext cx="246755" cy="246755"/>
            <a:chOff x="0" y="0"/>
            <a:chExt cx="329006" cy="329006"/>
          </a:xfrm>
        </p:grpSpPr>
        <p:sp>
          <p:nvSpPr>
            <p:cNvPr name="Freeform 15" id="15" descr="preencoded.png"/>
            <p:cNvSpPr/>
            <p:nvPr/>
          </p:nvSpPr>
          <p:spPr>
            <a:xfrm flipH="false" flipV="false" rot="0">
              <a:off x="0" y="0"/>
              <a:ext cx="329057" cy="329057"/>
            </a:xfrm>
            <a:custGeom>
              <a:avLst/>
              <a:gdLst/>
              <a:ahLst/>
              <a:cxnLst/>
              <a:rect r="r" b="b" t="t" l="l"/>
              <a:pathLst>
                <a:path h="329057" w="329057">
                  <a:moveTo>
                    <a:pt x="0" y="0"/>
                  </a:moveTo>
                  <a:lnTo>
                    <a:pt x="329057" y="0"/>
                  </a:lnTo>
                  <a:lnTo>
                    <a:pt x="329057" y="329057"/>
                  </a:lnTo>
                  <a:lnTo>
                    <a:pt x="0" y="329057"/>
                  </a:lnTo>
                  <a:lnTo>
                    <a:pt x="0" y="0"/>
                  </a:lnTo>
                  <a:close/>
                </a:path>
              </a:pathLst>
            </a:custGeom>
            <a:blipFill>
              <a:blip r:embed="rId4"/>
              <a:stretch>
                <a:fillRect l="0" t="0" r="15" b="15"/>
              </a:stretch>
            </a:blipFill>
          </p:spPr>
        </p:sp>
      </p:grpSp>
      <p:sp>
        <p:nvSpPr>
          <p:cNvPr name="TextBox 16" id="16"/>
          <p:cNvSpPr txBox="true"/>
          <p:nvPr/>
        </p:nvSpPr>
        <p:spPr>
          <a:xfrm rot="0">
            <a:off x="7703791" y="4041134"/>
            <a:ext cx="4164959" cy="283816"/>
          </a:xfrm>
          <a:prstGeom prst="rect">
            <a:avLst/>
          </a:prstGeom>
        </p:spPr>
        <p:txBody>
          <a:bodyPr anchor="t" rtlCol="false" tIns="0" lIns="0" bIns="0" rIns="0">
            <a:spAutoFit/>
          </a:bodyPr>
          <a:lstStyle/>
          <a:p>
            <a:pPr algn="l">
              <a:lnSpc>
                <a:spcPts val="2188"/>
              </a:lnSpc>
            </a:pPr>
            <a:r>
              <a:rPr lang="en-US" sz="1900">
                <a:solidFill>
                  <a:srgbClr val="4C4C4D"/>
                </a:solidFill>
                <a:latin typeface="Heebo"/>
                <a:ea typeface="Heebo"/>
                <a:cs typeface="Heebo"/>
                <a:sym typeface="Heebo"/>
              </a:rPr>
              <a:t>FALAYN RECRUITER TOOLKIT</a:t>
            </a:r>
          </a:p>
        </p:txBody>
      </p:sp>
      <p:grpSp>
        <p:nvGrpSpPr>
          <p:cNvPr name="Group 17" id="17"/>
          <p:cNvGrpSpPr/>
          <p:nvPr/>
        </p:nvGrpSpPr>
        <p:grpSpPr>
          <a:xfrm rot="0">
            <a:off x="1080049" y="4764586"/>
            <a:ext cx="16127911" cy="2765822"/>
            <a:chOff x="0" y="0"/>
            <a:chExt cx="21503881" cy="3687762"/>
          </a:xfrm>
        </p:grpSpPr>
        <p:sp>
          <p:nvSpPr>
            <p:cNvPr name="Freeform 18" id="18"/>
            <p:cNvSpPr/>
            <p:nvPr/>
          </p:nvSpPr>
          <p:spPr>
            <a:xfrm flipH="false" flipV="false" rot="0">
              <a:off x="0" y="0"/>
              <a:ext cx="21503894" cy="3687699"/>
            </a:xfrm>
            <a:custGeom>
              <a:avLst/>
              <a:gdLst/>
              <a:ahLst/>
              <a:cxnLst/>
              <a:rect r="r" b="b" t="t" l="l"/>
              <a:pathLst>
                <a:path h="3687699" w="21503894">
                  <a:moveTo>
                    <a:pt x="0" y="61722"/>
                  </a:moveTo>
                  <a:cubicBezTo>
                    <a:pt x="0" y="27686"/>
                    <a:pt x="27686" y="0"/>
                    <a:pt x="61722" y="0"/>
                  </a:cubicBezTo>
                  <a:lnTo>
                    <a:pt x="21442172" y="0"/>
                  </a:lnTo>
                  <a:cubicBezTo>
                    <a:pt x="21476208" y="0"/>
                    <a:pt x="21503894" y="27686"/>
                    <a:pt x="21503894" y="61722"/>
                  </a:cubicBezTo>
                  <a:lnTo>
                    <a:pt x="21503894" y="3625977"/>
                  </a:lnTo>
                  <a:cubicBezTo>
                    <a:pt x="21503894" y="3660013"/>
                    <a:pt x="21476208" y="3687699"/>
                    <a:pt x="21442172" y="3687699"/>
                  </a:cubicBezTo>
                  <a:lnTo>
                    <a:pt x="61722" y="3687699"/>
                  </a:lnTo>
                  <a:cubicBezTo>
                    <a:pt x="27686" y="3687699"/>
                    <a:pt x="0" y="3660013"/>
                    <a:pt x="0" y="3625977"/>
                  </a:cubicBezTo>
                  <a:close/>
                </a:path>
              </a:pathLst>
            </a:custGeom>
            <a:solidFill>
              <a:srgbClr val="F2EEEE"/>
            </a:solidFill>
          </p:spPr>
        </p:sp>
      </p:grpSp>
      <p:grpSp>
        <p:nvGrpSpPr>
          <p:cNvPr name="Group 19" id="19"/>
          <p:cNvGrpSpPr/>
          <p:nvPr/>
        </p:nvGrpSpPr>
        <p:grpSpPr>
          <a:xfrm rot="0">
            <a:off x="1080049" y="4764586"/>
            <a:ext cx="5375967" cy="2765822"/>
            <a:chOff x="0" y="0"/>
            <a:chExt cx="7167956" cy="3687762"/>
          </a:xfrm>
        </p:grpSpPr>
        <p:sp>
          <p:nvSpPr>
            <p:cNvPr name="Freeform 20" id="20"/>
            <p:cNvSpPr/>
            <p:nvPr/>
          </p:nvSpPr>
          <p:spPr>
            <a:xfrm flipH="false" flipV="false" rot="0">
              <a:off x="0" y="0"/>
              <a:ext cx="7168007" cy="3687826"/>
            </a:xfrm>
            <a:custGeom>
              <a:avLst/>
              <a:gdLst/>
              <a:ahLst/>
              <a:cxnLst/>
              <a:rect r="r" b="b" t="t" l="l"/>
              <a:pathLst>
                <a:path h="3687826" w="7168007">
                  <a:moveTo>
                    <a:pt x="51435" y="0"/>
                  </a:moveTo>
                  <a:lnTo>
                    <a:pt x="7168007" y="0"/>
                  </a:lnTo>
                  <a:lnTo>
                    <a:pt x="7168007" y="3687826"/>
                  </a:lnTo>
                  <a:lnTo>
                    <a:pt x="51435" y="3687826"/>
                  </a:lnTo>
                  <a:cubicBezTo>
                    <a:pt x="22987" y="3687826"/>
                    <a:pt x="0" y="3664839"/>
                    <a:pt x="0" y="3636391"/>
                  </a:cubicBezTo>
                  <a:lnTo>
                    <a:pt x="0" y="51435"/>
                  </a:lnTo>
                  <a:cubicBezTo>
                    <a:pt x="0" y="22987"/>
                    <a:pt x="22987" y="0"/>
                    <a:pt x="51435" y="0"/>
                  </a:cubicBezTo>
                  <a:close/>
                </a:path>
              </a:pathLst>
            </a:custGeom>
            <a:solidFill>
              <a:srgbClr val="F2EEEE"/>
            </a:solidFill>
          </p:spPr>
        </p:sp>
      </p:grpSp>
      <p:sp>
        <p:nvSpPr>
          <p:cNvPr name="TextBox 21" id="21"/>
          <p:cNvSpPr txBox="true"/>
          <p:nvPr/>
        </p:nvSpPr>
        <p:spPr>
          <a:xfrm rot="0">
            <a:off x="1388564" y="5044526"/>
            <a:ext cx="4758928" cy="510778"/>
          </a:xfrm>
          <a:prstGeom prst="rect">
            <a:avLst/>
          </a:prstGeom>
        </p:spPr>
        <p:txBody>
          <a:bodyPr anchor="t" rtlCol="false" tIns="0" lIns="0" bIns="0" rIns="0">
            <a:spAutoFit/>
          </a:bodyPr>
          <a:lstStyle/>
          <a:p>
            <a:pPr algn="l">
              <a:lnSpc>
                <a:spcPts val="3744"/>
              </a:lnSpc>
            </a:pPr>
            <a:r>
              <a:rPr lang="en-US" sz="3000">
                <a:solidFill>
                  <a:srgbClr val="4C4C4D"/>
                </a:solidFill>
                <a:latin typeface="Crimson Pro"/>
                <a:ea typeface="Crimson Pro"/>
                <a:cs typeface="Crimson Pro"/>
                <a:sym typeface="Crimson Pro"/>
              </a:rPr>
              <a:t>8 Role Templates</a:t>
            </a:r>
          </a:p>
        </p:txBody>
      </p:sp>
      <p:sp>
        <p:nvSpPr>
          <p:cNvPr name="TextBox 22" id="22"/>
          <p:cNvSpPr txBox="true"/>
          <p:nvPr/>
        </p:nvSpPr>
        <p:spPr>
          <a:xfrm rot="0">
            <a:off x="1388564" y="5654726"/>
            <a:ext cx="4758928" cy="1567158"/>
          </a:xfrm>
          <a:prstGeom prst="rect">
            <a:avLst/>
          </a:prstGeom>
        </p:spPr>
        <p:txBody>
          <a:bodyPr anchor="t" rtlCol="false" tIns="0" lIns="0" bIns="0" rIns="0">
            <a:spAutoFit/>
          </a:bodyPr>
          <a:lstStyle/>
          <a:p>
            <a:pPr algn="l">
              <a:lnSpc>
                <a:spcPts val="3830"/>
              </a:lnSpc>
            </a:pPr>
            <a:r>
              <a:rPr lang="en-US" sz="2400">
                <a:solidFill>
                  <a:srgbClr val="4C4C4D"/>
                </a:solidFill>
                <a:latin typeface="Heebo"/>
                <a:ea typeface="Heebo"/>
                <a:cs typeface="Heebo"/>
                <a:sym typeface="Heebo"/>
              </a:rPr>
              <a:t>Software, Sales, Marketing, HR, Finance, Customer Service, Operations &amp; more</a:t>
            </a:r>
          </a:p>
        </p:txBody>
      </p:sp>
      <p:grpSp>
        <p:nvGrpSpPr>
          <p:cNvPr name="Group 23" id="23"/>
          <p:cNvGrpSpPr/>
          <p:nvPr/>
        </p:nvGrpSpPr>
        <p:grpSpPr>
          <a:xfrm rot="0">
            <a:off x="6456016" y="4764586"/>
            <a:ext cx="5375967" cy="2765822"/>
            <a:chOff x="0" y="0"/>
            <a:chExt cx="7167956" cy="3687762"/>
          </a:xfrm>
        </p:grpSpPr>
        <p:sp>
          <p:nvSpPr>
            <p:cNvPr name="Freeform 24" id="24"/>
            <p:cNvSpPr/>
            <p:nvPr/>
          </p:nvSpPr>
          <p:spPr>
            <a:xfrm flipH="false" flipV="false" rot="0">
              <a:off x="0" y="0"/>
              <a:ext cx="7168007" cy="3687826"/>
            </a:xfrm>
            <a:custGeom>
              <a:avLst/>
              <a:gdLst/>
              <a:ahLst/>
              <a:cxnLst/>
              <a:rect r="r" b="b" t="t" l="l"/>
              <a:pathLst>
                <a:path h="3687826" w="7168007">
                  <a:moveTo>
                    <a:pt x="0" y="0"/>
                  </a:moveTo>
                  <a:lnTo>
                    <a:pt x="7168007" y="0"/>
                  </a:lnTo>
                  <a:lnTo>
                    <a:pt x="7168007" y="3687826"/>
                  </a:lnTo>
                  <a:lnTo>
                    <a:pt x="0" y="3687826"/>
                  </a:lnTo>
                  <a:close/>
                </a:path>
              </a:pathLst>
            </a:custGeom>
            <a:solidFill>
              <a:srgbClr val="F2EEEE"/>
            </a:solidFill>
          </p:spPr>
        </p:sp>
      </p:grpSp>
      <p:grpSp>
        <p:nvGrpSpPr>
          <p:cNvPr name="Group 25" id="25"/>
          <p:cNvGrpSpPr/>
          <p:nvPr/>
        </p:nvGrpSpPr>
        <p:grpSpPr>
          <a:xfrm rot="0">
            <a:off x="6456016" y="4764586"/>
            <a:ext cx="38100" cy="2765822"/>
            <a:chOff x="0" y="0"/>
            <a:chExt cx="50800" cy="3687762"/>
          </a:xfrm>
        </p:grpSpPr>
        <p:sp>
          <p:nvSpPr>
            <p:cNvPr name="Freeform 26" id="26"/>
            <p:cNvSpPr/>
            <p:nvPr/>
          </p:nvSpPr>
          <p:spPr>
            <a:xfrm flipH="false" flipV="false" rot="0">
              <a:off x="0" y="0"/>
              <a:ext cx="50800" cy="3687826"/>
            </a:xfrm>
            <a:custGeom>
              <a:avLst/>
              <a:gdLst/>
              <a:ahLst/>
              <a:cxnLst/>
              <a:rect r="r" b="b" t="t" l="l"/>
              <a:pathLst>
                <a:path h="3687826" w="50800">
                  <a:moveTo>
                    <a:pt x="0" y="25400"/>
                  </a:moveTo>
                  <a:cubicBezTo>
                    <a:pt x="0" y="11430"/>
                    <a:pt x="11430" y="0"/>
                    <a:pt x="25400" y="0"/>
                  </a:cubicBezTo>
                  <a:cubicBezTo>
                    <a:pt x="39370" y="0"/>
                    <a:pt x="50800" y="11430"/>
                    <a:pt x="50800" y="25400"/>
                  </a:cubicBezTo>
                  <a:lnTo>
                    <a:pt x="50800" y="3662426"/>
                  </a:lnTo>
                  <a:cubicBezTo>
                    <a:pt x="50800" y="3676396"/>
                    <a:pt x="39370" y="3687826"/>
                    <a:pt x="25400" y="3687826"/>
                  </a:cubicBezTo>
                  <a:cubicBezTo>
                    <a:pt x="11430" y="3687826"/>
                    <a:pt x="0" y="3676396"/>
                    <a:pt x="0" y="3662426"/>
                  </a:cubicBezTo>
                  <a:close/>
                </a:path>
              </a:pathLst>
            </a:custGeom>
            <a:solidFill>
              <a:srgbClr val="D8D4D4"/>
            </a:solidFill>
          </p:spPr>
        </p:sp>
      </p:grpSp>
      <p:sp>
        <p:nvSpPr>
          <p:cNvPr name="TextBox 27" id="27"/>
          <p:cNvSpPr txBox="true"/>
          <p:nvPr/>
        </p:nvSpPr>
        <p:spPr>
          <a:xfrm rot="0">
            <a:off x="6764541" y="5044526"/>
            <a:ext cx="4758928" cy="510778"/>
          </a:xfrm>
          <a:prstGeom prst="rect">
            <a:avLst/>
          </a:prstGeom>
        </p:spPr>
        <p:txBody>
          <a:bodyPr anchor="t" rtlCol="false" tIns="0" lIns="0" bIns="0" rIns="0">
            <a:spAutoFit/>
          </a:bodyPr>
          <a:lstStyle/>
          <a:p>
            <a:pPr algn="l">
              <a:lnSpc>
                <a:spcPts val="3744"/>
              </a:lnSpc>
            </a:pPr>
            <a:r>
              <a:rPr lang="en-US" sz="3000">
                <a:solidFill>
                  <a:srgbClr val="4C4C4D"/>
                </a:solidFill>
                <a:latin typeface="Crimson Pro"/>
                <a:ea typeface="Crimson Pro"/>
                <a:cs typeface="Crimson Pro"/>
                <a:sym typeface="Crimson Pro"/>
              </a:rPr>
              <a:t>Master Template</a:t>
            </a:r>
          </a:p>
        </p:txBody>
      </p:sp>
      <p:sp>
        <p:nvSpPr>
          <p:cNvPr name="TextBox 28" id="28"/>
          <p:cNvSpPr txBox="true"/>
          <p:nvPr/>
        </p:nvSpPr>
        <p:spPr>
          <a:xfrm rot="0">
            <a:off x="6764541" y="5654726"/>
            <a:ext cx="4758928" cy="1073353"/>
          </a:xfrm>
          <a:prstGeom prst="rect">
            <a:avLst/>
          </a:prstGeom>
        </p:spPr>
        <p:txBody>
          <a:bodyPr anchor="t" rtlCol="false" tIns="0" lIns="0" bIns="0" rIns="0">
            <a:spAutoFit/>
          </a:bodyPr>
          <a:lstStyle/>
          <a:p>
            <a:pPr algn="l">
              <a:lnSpc>
                <a:spcPts val="3830"/>
              </a:lnSpc>
            </a:pPr>
            <a:r>
              <a:rPr lang="en-US" sz="2400">
                <a:solidFill>
                  <a:srgbClr val="4C4C4D"/>
                </a:solidFill>
                <a:latin typeface="Heebo"/>
                <a:ea typeface="Heebo"/>
                <a:cs typeface="Heebo"/>
                <a:sym typeface="Heebo"/>
              </a:rPr>
              <a:t>Universal starting point with every section you need, fully editable</a:t>
            </a:r>
          </a:p>
        </p:txBody>
      </p:sp>
      <p:grpSp>
        <p:nvGrpSpPr>
          <p:cNvPr name="Group 29" id="29"/>
          <p:cNvGrpSpPr/>
          <p:nvPr/>
        </p:nvGrpSpPr>
        <p:grpSpPr>
          <a:xfrm rot="0">
            <a:off x="11831984" y="4764586"/>
            <a:ext cx="5375967" cy="2765822"/>
            <a:chOff x="0" y="0"/>
            <a:chExt cx="7167956" cy="3687762"/>
          </a:xfrm>
        </p:grpSpPr>
        <p:sp>
          <p:nvSpPr>
            <p:cNvPr name="Freeform 30" id="30"/>
            <p:cNvSpPr/>
            <p:nvPr/>
          </p:nvSpPr>
          <p:spPr>
            <a:xfrm flipH="false" flipV="false" rot="0">
              <a:off x="0" y="0"/>
              <a:ext cx="7168007" cy="3687826"/>
            </a:xfrm>
            <a:custGeom>
              <a:avLst/>
              <a:gdLst/>
              <a:ahLst/>
              <a:cxnLst/>
              <a:rect r="r" b="b" t="t" l="l"/>
              <a:pathLst>
                <a:path h="3687826" w="7168007">
                  <a:moveTo>
                    <a:pt x="0" y="0"/>
                  </a:moveTo>
                  <a:lnTo>
                    <a:pt x="7116572" y="0"/>
                  </a:lnTo>
                  <a:cubicBezTo>
                    <a:pt x="7145020" y="0"/>
                    <a:pt x="7168007" y="22987"/>
                    <a:pt x="7168007" y="51435"/>
                  </a:cubicBezTo>
                  <a:lnTo>
                    <a:pt x="7168007" y="3636391"/>
                  </a:lnTo>
                  <a:cubicBezTo>
                    <a:pt x="7168007" y="3664839"/>
                    <a:pt x="7145020" y="3687826"/>
                    <a:pt x="7116572" y="3687826"/>
                  </a:cubicBezTo>
                  <a:lnTo>
                    <a:pt x="0" y="3687826"/>
                  </a:lnTo>
                  <a:lnTo>
                    <a:pt x="0" y="0"/>
                  </a:lnTo>
                  <a:close/>
                </a:path>
              </a:pathLst>
            </a:custGeom>
            <a:solidFill>
              <a:srgbClr val="F2EEEE"/>
            </a:solidFill>
          </p:spPr>
        </p:sp>
      </p:grpSp>
      <p:grpSp>
        <p:nvGrpSpPr>
          <p:cNvPr name="Group 31" id="31"/>
          <p:cNvGrpSpPr/>
          <p:nvPr/>
        </p:nvGrpSpPr>
        <p:grpSpPr>
          <a:xfrm rot="0">
            <a:off x="11831984" y="4764586"/>
            <a:ext cx="38100" cy="2765822"/>
            <a:chOff x="0" y="0"/>
            <a:chExt cx="50800" cy="3687762"/>
          </a:xfrm>
        </p:grpSpPr>
        <p:sp>
          <p:nvSpPr>
            <p:cNvPr name="Freeform 32" id="32"/>
            <p:cNvSpPr/>
            <p:nvPr/>
          </p:nvSpPr>
          <p:spPr>
            <a:xfrm flipH="false" flipV="false" rot="0">
              <a:off x="0" y="0"/>
              <a:ext cx="50800" cy="3687826"/>
            </a:xfrm>
            <a:custGeom>
              <a:avLst/>
              <a:gdLst/>
              <a:ahLst/>
              <a:cxnLst/>
              <a:rect r="r" b="b" t="t" l="l"/>
              <a:pathLst>
                <a:path h="3687826" w="50800">
                  <a:moveTo>
                    <a:pt x="0" y="25400"/>
                  </a:moveTo>
                  <a:cubicBezTo>
                    <a:pt x="0" y="11430"/>
                    <a:pt x="11430" y="0"/>
                    <a:pt x="25400" y="0"/>
                  </a:cubicBezTo>
                  <a:cubicBezTo>
                    <a:pt x="39370" y="0"/>
                    <a:pt x="50800" y="11430"/>
                    <a:pt x="50800" y="25400"/>
                  </a:cubicBezTo>
                  <a:lnTo>
                    <a:pt x="50800" y="3662426"/>
                  </a:lnTo>
                  <a:cubicBezTo>
                    <a:pt x="50800" y="3676396"/>
                    <a:pt x="39370" y="3687826"/>
                    <a:pt x="25400" y="3687826"/>
                  </a:cubicBezTo>
                  <a:cubicBezTo>
                    <a:pt x="11430" y="3687826"/>
                    <a:pt x="0" y="3676396"/>
                    <a:pt x="0" y="3662426"/>
                  </a:cubicBezTo>
                  <a:close/>
                </a:path>
              </a:pathLst>
            </a:custGeom>
            <a:solidFill>
              <a:srgbClr val="D8D4D4"/>
            </a:solidFill>
          </p:spPr>
        </p:sp>
      </p:grpSp>
      <p:sp>
        <p:nvSpPr>
          <p:cNvPr name="TextBox 33" id="33"/>
          <p:cNvSpPr txBox="true"/>
          <p:nvPr/>
        </p:nvSpPr>
        <p:spPr>
          <a:xfrm rot="0">
            <a:off x="12140508" y="5044526"/>
            <a:ext cx="4758928" cy="510778"/>
          </a:xfrm>
          <a:prstGeom prst="rect">
            <a:avLst/>
          </a:prstGeom>
        </p:spPr>
        <p:txBody>
          <a:bodyPr anchor="t" rtlCol="false" tIns="0" lIns="0" bIns="0" rIns="0">
            <a:spAutoFit/>
          </a:bodyPr>
          <a:lstStyle/>
          <a:p>
            <a:pPr algn="l">
              <a:lnSpc>
                <a:spcPts val="3744"/>
              </a:lnSpc>
            </a:pPr>
            <a:r>
              <a:rPr lang="en-US" sz="3000">
                <a:solidFill>
                  <a:srgbClr val="4C4C4D"/>
                </a:solidFill>
                <a:latin typeface="Crimson Pro"/>
                <a:ea typeface="Crimson Pro"/>
                <a:cs typeface="Crimson Pro"/>
                <a:sym typeface="Crimson Pro"/>
              </a:rPr>
              <a:t>Ready to Publish</a:t>
            </a:r>
          </a:p>
        </p:txBody>
      </p:sp>
      <p:sp>
        <p:nvSpPr>
          <p:cNvPr name="TextBox 34" id="34"/>
          <p:cNvSpPr txBox="true"/>
          <p:nvPr/>
        </p:nvSpPr>
        <p:spPr>
          <a:xfrm rot="0">
            <a:off x="12140508" y="5654726"/>
            <a:ext cx="4758928" cy="1567158"/>
          </a:xfrm>
          <a:prstGeom prst="rect">
            <a:avLst/>
          </a:prstGeom>
        </p:spPr>
        <p:txBody>
          <a:bodyPr anchor="t" rtlCol="false" tIns="0" lIns="0" bIns="0" rIns="0">
            <a:spAutoFit/>
          </a:bodyPr>
          <a:lstStyle/>
          <a:p>
            <a:pPr algn="l">
              <a:lnSpc>
                <a:spcPts val="3830"/>
              </a:lnSpc>
            </a:pPr>
            <a:r>
              <a:rPr lang="en-US" sz="2400">
                <a:solidFill>
                  <a:srgbClr val="4C4C4D"/>
                </a:solidFill>
                <a:latin typeface="Heebo"/>
                <a:ea typeface="Heebo"/>
                <a:cs typeface="Heebo"/>
                <a:sym typeface="Heebo"/>
              </a:rPr>
              <a:t>Copy, replace placeholders, and post — no rewriting from scratch required</a:t>
            </a:r>
          </a:p>
        </p:txBody>
      </p:sp>
      <p:sp>
        <p:nvSpPr>
          <p:cNvPr name="TextBox 35" id="35"/>
          <p:cNvSpPr txBox="true"/>
          <p:nvPr/>
        </p:nvSpPr>
        <p:spPr>
          <a:xfrm rot="0">
            <a:off x="622849" y="7791745"/>
            <a:ext cx="17042311" cy="579539"/>
          </a:xfrm>
          <a:prstGeom prst="rect">
            <a:avLst/>
          </a:prstGeom>
        </p:spPr>
        <p:txBody>
          <a:bodyPr anchor="t" rtlCol="false" tIns="0" lIns="0" bIns="0" rIns="0">
            <a:spAutoFit/>
          </a:bodyPr>
          <a:lstStyle/>
          <a:p>
            <a:pPr algn="ctr">
              <a:lnSpc>
                <a:spcPts val="3830"/>
              </a:lnSpc>
            </a:pPr>
            <a:r>
              <a:rPr lang="en-US" sz="2400">
                <a:solidFill>
                  <a:srgbClr val="4C4C4D"/>
                </a:solidFill>
                <a:latin typeface="Heebo"/>
                <a:ea typeface="Heebo"/>
                <a:cs typeface="Heebo"/>
                <a:sym typeface="Heebo"/>
              </a:rPr>
              <a:t>Designed for in-house HR teams and recruitment agencies hiring across the Gulf region and beyond.</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0F0F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1080049" y="895798"/>
            <a:ext cx="16127911" cy="836714"/>
          </a:xfrm>
          <a:prstGeom prst="rect">
            <a:avLst/>
          </a:prstGeom>
        </p:spPr>
        <p:txBody>
          <a:bodyPr anchor="t" rtlCol="false" tIns="0" lIns="0" bIns="0" rIns="0">
            <a:spAutoFit/>
          </a:bodyPr>
          <a:lstStyle/>
          <a:p>
            <a:pPr algn="l">
              <a:lnSpc>
                <a:spcPts val="6239"/>
              </a:lnSpc>
            </a:pPr>
            <a:r>
              <a:rPr lang="en-US" sz="4999">
                <a:solidFill>
                  <a:srgbClr val="152D47"/>
                </a:solidFill>
                <a:latin typeface="Crimson Pro"/>
                <a:ea typeface="Crimson Pro"/>
                <a:cs typeface="Crimson Pro"/>
                <a:sym typeface="Crimson Pro"/>
              </a:rPr>
              <a:t>How to Use This Pack</a:t>
            </a:r>
          </a:p>
        </p:txBody>
      </p:sp>
      <p:sp>
        <p:nvSpPr>
          <p:cNvPr name="TextBox 7" id="7"/>
          <p:cNvSpPr txBox="true"/>
          <p:nvPr/>
        </p:nvSpPr>
        <p:spPr>
          <a:xfrm rot="0">
            <a:off x="1080049" y="2098624"/>
            <a:ext cx="17042311" cy="430854"/>
          </a:xfrm>
          <a:prstGeom prst="rect">
            <a:avLst/>
          </a:prstGeom>
        </p:spPr>
        <p:txBody>
          <a:bodyPr anchor="t" rtlCol="false" tIns="0" lIns="0" bIns="0" rIns="0">
            <a:spAutoFit/>
          </a:bodyPr>
          <a:lstStyle/>
          <a:p>
            <a:pPr algn="l">
              <a:lnSpc>
                <a:spcPts val="2928"/>
              </a:lnSpc>
            </a:pPr>
            <a:r>
              <a:rPr lang="en-US" sz="2000">
                <a:solidFill>
                  <a:srgbClr val="4C4C4D"/>
                </a:solidFill>
                <a:latin typeface="Heebo"/>
                <a:ea typeface="Heebo"/>
                <a:cs typeface="Heebo"/>
                <a:sym typeface="Heebo"/>
              </a:rPr>
              <a:t>Follow these five steps to go from template to published job description in minutes.</a:t>
            </a:r>
          </a:p>
        </p:txBody>
      </p:sp>
      <p:sp>
        <p:nvSpPr>
          <p:cNvPr name="Freeform 8" id="8" descr="preencoded.png"/>
          <p:cNvSpPr/>
          <p:nvPr/>
        </p:nvSpPr>
        <p:spPr>
          <a:xfrm flipH="false" flipV="false" rot="0">
            <a:off x="1080049" y="2799312"/>
            <a:ext cx="255537" cy="255537"/>
          </a:xfrm>
          <a:custGeom>
            <a:avLst/>
            <a:gdLst/>
            <a:ahLst/>
            <a:cxnLst/>
            <a:rect r="r" b="b" t="t" l="l"/>
            <a:pathLst>
              <a:path h="255537" w="255537">
                <a:moveTo>
                  <a:pt x="0" y="0"/>
                </a:moveTo>
                <a:lnTo>
                  <a:pt x="255537" y="0"/>
                </a:lnTo>
                <a:lnTo>
                  <a:pt x="255537" y="255536"/>
                </a:lnTo>
                <a:lnTo>
                  <a:pt x="0" y="2555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9" id="9"/>
          <p:cNvGrpSpPr/>
          <p:nvPr/>
        </p:nvGrpSpPr>
        <p:grpSpPr>
          <a:xfrm rot="0">
            <a:off x="1080049" y="3173168"/>
            <a:ext cx="5234883" cy="28575"/>
            <a:chOff x="0" y="0"/>
            <a:chExt cx="6979844" cy="38100"/>
          </a:xfrm>
        </p:grpSpPr>
        <p:sp>
          <p:nvSpPr>
            <p:cNvPr name="Freeform 10" id="10"/>
            <p:cNvSpPr/>
            <p:nvPr/>
          </p:nvSpPr>
          <p:spPr>
            <a:xfrm flipH="false" flipV="false" rot="0">
              <a:off x="0" y="0"/>
              <a:ext cx="6979793" cy="38100"/>
            </a:xfrm>
            <a:custGeom>
              <a:avLst/>
              <a:gdLst/>
              <a:ahLst/>
              <a:cxnLst/>
              <a:rect r="r" b="b" t="t" l="l"/>
              <a:pathLst>
                <a:path h="38100" w="6979793">
                  <a:moveTo>
                    <a:pt x="0" y="0"/>
                  </a:moveTo>
                  <a:lnTo>
                    <a:pt x="6979793" y="0"/>
                  </a:lnTo>
                  <a:lnTo>
                    <a:pt x="6979793" y="38100"/>
                  </a:lnTo>
                  <a:lnTo>
                    <a:pt x="0" y="38100"/>
                  </a:lnTo>
                  <a:close/>
                </a:path>
              </a:pathLst>
            </a:custGeom>
            <a:solidFill>
              <a:srgbClr val="2150FE"/>
            </a:solidFill>
          </p:spPr>
        </p:sp>
      </p:grpSp>
      <p:sp>
        <p:nvSpPr>
          <p:cNvPr name="TextBox 11" id="11"/>
          <p:cNvSpPr txBox="true"/>
          <p:nvPr/>
        </p:nvSpPr>
        <p:spPr>
          <a:xfrm rot="0">
            <a:off x="1080049" y="3338960"/>
            <a:ext cx="5234883" cy="418357"/>
          </a:xfrm>
          <a:prstGeom prst="rect">
            <a:avLst/>
          </a:prstGeom>
        </p:spPr>
        <p:txBody>
          <a:bodyPr anchor="t" rtlCol="false" tIns="0" lIns="0" bIns="0" rIns="0">
            <a:spAutoFit/>
          </a:bodyPr>
          <a:lstStyle/>
          <a:p>
            <a:pPr algn="l">
              <a:lnSpc>
                <a:spcPts val="3119"/>
              </a:lnSpc>
            </a:pPr>
            <a:r>
              <a:rPr lang="en-US" sz="2499">
                <a:solidFill>
                  <a:srgbClr val="4C4C4D"/>
                </a:solidFill>
                <a:latin typeface="Crimson Pro"/>
                <a:ea typeface="Crimson Pro"/>
                <a:cs typeface="Crimson Pro"/>
                <a:sym typeface="Crimson Pro"/>
              </a:rPr>
              <a:t>Choose Your Template</a:t>
            </a:r>
          </a:p>
        </p:txBody>
      </p:sp>
      <p:sp>
        <p:nvSpPr>
          <p:cNvPr name="TextBox 12" id="12"/>
          <p:cNvSpPr txBox="true"/>
          <p:nvPr/>
        </p:nvSpPr>
        <p:spPr>
          <a:xfrm rot="0">
            <a:off x="1080049" y="3827116"/>
            <a:ext cx="5234883" cy="1551984"/>
          </a:xfrm>
          <a:prstGeom prst="rect">
            <a:avLst/>
          </a:prstGeom>
        </p:spPr>
        <p:txBody>
          <a:bodyPr anchor="t" rtlCol="false" tIns="0" lIns="0" bIns="0" rIns="0">
            <a:spAutoFit/>
          </a:bodyPr>
          <a:lstStyle/>
          <a:p>
            <a:pPr algn="l">
              <a:lnSpc>
                <a:spcPts val="2928"/>
              </a:lnSpc>
            </a:pPr>
            <a:r>
              <a:rPr lang="en-US" sz="2000">
                <a:solidFill>
                  <a:srgbClr val="4C4C4D"/>
                </a:solidFill>
                <a:latin typeface="Heebo"/>
                <a:ea typeface="Heebo"/>
                <a:cs typeface="Heebo"/>
                <a:sym typeface="Heebo"/>
              </a:rPr>
              <a:t>Select the role template that most closely matches the position you are hiring for. Use the Master Template if your role does not fit a specific category.</a:t>
            </a:r>
          </a:p>
        </p:txBody>
      </p:sp>
      <p:sp>
        <p:nvSpPr>
          <p:cNvPr name="Freeform 13" id="13" descr="preencoded.png"/>
          <p:cNvSpPr/>
          <p:nvPr/>
        </p:nvSpPr>
        <p:spPr>
          <a:xfrm flipH="false" flipV="false" rot="0">
            <a:off x="6526559" y="2799312"/>
            <a:ext cx="255537" cy="255537"/>
          </a:xfrm>
          <a:custGeom>
            <a:avLst/>
            <a:gdLst/>
            <a:ahLst/>
            <a:cxnLst/>
            <a:rect r="r" b="b" t="t" l="l"/>
            <a:pathLst>
              <a:path h="255537" w="255537">
                <a:moveTo>
                  <a:pt x="0" y="0"/>
                </a:moveTo>
                <a:lnTo>
                  <a:pt x="255536" y="0"/>
                </a:lnTo>
                <a:lnTo>
                  <a:pt x="255536" y="255536"/>
                </a:lnTo>
                <a:lnTo>
                  <a:pt x="0" y="255536"/>
                </a:lnTo>
                <a:lnTo>
                  <a:pt x="0" y="0"/>
                </a:lnTo>
                <a:close/>
              </a:path>
            </a:pathLst>
          </a:custGeom>
          <a:blipFill>
            <a:blip r:embed="rId5">
              <a:extLst>
                <a:ext uri="{96DAC541-7B7A-43D3-8B79-37D633B846F1}">
                  <asvg:svgBlip xmlns:asvg="http://schemas.microsoft.com/office/drawing/2016/SVG/main" r:embed="rId6"/>
                </a:ext>
              </a:extLst>
            </a:blip>
            <a:stretch>
              <a:fillRect l="-7406" t="0" r="-7410" b="0"/>
            </a:stretch>
          </a:blipFill>
        </p:spPr>
      </p:sp>
      <p:grpSp>
        <p:nvGrpSpPr>
          <p:cNvPr name="Group 14" id="14"/>
          <p:cNvGrpSpPr/>
          <p:nvPr/>
        </p:nvGrpSpPr>
        <p:grpSpPr>
          <a:xfrm rot="0">
            <a:off x="6526559" y="3173168"/>
            <a:ext cx="5234883" cy="28575"/>
            <a:chOff x="0" y="0"/>
            <a:chExt cx="6979844" cy="38100"/>
          </a:xfrm>
        </p:grpSpPr>
        <p:sp>
          <p:nvSpPr>
            <p:cNvPr name="Freeform 15" id="15"/>
            <p:cNvSpPr/>
            <p:nvPr/>
          </p:nvSpPr>
          <p:spPr>
            <a:xfrm flipH="false" flipV="false" rot="0">
              <a:off x="0" y="0"/>
              <a:ext cx="6979793" cy="38100"/>
            </a:xfrm>
            <a:custGeom>
              <a:avLst/>
              <a:gdLst/>
              <a:ahLst/>
              <a:cxnLst/>
              <a:rect r="r" b="b" t="t" l="l"/>
              <a:pathLst>
                <a:path h="38100" w="6979793">
                  <a:moveTo>
                    <a:pt x="0" y="0"/>
                  </a:moveTo>
                  <a:lnTo>
                    <a:pt x="6979793" y="0"/>
                  </a:lnTo>
                  <a:lnTo>
                    <a:pt x="6979793" y="38100"/>
                  </a:lnTo>
                  <a:lnTo>
                    <a:pt x="0" y="38100"/>
                  </a:lnTo>
                  <a:close/>
                </a:path>
              </a:pathLst>
            </a:custGeom>
            <a:solidFill>
              <a:srgbClr val="2150FE"/>
            </a:solidFill>
          </p:spPr>
        </p:sp>
      </p:grpSp>
      <p:sp>
        <p:nvSpPr>
          <p:cNvPr name="TextBox 16" id="16"/>
          <p:cNvSpPr txBox="true"/>
          <p:nvPr/>
        </p:nvSpPr>
        <p:spPr>
          <a:xfrm rot="0">
            <a:off x="6526559" y="3338960"/>
            <a:ext cx="5234883" cy="418357"/>
          </a:xfrm>
          <a:prstGeom prst="rect">
            <a:avLst/>
          </a:prstGeom>
        </p:spPr>
        <p:txBody>
          <a:bodyPr anchor="t" rtlCol="false" tIns="0" lIns="0" bIns="0" rIns="0">
            <a:spAutoFit/>
          </a:bodyPr>
          <a:lstStyle/>
          <a:p>
            <a:pPr algn="l">
              <a:lnSpc>
                <a:spcPts val="3119"/>
              </a:lnSpc>
            </a:pPr>
            <a:r>
              <a:rPr lang="en-US" sz="2499">
                <a:solidFill>
                  <a:srgbClr val="4C4C4D"/>
                </a:solidFill>
                <a:latin typeface="Crimson Pro"/>
                <a:ea typeface="Crimson Pro"/>
                <a:cs typeface="Crimson Pro"/>
                <a:sym typeface="Crimson Pro"/>
              </a:rPr>
              <a:t>Replace the Placeholders</a:t>
            </a:r>
          </a:p>
        </p:txBody>
      </p:sp>
      <p:sp>
        <p:nvSpPr>
          <p:cNvPr name="TextBox 17" id="17"/>
          <p:cNvSpPr txBox="true"/>
          <p:nvPr/>
        </p:nvSpPr>
        <p:spPr>
          <a:xfrm rot="0">
            <a:off x="6526559" y="3827116"/>
            <a:ext cx="5234883" cy="1197321"/>
          </a:xfrm>
          <a:prstGeom prst="rect">
            <a:avLst/>
          </a:prstGeom>
        </p:spPr>
        <p:txBody>
          <a:bodyPr anchor="t" rtlCol="false" tIns="0" lIns="0" bIns="0" rIns="0">
            <a:spAutoFit/>
          </a:bodyPr>
          <a:lstStyle/>
          <a:p>
            <a:pPr algn="l">
              <a:lnSpc>
                <a:spcPts val="2928"/>
              </a:lnSpc>
            </a:pPr>
            <a:r>
              <a:rPr lang="en-US" sz="2000">
                <a:solidFill>
                  <a:srgbClr val="4C4C4D"/>
                </a:solidFill>
                <a:latin typeface="Heebo"/>
                <a:ea typeface="Heebo"/>
                <a:cs typeface="Heebo"/>
                <a:sym typeface="Heebo"/>
              </a:rPr>
              <a:t>Every [bracketed item] is a placeholder. Replace each one with your specific company information, role details, and requirements.</a:t>
            </a:r>
          </a:p>
        </p:txBody>
      </p:sp>
      <p:sp>
        <p:nvSpPr>
          <p:cNvPr name="Freeform 18" id="18" descr="preencoded.png"/>
          <p:cNvSpPr/>
          <p:nvPr/>
        </p:nvSpPr>
        <p:spPr>
          <a:xfrm flipH="false" flipV="false" rot="0">
            <a:off x="11973077" y="2799312"/>
            <a:ext cx="255537" cy="255537"/>
          </a:xfrm>
          <a:custGeom>
            <a:avLst/>
            <a:gdLst/>
            <a:ahLst/>
            <a:cxnLst/>
            <a:rect r="r" b="b" t="t" l="l"/>
            <a:pathLst>
              <a:path h="255537" w="255537">
                <a:moveTo>
                  <a:pt x="0" y="0"/>
                </a:moveTo>
                <a:lnTo>
                  <a:pt x="255537" y="0"/>
                </a:lnTo>
                <a:lnTo>
                  <a:pt x="255537" y="255536"/>
                </a:lnTo>
                <a:lnTo>
                  <a:pt x="0" y="255536"/>
                </a:lnTo>
                <a:lnTo>
                  <a:pt x="0" y="0"/>
                </a:lnTo>
                <a:close/>
              </a:path>
            </a:pathLst>
          </a:custGeom>
          <a:blipFill>
            <a:blip r:embed="rId7">
              <a:extLst>
                <a:ext uri="{96DAC541-7B7A-43D3-8B79-37D633B846F1}">
                  <asvg:svgBlip xmlns:asvg="http://schemas.microsoft.com/office/drawing/2016/SVG/main" r:embed="rId8"/>
                </a:ext>
              </a:extLst>
            </a:blip>
            <a:stretch>
              <a:fillRect l="-1852" t="0" r="-1852" b="0"/>
            </a:stretch>
          </a:blipFill>
        </p:spPr>
      </p:sp>
      <p:grpSp>
        <p:nvGrpSpPr>
          <p:cNvPr name="Group 19" id="19"/>
          <p:cNvGrpSpPr/>
          <p:nvPr/>
        </p:nvGrpSpPr>
        <p:grpSpPr>
          <a:xfrm rot="0">
            <a:off x="11973077" y="3173168"/>
            <a:ext cx="5234883" cy="28575"/>
            <a:chOff x="0" y="0"/>
            <a:chExt cx="6979844" cy="38100"/>
          </a:xfrm>
        </p:grpSpPr>
        <p:sp>
          <p:nvSpPr>
            <p:cNvPr name="Freeform 20" id="20"/>
            <p:cNvSpPr/>
            <p:nvPr/>
          </p:nvSpPr>
          <p:spPr>
            <a:xfrm flipH="false" flipV="false" rot="0">
              <a:off x="0" y="0"/>
              <a:ext cx="6979793" cy="38100"/>
            </a:xfrm>
            <a:custGeom>
              <a:avLst/>
              <a:gdLst/>
              <a:ahLst/>
              <a:cxnLst/>
              <a:rect r="r" b="b" t="t" l="l"/>
              <a:pathLst>
                <a:path h="38100" w="6979793">
                  <a:moveTo>
                    <a:pt x="0" y="0"/>
                  </a:moveTo>
                  <a:lnTo>
                    <a:pt x="6979793" y="0"/>
                  </a:lnTo>
                  <a:lnTo>
                    <a:pt x="6979793" y="38100"/>
                  </a:lnTo>
                  <a:lnTo>
                    <a:pt x="0" y="38100"/>
                  </a:lnTo>
                  <a:close/>
                </a:path>
              </a:pathLst>
            </a:custGeom>
            <a:solidFill>
              <a:srgbClr val="2150FE"/>
            </a:solidFill>
          </p:spPr>
        </p:sp>
      </p:grpSp>
      <p:sp>
        <p:nvSpPr>
          <p:cNvPr name="TextBox 21" id="21"/>
          <p:cNvSpPr txBox="true"/>
          <p:nvPr/>
        </p:nvSpPr>
        <p:spPr>
          <a:xfrm rot="0">
            <a:off x="11973077" y="3338960"/>
            <a:ext cx="5234883" cy="418357"/>
          </a:xfrm>
          <a:prstGeom prst="rect">
            <a:avLst/>
          </a:prstGeom>
        </p:spPr>
        <p:txBody>
          <a:bodyPr anchor="t" rtlCol="false" tIns="0" lIns="0" bIns="0" rIns="0">
            <a:spAutoFit/>
          </a:bodyPr>
          <a:lstStyle/>
          <a:p>
            <a:pPr algn="l">
              <a:lnSpc>
                <a:spcPts val="3119"/>
              </a:lnSpc>
            </a:pPr>
            <a:r>
              <a:rPr lang="en-US" sz="2499">
                <a:solidFill>
                  <a:srgbClr val="4C4C4D"/>
                </a:solidFill>
                <a:latin typeface="Crimson Pro"/>
                <a:ea typeface="Crimson Pro"/>
                <a:cs typeface="Crimson Pro"/>
                <a:sym typeface="Crimson Pro"/>
              </a:rPr>
              <a:t>Add Role-Specific Details</a:t>
            </a:r>
          </a:p>
        </p:txBody>
      </p:sp>
      <p:sp>
        <p:nvSpPr>
          <p:cNvPr name="TextBox 22" id="22"/>
          <p:cNvSpPr txBox="true"/>
          <p:nvPr/>
        </p:nvSpPr>
        <p:spPr>
          <a:xfrm rot="0">
            <a:off x="11973077" y="3827116"/>
            <a:ext cx="5234883" cy="1551984"/>
          </a:xfrm>
          <a:prstGeom prst="rect">
            <a:avLst/>
          </a:prstGeom>
        </p:spPr>
        <p:txBody>
          <a:bodyPr anchor="t" rtlCol="false" tIns="0" lIns="0" bIns="0" rIns="0">
            <a:spAutoFit/>
          </a:bodyPr>
          <a:lstStyle/>
          <a:p>
            <a:pPr algn="l">
              <a:lnSpc>
                <a:spcPts val="2928"/>
              </a:lnSpc>
            </a:pPr>
            <a:r>
              <a:rPr lang="en-US" sz="2000">
                <a:solidFill>
                  <a:srgbClr val="4C4C4D"/>
                </a:solidFill>
                <a:latin typeface="Heebo"/>
                <a:ea typeface="Heebo"/>
                <a:cs typeface="Heebo"/>
                <a:sym typeface="Heebo"/>
              </a:rPr>
              <a:t>Customize responsibilities and skills to reflect your team's actual needs. Remove sections that do not apply and add any that are missing.</a:t>
            </a:r>
          </a:p>
        </p:txBody>
      </p:sp>
      <p:sp>
        <p:nvSpPr>
          <p:cNvPr name="Freeform 23" id="23" descr="preencoded.png"/>
          <p:cNvSpPr/>
          <p:nvPr/>
        </p:nvSpPr>
        <p:spPr>
          <a:xfrm flipH="false" flipV="false" rot="0">
            <a:off x="1080049" y="5814117"/>
            <a:ext cx="255537" cy="255537"/>
          </a:xfrm>
          <a:custGeom>
            <a:avLst/>
            <a:gdLst/>
            <a:ahLst/>
            <a:cxnLst/>
            <a:rect r="r" b="b" t="t" l="l"/>
            <a:pathLst>
              <a:path h="255537" w="255537">
                <a:moveTo>
                  <a:pt x="0" y="0"/>
                </a:moveTo>
                <a:lnTo>
                  <a:pt x="255537" y="0"/>
                </a:lnTo>
                <a:lnTo>
                  <a:pt x="255537" y="255537"/>
                </a:lnTo>
                <a:lnTo>
                  <a:pt x="0" y="255537"/>
                </a:lnTo>
                <a:lnTo>
                  <a:pt x="0" y="0"/>
                </a:lnTo>
                <a:close/>
              </a:path>
            </a:pathLst>
          </a:custGeom>
          <a:blipFill>
            <a:blip r:embed="rId9">
              <a:extLst>
                <a:ext uri="{96DAC541-7B7A-43D3-8B79-37D633B846F1}">
                  <asvg:svgBlip xmlns:asvg="http://schemas.microsoft.com/office/drawing/2016/SVG/main" r:embed="rId10"/>
                </a:ext>
              </a:extLst>
            </a:blip>
            <a:stretch>
              <a:fillRect l="-22223" t="0" r="-22223" b="0"/>
            </a:stretch>
          </a:blipFill>
        </p:spPr>
      </p:sp>
      <p:grpSp>
        <p:nvGrpSpPr>
          <p:cNvPr name="Group 24" id="24"/>
          <p:cNvGrpSpPr/>
          <p:nvPr/>
        </p:nvGrpSpPr>
        <p:grpSpPr>
          <a:xfrm rot="0">
            <a:off x="1080049" y="6187973"/>
            <a:ext cx="7958138" cy="28575"/>
            <a:chOff x="0" y="0"/>
            <a:chExt cx="10610850" cy="38100"/>
          </a:xfrm>
        </p:grpSpPr>
        <p:sp>
          <p:nvSpPr>
            <p:cNvPr name="Freeform 25" id="25"/>
            <p:cNvSpPr/>
            <p:nvPr/>
          </p:nvSpPr>
          <p:spPr>
            <a:xfrm flipH="false" flipV="false" rot="0">
              <a:off x="0" y="0"/>
              <a:ext cx="10610850" cy="38100"/>
            </a:xfrm>
            <a:custGeom>
              <a:avLst/>
              <a:gdLst/>
              <a:ahLst/>
              <a:cxnLst/>
              <a:rect r="r" b="b" t="t" l="l"/>
              <a:pathLst>
                <a:path h="38100" w="10610850">
                  <a:moveTo>
                    <a:pt x="0" y="0"/>
                  </a:moveTo>
                  <a:lnTo>
                    <a:pt x="10610850" y="0"/>
                  </a:lnTo>
                  <a:lnTo>
                    <a:pt x="10610850" y="38100"/>
                  </a:lnTo>
                  <a:lnTo>
                    <a:pt x="0" y="38100"/>
                  </a:lnTo>
                  <a:close/>
                </a:path>
              </a:pathLst>
            </a:custGeom>
            <a:solidFill>
              <a:srgbClr val="2150FE"/>
            </a:solidFill>
          </p:spPr>
        </p:sp>
      </p:grpSp>
      <p:sp>
        <p:nvSpPr>
          <p:cNvPr name="TextBox 26" id="26"/>
          <p:cNvSpPr txBox="true"/>
          <p:nvPr/>
        </p:nvSpPr>
        <p:spPr>
          <a:xfrm rot="0">
            <a:off x="1080049" y="6353766"/>
            <a:ext cx="7958138" cy="418357"/>
          </a:xfrm>
          <a:prstGeom prst="rect">
            <a:avLst/>
          </a:prstGeom>
        </p:spPr>
        <p:txBody>
          <a:bodyPr anchor="t" rtlCol="false" tIns="0" lIns="0" bIns="0" rIns="0">
            <a:spAutoFit/>
          </a:bodyPr>
          <a:lstStyle/>
          <a:p>
            <a:pPr algn="l">
              <a:lnSpc>
                <a:spcPts val="3119"/>
              </a:lnSpc>
            </a:pPr>
            <a:r>
              <a:rPr lang="en-US" sz="2499">
                <a:solidFill>
                  <a:srgbClr val="4C4C4D"/>
                </a:solidFill>
                <a:latin typeface="Crimson Pro"/>
                <a:ea typeface="Crimson Pro"/>
                <a:cs typeface="Crimson Pro"/>
                <a:sym typeface="Crimson Pro"/>
              </a:rPr>
              <a:t>Review for Clarity and Accuracy</a:t>
            </a:r>
          </a:p>
        </p:txBody>
      </p:sp>
      <p:sp>
        <p:nvSpPr>
          <p:cNvPr name="TextBox 27" id="27"/>
          <p:cNvSpPr txBox="true"/>
          <p:nvPr/>
        </p:nvSpPr>
        <p:spPr>
          <a:xfrm rot="0">
            <a:off x="1080049" y="6841922"/>
            <a:ext cx="7958138" cy="804567"/>
          </a:xfrm>
          <a:prstGeom prst="rect">
            <a:avLst/>
          </a:prstGeom>
        </p:spPr>
        <p:txBody>
          <a:bodyPr anchor="t" rtlCol="false" tIns="0" lIns="0" bIns="0" rIns="0">
            <a:spAutoFit/>
          </a:bodyPr>
          <a:lstStyle/>
          <a:p>
            <a:pPr algn="l">
              <a:lnSpc>
                <a:spcPts val="2928"/>
              </a:lnSpc>
            </a:pPr>
            <a:r>
              <a:rPr lang="en-US" sz="2000">
                <a:solidFill>
                  <a:srgbClr val="4C4C4D"/>
                </a:solidFill>
                <a:latin typeface="Heebo"/>
                <a:ea typeface="Heebo"/>
                <a:cs typeface="Heebo"/>
                <a:sym typeface="Heebo"/>
              </a:rPr>
              <a:t>Read the completed description from a candidate's perspective. Ensure every section is clear, accurate, and free of internal jargon.</a:t>
            </a:r>
          </a:p>
        </p:txBody>
      </p:sp>
      <p:sp>
        <p:nvSpPr>
          <p:cNvPr name="Freeform 28" id="28" descr="preencoded.png"/>
          <p:cNvSpPr/>
          <p:nvPr/>
        </p:nvSpPr>
        <p:spPr>
          <a:xfrm flipH="false" flipV="false" rot="0">
            <a:off x="9249813" y="5814117"/>
            <a:ext cx="255537" cy="255537"/>
          </a:xfrm>
          <a:custGeom>
            <a:avLst/>
            <a:gdLst/>
            <a:ahLst/>
            <a:cxnLst/>
            <a:rect r="r" b="b" t="t" l="l"/>
            <a:pathLst>
              <a:path h="255537" w="255537">
                <a:moveTo>
                  <a:pt x="0" y="0"/>
                </a:moveTo>
                <a:lnTo>
                  <a:pt x="255537" y="0"/>
                </a:lnTo>
                <a:lnTo>
                  <a:pt x="255537" y="255537"/>
                </a:lnTo>
                <a:lnTo>
                  <a:pt x="0" y="25553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9" id="29"/>
          <p:cNvGrpSpPr/>
          <p:nvPr/>
        </p:nvGrpSpPr>
        <p:grpSpPr>
          <a:xfrm rot="0">
            <a:off x="9249813" y="6187973"/>
            <a:ext cx="7958138" cy="28575"/>
            <a:chOff x="0" y="0"/>
            <a:chExt cx="10610850" cy="38100"/>
          </a:xfrm>
        </p:grpSpPr>
        <p:sp>
          <p:nvSpPr>
            <p:cNvPr name="Freeform 30" id="30"/>
            <p:cNvSpPr/>
            <p:nvPr/>
          </p:nvSpPr>
          <p:spPr>
            <a:xfrm flipH="false" flipV="false" rot="0">
              <a:off x="0" y="0"/>
              <a:ext cx="10610850" cy="38100"/>
            </a:xfrm>
            <a:custGeom>
              <a:avLst/>
              <a:gdLst/>
              <a:ahLst/>
              <a:cxnLst/>
              <a:rect r="r" b="b" t="t" l="l"/>
              <a:pathLst>
                <a:path h="38100" w="10610850">
                  <a:moveTo>
                    <a:pt x="0" y="0"/>
                  </a:moveTo>
                  <a:lnTo>
                    <a:pt x="10610850" y="0"/>
                  </a:lnTo>
                  <a:lnTo>
                    <a:pt x="10610850" y="38100"/>
                  </a:lnTo>
                  <a:lnTo>
                    <a:pt x="0" y="38100"/>
                  </a:lnTo>
                  <a:close/>
                </a:path>
              </a:pathLst>
            </a:custGeom>
            <a:solidFill>
              <a:srgbClr val="2150FE"/>
            </a:solidFill>
          </p:spPr>
        </p:sp>
      </p:grpSp>
      <p:sp>
        <p:nvSpPr>
          <p:cNvPr name="TextBox 31" id="31"/>
          <p:cNvSpPr txBox="true"/>
          <p:nvPr/>
        </p:nvSpPr>
        <p:spPr>
          <a:xfrm rot="0">
            <a:off x="9249813" y="6353766"/>
            <a:ext cx="7958138" cy="418357"/>
          </a:xfrm>
          <a:prstGeom prst="rect">
            <a:avLst/>
          </a:prstGeom>
        </p:spPr>
        <p:txBody>
          <a:bodyPr anchor="t" rtlCol="false" tIns="0" lIns="0" bIns="0" rIns="0">
            <a:spAutoFit/>
          </a:bodyPr>
          <a:lstStyle/>
          <a:p>
            <a:pPr algn="l">
              <a:lnSpc>
                <a:spcPts val="3119"/>
              </a:lnSpc>
            </a:pPr>
            <a:r>
              <a:rPr lang="en-US" sz="2499">
                <a:solidFill>
                  <a:srgbClr val="4C4C4D"/>
                </a:solidFill>
                <a:latin typeface="Crimson Pro"/>
                <a:ea typeface="Crimson Pro"/>
                <a:cs typeface="Crimson Pro"/>
                <a:sym typeface="Crimson Pro"/>
              </a:rPr>
              <a:t>Publish Your Job Description</a:t>
            </a:r>
          </a:p>
        </p:txBody>
      </p:sp>
      <p:sp>
        <p:nvSpPr>
          <p:cNvPr name="TextBox 32" id="32"/>
          <p:cNvSpPr txBox="true"/>
          <p:nvPr/>
        </p:nvSpPr>
        <p:spPr>
          <a:xfrm rot="0">
            <a:off x="9249813" y="6841922"/>
            <a:ext cx="7958138" cy="804567"/>
          </a:xfrm>
          <a:prstGeom prst="rect">
            <a:avLst/>
          </a:prstGeom>
        </p:spPr>
        <p:txBody>
          <a:bodyPr anchor="t" rtlCol="false" tIns="0" lIns="0" bIns="0" rIns="0">
            <a:spAutoFit/>
          </a:bodyPr>
          <a:lstStyle/>
          <a:p>
            <a:pPr algn="l">
              <a:lnSpc>
                <a:spcPts val="2928"/>
              </a:lnSpc>
            </a:pPr>
            <a:r>
              <a:rPr lang="en-US" sz="2000">
                <a:solidFill>
                  <a:srgbClr val="4C4C4D"/>
                </a:solidFill>
                <a:latin typeface="Heebo"/>
                <a:ea typeface="Heebo"/>
                <a:cs typeface="Heebo"/>
                <a:sym typeface="Heebo"/>
              </a:rPr>
              <a:t>Post to your chosen job boards, career page, or share directly with candidates. Your description is ready to attract the right applicants.</a:t>
            </a:r>
          </a:p>
        </p:txBody>
      </p:sp>
      <p:grpSp>
        <p:nvGrpSpPr>
          <p:cNvPr name="Group 33" id="33"/>
          <p:cNvGrpSpPr/>
          <p:nvPr/>
        </p:nvGrpSpPr>
        <p:grpSpPr>
          <a:xfrm rot="0">
            <a:off x="1080049" y="8076009"/>
            <a:ext cx="16127911" cy="1277093"/>
            <a:chOff x="0" y="0"/>
            <a:chExt cx="21503881" cy="1702791"/>
          </a:xfrm>
        </p:grpSpPr>
        <p:sp>
          <p:nvSpPr>
            <p:cNvPr name="Freeform 34" id="34"/>
            <p:cNvSpPr/>
            <p:nvPr/>
          </p:nvSpPr>
          <p:spPr>
            <a:xfrm flipH="false" flipV="false" rot="0">
              <a:off x="0" y="0"/>
              <a:ext cx="21503894" cy="1702816"/>
            </a:xfrm>
            <a:custGeom>
              <a:avLst/>
              <a:gdLst/>
              <a:ahLst/>
              <a:cxnLst/>
              <a:rect r="r" b="b" t="t" l="l"/>
              <a:pathLst>
                <a:path h="1702816" w="21503894">
                  <a:moveTo>
                    <a:pt x="0" y="51181"/>
                  </a:moveTo>
                  <a:cubicBezTo>
                    <a:pt x="0" y="22860"/>
                    <a:pt x="22860" y="0"/>
                    <a:pt x="51181" y="0"/>
                  </a:cubicBezTo>
                  <a:lnTo>
                    <a:pt x="21452712" y="0"/>
                  </a:lnTo>
                  <a:cubicBezTo>
                    <a:pt x="21480906" y="0"/>
                    <a:pt x="21503894" y="22860"/>
                    <a:pt x="21503894" y="51181"/>
                  </a:cubicBezTo>
                  <a:lnTo>
                    <a:pt x="21503894" y="1651635"/>
                  </a:lnTo>
                  <a:cubicBezTo>
                    <a:pt x="21503894" y="1679829"/>
                    <a:pt x="21481033" y="1702816"/>
                    <a:pt x="21452712" y="1702816"/>
                  </a:cubicBezTo>
                  <a:lnTo>
                    <a:pt x="51181" y="1702816"/>
                  </a:lnTo>
                  <a:cubicBezTo>
                    <a:pt x="22987" y="1702816"/>
                    <a:pt x="0" y="1679956"/>
                    <a:pt x="0" y="1651635"/>
                  </a:cubicBezTo>
                  <a:close/>
                </a:path>
              </a:pathLst>
            </a:custGeom>
            <a:solidFill>
              <a:srgbClr val="CCD7FF"/>
            </a:solidFill>
          </p:spPr>
        </p:sp>
      </p:grpSp>
      <p:grpSp>
        <p:nvGrpSpPr>
          <p:cNvPr name="Group 35" id="35"/>
          <p:cNvGrpSpPr/>
          <p:nvPr/>
        </p:nvGrpSpPr>
        <p:grpSpPr>
          <a:xfrm rot="0">
            <a:off x="1335586" y="8384972"/>
            <a:ext cx="319383" cy="255537"/>
            <a:chOff x="0" y="0"/>
            <a:chExt cx="425844" cy="340716"/>
          </a:xfrm>
        </p:grpSpPr>
        <p:sp>
          <p:nvSpPr>
            <p:cNvPr name="Freeform 36" id="36" descr="preencoded.png"/>
            <p:cNvSpPr/>
            <p:nvPr/>
          </p:nvSpPr>
          <p:spPr>
            <a:xfrm flipH="false" flipV="false" rot="0">
              <a:off x="0" y="0"/>
              <a:ext cx="425831" cy="340741"/>
            </a:xfrm>
            <a:custGeom>
              <a:avLst/>
              <a:gdLst/>
              <a:ahLst/>
              <a:cxnLst/>
              <a:rect r="r" b="b" t="t" l="l"/>
              <a:pathLst>
                <a:path h="340741" w="425831">
                  <a:moveTo>
                    <a:pt x="0" y="0"/>
                  </a:moveTo>
                  <a:lnTo>
                    <a:pt x="425831" y="0"/>
                  </a:lnTo>
                  <a:lnTo>
                    <a:pt x="425831" y="340741"/>
                  </a:lnTo>
                  <a:lnTo>
                    <a:pt x="0" y="340741"/>
                  </a:lnTo>
                  <a:lnTo>
                    <a:pt x="0" y="0"/>
                  </a:lnTo>
                  <a:close/>
                </a:path>
              </a:pathLst>
            </a:custGeom>
            <a:blipFill>
              <a:blip r:embed="rId13"/>
              <a:stretch>
                <a:fillRect l="-375" t="0" r="-381" b="7"/>
              </a:stretch>
            </a:blipFill>
          </p:spPr>
        </p:sp>
      </p:grpSp>
      <p:sp>
        <p:nvSpPr>
          <p:cNvPr name="TextBox 37" id="37"/>
          <p:cNvSpPr txBox="true"/>
          <p:nvPr/>
        </p:nvSpPr>
        <p:spPr>
          <a:xfrm rot="0">
            <a:off x="1910505" y="8294341"/>
            <a:ext cx="15041909" cy="804567"/>
          </a:xfrm>
          <a:prstGeom prst="rect">
            <a:avLst/>
          </a:prstGeom>
        </p:spPr>
        <p:txBody>
          <a:bodyPr anchor="t" rtlCol="false" tIns="0" lIns="0" bIns="0" rIns="0">
            <a:spAutoFit/>
          </a:bodyPr>
          <a:lstStyle/>
          <a:p>
            <a:pPr algn="l">
              <a:lnSpc>
                <a:spcPts val="2928"/>
              </a:lnSpc>
            </a:pPr>
            <a:r>
              <a:rPr lang="en-US" sz="2000" b="true">
                <a:solidFill>
                  <a:srgbClr val="000000"/>
                </a:solidFill>
                <a:latin typeface="Heebo Bold"/>
                <a:ea typeface="Heebo Bold"/>
                <a:cs typeface="Heebo Bold"/>
                <a:sym typeface="Heebo Bold"/>
              </a:rPr>
              <a:t>Pro Tip:</a:t>
            </a:r>
            <a:r>
              <a:rPr lang="en-US" sz="2000">
                <a:solidFill>
                  <a:srgbClr val="000000"/>
                </a:solidFill>
                <a:latin typeface="Heebo"/>
                <a:ea typeface="Heebo"/>
                <a:cs typeface="Heebo"/>
                <a:sym typeface="Heebo"/>
              </a:rPr>
              <a:t> Write for the candidate, not just for your internal hiring team. A clear job description helps the right candidates understand the opportunity quickly and reduces mismatched applications.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0F0F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1080049" y="956072"/>
            <a:ext cx="16127911" cy="591588"/>
          </a:xfrm>
          <a:prstGeom prst="rect">
            <a:avLst/>
          </a:prstGeom>
        </p:spPr>
        <p:txBody>
          <a:bodyPr anchor="t" rtlCol="false" tIns="0" lIns="0" bIns="0" rIns="0">
            <a:spAutoFit/>
          </a:bodyPr>
          <a:lstStyle/>
          <a:p>
            <a:pPr algn="l">
              <a:lnSpc>
                <a:spcPts val="4492"/>
              </a:lnSpc>
            </a:pPr>
            <a:r>
              <a:rPr lang="en-US" sz="3600">
                <a:solidFill>
                  <a:srgbClr val="152D47"/>
                </a:solidFill>
                <a:latin typeface="Crimson Pro"/>
                <a:ea typeface="Crimson Pro"/>
                <a:cs typeface="Crimson Pro"/>
                <a:sym typeface="Crimson Pro"/>
              </a:rPr>
              <a:t>Job Description Basics</a:t>
            </a:r>
          </a:p>
        </p:txBody>
      </p:sp>
      <p:sp>
        <p:nvSpPr>
          <p:cNvPr name="TextBox 7" id="7"/>
          <p:cNvSpPr txBox="true"/>
          <p:nvPr/>
        </p:nvSpPr>
        <p:spPr>
          <a:xfrm rot="0">
            <a:off x="1080049" y="1755724"/>
            <a:ext cx="17042311" cy="243040"/>
          </a:xfrm>
          <a:prstGeom prst="rect">
            <a:avLst/>
          </a:prstGeom>
        </p:spPr>
        <p:txBody>
          <a:bodyPr anchor="t" rtlCol="false" tIns="0" lIns="0" bIns="0" rIns="0">
            <a:spAutoFit/>
          </a:bodyPr>
          <a:lstStyle/>
          <a:p>
            <a:pPr algn="l">
              <a:lnSpc>
                <a:spcPts val="1780"/>
              </a:lnSpc>
            </a:pPr>
            <a:r>
              <a:rPr lang="en-US" sz="1399">
                <a:solidFill>
                  <a:srgbClr val="4C4C4D"/>
                </a:solidFill>
                <a:latin typeface="Heebo"/>
                <a:ea typeface="Heebo"/>
                <a:cs typeface="Heebo"/>
                <a:sym typeface="Heebo"/>
              </a:rPr>
              <a:t>Every effective job description should include these key sections. Use this as a structural checklist before you publish any role.</a:t>
            </a:r>
          </a:p>
        </p:txBody>
      </p:sp>
      <p:grpSp>
        <p:nvGrpSpPr>
          <p:cNvPr name="Group 8" id="8"/>
          <p:cNvGrpSpPr/>
          <p:nvPr/>
        </p:nvGrpSpPr>
        <p:grpSpPr>
          <a:xfrm rot="0">
            <a:off x="948033" y="2121094"/>
            <a:ext cx="8104432" cy="7190784"/>
            <a:chOff x="0" y="0"/>
            <a:chExt cx="10805909" cy="9587713"/>
          </a:xfrm>
        </p:grpSpPr>
        <p:sp>
          <p:nvSpPr>
            <p:cNvPr name="Freeform 9" id="9"/>
            <p:cNvSpPr/>
            <p:nvPr/>
          </p:nvSpPr>
          <p:spPr>
            <a:xfrm flipH="false" flipV="false" rot="0">
              <a:off x="0" y="0"/>
              <a:ext cx="10805922" cy="9587611"/>
            </a:xfrm>
            <a:custGeom>
              <a:avLst/>
              <a:gdLst/>
              <a:ahLst/>
              <a:cxnLst/>
              <a:rect r="r" b="b" t="t" l="l"/>
              <a:pathLst>
                <a:path h="9587611" w="10805922">
                  <a:moveTo>
                    <a:pt x="0" y="36576"/>
                  </a:moveTo>
                  <a:cubicBezTo>
                    <a:pt x="0" y="16383"/>
                    <a:pt x="16383" y="0"/>
                    <a:pt x="36576" y="0"/>
                  </a:cubicBezTo>
                  <a:lnTo>
                    <a:pt x="10769346" y="0"/>
                  </a:lnTo>
                  <a:cubicBezTo>
                    <a:pt x="10789539" y="0"/>
                    <a:pt x="10805922" y="16383"/>
                    <a:pt x="10805922" y="36576"/>
                  </a:cubicBezTo>
                  <a:lnTo>
                    <a:pt x="10805922" y="9551035"/>
                  </a:lnTo>
                  <a:cubicBezTo>
                    <a:pt x="10805922" y="9571228"/>
                    <a:pt x="10789539" y="9587611"/>
                    <a:pt x="10769346" y="9587611"/>
                  </a:cubicBezTo>
                  <a:lnTo>
                    <a:pt x="36576" y="9587611"/>
                  </a:lnTo>
                  <a:cubicBezTo>
                    <a:pt x="16383" y="9587611"/>
                    <a:pt x="0" y="9571228"/>
                    <a:pt x="0" y="9551035"/>
                  </a:cubicBezTo>
                  <a:close/>
                </a:path>
              </a:pathLst>
            </a:custGeom>
            <a:solidFill>
              <a:srgbClr val="FF8C42"/>
            </a:solidFill>
          </p:spPr>
        </p:sp>
      </p:grpSp>
      <p:sp>
        <p:nvSpPr>
          <p:cNvPr name="TextBox 10" id="10"/>
          <p:cNvSpPr txBox="true"/>
          <p:nvPr/>
        </p:nvSpPr>
        <p:spPr>
          <a:xfrm rot="0">
            <a:off x="1131246" y="2210838"/>
            <a:ext cx="7738024" cy="305248"/>
          </a:xfrm>
          <a:prstGeom prst="rect">
            <a:avLst/>
          </a:prstGeom>
        </p:spPr>
        <p:txBody>
          <a:bodyPr anchor="t" rtlCol="false" tIns="0" lIns="0" bIns="0" rIns="0">
            <a:spAutoFit/>
          </a:bodyPr>
          <a:lstStyle/>
          <a:p>
            <a:pPr algn="l">
              <a:lnSpc>
                <a:spcPts val="2246"/>
              </a:lnSpc>
            </a:pPr>
            <a:r>
              <a:rPr lang="en-US" sz="1800">
                <a:solidFill>
                  <a:srgbClr val="152D47"/>
                </a:solidFill>
                <a:latin typeface="Crimson Pro"/>
                <a:ea typeface="Crimson Pro"/>
                <a:cs typeface="Crimson Pro"/>
                <a:sym typeface="Crimson Pro"/>
              </a:rPr>
              <a:t>Core Identity</a:t>
            </a:r>
          </a:p>
        </p:txBody>
      </p:sp>
      <p:sp>
        <p:nvSpPr>
          <p:cNvPr name="Freeform 11" id="11" descr="preencoded.png"/>
          <p:cNvSpPr/>
          <p:nvPr/>
        </p:nvSpPr>
        <p:spPr>
          <a:xfrm flipH="false" flipV="false" rot="0">
            <a:off x="1199998" y="2644083"/>
            <a:ext cx="274739" cy="274739"/>
          </a:xfrm>
          <a:custGeom>
            <a:avLst/>
            <a:gdLst/>
            <a:ahLst/>
            <a:cxnLst/>
            <a:rect r="r" b="b" t="t" l="l"/>
            <a:pathLst>
              <a:path h="274739" w="274739">
                <a:moveTo>
                  <a:pt x="0" y="0"/>
                </a:moveTo>
                <a:lnTo>
                  <a:pt x="274739" y="0"/>
                </a:lnTo>
                <a:lnTo>
                  <a:pt x="274739" y="274739"/>
                </a:lnTo>
                <a:lnTo>
                  <a:pt x="0" y="274739"/>
                </a:lnTo>
                <a:lnTo>
                  <a:pt x="0" y="0"/>
                </a:lnTo>
                <a:close/>
              </a:path>
            </a:pathLst>
          </a:custGeom>
          <a:blipFill>
            <a:blip r:embed="rId3">
              <a:extLst>
                <a:ext uri="{96DAC541-7B7A-43D3-8B79-37D633B846F1}">
                  <asvg:svgBlip xmlns:asvg="http://schemas.microsoft.com/office/drawing/2016/SVG/main" r:embed="rId4"/>
                </a:ext>
              </a:extLst>
            </a:blip>
            <a:stretch>
              <a:fillRect l="-8622" t="0" r="-8618" b="0"/>
            </a:stretch>
          </a:blipFill>
        </p:spPr>
      </p:sp>
      <p:sp>
        <p:nvSpPr>
          <p:cNvPr name="TextBox 12" id="12"/>
          <p:cNvSpPr txBox="true"/>
          <p:nvPr/>
        </p:nvSpPr>
        <p:spPr>
          <a:xfrm rot="0">
            <a:off x="1726702" y="2619375"/>
            <a:ext cx="7142559" cy="305248"/>
          </a:xfrm>
          <a:prstGeom prst="rect">
            <a:avLst/>
          </a:prstGeom>
        </p:spPr>
        <p:txBody>
          <a:bodyPr anchor="t" rtlCol="false" tIns="0" lIns="0" bIns="0" rIns="0">
            <a:spAutoFit/>
          </a:bodyPr>
          <a:lstStyle/>
          <a:p>
            <a:pPr algn="l">
              <a:lnSpc>
                <a:spcPts val="2246"/>
              </a:lnSpc>
            </a:pPr>
            <a:r>
              <a:rPr lang="en-US" sz="1800">
                <a:solidFill>
                  <a:srgbClr val="000000"/>
                </a:solidFill>
                <a:latin typeface="Crimson Pro"/>
                <a:ea typeface="Crimson Pro"/>
                <a:cs typeface="Crimson Pro"/>
                <a:sym typeface="Crimson Pro"/>
              </a:rPr>
              <a:t>Job Title</a:t>
            </a:r>
          </a:p>
        </p:txBody>
      </p:sp>
      <p:sp>
        <p:nvSpPr>
          <p:cNvPr name="TextBox 13" id="13"/>
          <p:cNvSpPr txBox="true"/>
          <p:nvPr/>
        </p:nvSpPr>
        <p:spPr>
          <a:xfrm rot="0">
            <a:off x="1726702" y="3023892"/>
            <a:ext cx="7142559" cy="243040"/>
          </a:xfrm>
          <a:prstGeom prst="rect">
            <a:avLst/>
          </a:prstGeom>
        </p:spPr>
        <p:txBody>
          <a:bodyPr anchor="t" rtlCol="false" tIns="0" lIns="0" bIns="0" rIns="0">
            <a:spAutoFit/>
          </a:bodyPr>
          <a:lstStyle/>
          <a:p>
            <a:pPr algn="l">
              <a:lnSpc>
                <a:spcPts val="1780"/>
              </a:lnSpc>
            </a:pPr>
            <a:r>
              <a:rPr lang="en-US" sz="1399">
                <a:solidFill>
                  <a:srgbClr val="000000"/>
                </a:solidFill>
                <a:latin typeface="Heebo"/>
                <a:ea typeface="Heebo"/>
                <a:cs typeface="Heebo"/>
                <a:sym typeface="Heebo"/>
              </a:rPr>
              <a:t>Clear, specific role name that candidates will search for</a:t>
            </a:r>
          </a:p>
        </p:txBody>
      </p:sp>
      <p:sp>
        <p:nvSpPr>
          <p:cNvPr name="Freeform 14" id="14" descr="preencoded.png"/>
          <p:cNvSpPr/>
          <p:nvPr/>
        </p:nvSpPr>
        <p:spPr>
          <a:xfrm flipH="false" flipV="false" rot="0">
            <a:off x="1199998" y="3490170"/>
            <a:ext cx="274739" cy="274739"/>
          </a:xfrm>
          <a:custGeom>
            <a:avLst/>
            <a:gdLst/>
            <a:ahLst/>
            <a:cxnLst/>
            <a:rect r="r" b="b" t="t" l="l"/>
            <a:pathLst>
              <a:path h="274739" w="274739">
                <a:moveTo>
                  <a:pt x="0" y="0"/>
                </a:moveTo>
                <a:lnTo>
                  <a:pt x="274739" y="0"/>
                </a:lnTo>
                <a:lnTo>
                  <a:pt x="274739" y="274739"/>
                </a:lnTo>
                <a:lnTo>
                  <a:pt x="0" y="274739"/>
                </a:lnTo>
                <a:lnTo>
                  <a:pt x="0" y="0"/>
                </a:lnTo>
                <a:close/>
              </a:path>
            </a:pathLst>
          </a:custGeom>
          <a:blipFill>
            <a:blip r:embed="rId3">
              <a:extLst>
                <a:ext uri="{96DAC541-7B7A-43D3-8B79-37D633B846F1}">
                  <asvg:svgBlip xmlns:asvg="http://schemas.microsoft.com/office/drawing/2016/SVG/main" r:embed="rId4"/>
                </a:ext>
              </a:extLst>
            </a:blip>
            <a:stretch>
              <a:fillRect l="-8622" t="0" r="-8618" b="0"/>
            </a:stretch>
          </a:blipFill>
        </p:spPr>
      </p:sp>
      <p:sp>
        <p:nvSpPr>
          <p:cNvPr name="TextBox 15" id="15"/>
          <p:cNvSpPr txBox="true"/>
          <p:nvPr/>
        </p:nvSpPr>
        <p:spPr>
          <a:xfrm rot="0">
            <a:off x="1726702" y="3465462"/>
            <a:ext cx="7142559" cy="305248"/>
          </a:xfrm>
          <a:prstGeom prst="rect">
            <a:avLst/>
          </a:prstGeom>
        </p:spPr>
        <p:txBody>
          <a:bodyPr anchor="t" rtlCol="false" tIns="0" lIns="0" bIns="0" rIns="0">
            <a:spAutoFit/>
          </a:bodyPr>
          <a:lstStyle/>
          <a:p>
            <a:pPr algn="l">
              <a:lnSpc>
                <a:spcPts val="2246"/>
              </a:lnSpc>
            </a:pPr>
            <a:r>
              <a:rPr lang="en-US" sz="1800">
                <a:solidFill>
                  <a:srgbClr val="000000"/>
                </a:solidFill>
                <a:latin typeface="Crimson Pro"/>
                <a:ea typeface="Crimson Pro"/>
                <a:cs typeface="Crimson Pro"/>
                <a:sym typeface="Crimson Pro"/>
              </a:rPr>
              <a:t>Company</a:t>
            </a:r>
          </a:p>
        </p:txBody>
      </p:sp>
      <p:sp>
        <p:nvSpPr>
          <p:cNvPr name="TextBox 16" id="16"/>
          <p:cNvSpPr txBox="true"/>
          <p:nvPr/>
        </p:nvSpPr>
        <p:spPr>
          <a:xfrm rot="0">
            <a:off x="1726702" y="3869979"/>
            <a:ext cx="7142559" cy="243040"/>
          </a:xfrm>
          <a:prstGeom prst="rect">
            <a:avLst/>
          </a:prstGeom>
        </p:spPr>
        <p:txBody>
          <a:bodyPr anchor="t" rtlCol="false" tIns="0" lIns="0" bIns="0" rIns="0">
            <a:spAutoFit/>
          </a:bodyPr>
          <a:lstStyle/>
          <a:p>
            <a:pPr algn="l">
              <a:lnSpc>
                <a:spcPts val="1780"/>
              </a:lnSpc>
            </a:pPr>
            <a:r>
              <a:rPr lang="en-US" sz="1399">
                <a:solidFill>
                  <a:srgbClr val="000000"/>
                </a:solidFill>
                <a:latin typeface="Heebo"/>
                <a:ea typeface="Heebo"/>
                <a:cs typeface="Heebo"/>
                <a:sym typeface="Heebo"/>
              </a:rPr>
              <a:t>Your organization name as it appears publicly</a:t>
            </a:r>
          </a:p>
        </p:txBody>
      </p:sp>
      <p:sp>
        <p:nvSpPr>
          <p:cNvPr name="Freeform 17" id="17" descr="preencoded.png"/>
          <p:cNvSpPr/>
          <p:nvPr/>
        </p:nvSpPr>
        <p:spPr>
          <a:xfrm flipH="false" flipV="false" rot="0">
            <a:off x="1199998" y="4336256"/>
            <a:ext cx="274739" cy="274739"/>
          </a:xfrm>
          <a:custGeom>
            <a:avLst/>
            <a:gdLst/>
            <a:ahLst/>
            <a:cxnLst/>
            <a:rect r="r" b="b" t="t" l="l"/>
            <a:pathLst>
              <a:path h="274739" w="274739">
                <a:moveTo>
                  <a:pt x="0" y="0"/>
                </a:moveTo>
                <a:lnTo>
                  <a:pt x="274739" y="0"/>
                </a:lnTo>
                <a:lnTo>
                  <a:pt x="274739" y="274739"/>
                </a:lnTo>
                <a:lnTo>
                  <a:pt x="0" y="274739"/>
                </a:lnTo>
                <a:lnTo>
                  <a:pt x="0" y="0"/>
                </a:lnTo>
                <a:close/>
              </a:path>
            </a:pathLst>
          </a:custGeom>
          <a:blipFill>
            <a:blip r:embed="rId3">
              <a:extLst>
                <a:ext uri="{96DAC541-7B7A-43D3-8B79-37D633B846F1}">
                  <asvg:svgBlip xmlns:asvg="http://schemas.microsoft.com/office/drawing/2016/SVG/main" r:embed="rId4"/>
                </a:ext>
              </a:extLst>
            </a:blip>
            <a:stretch>
              <a:fillRect l="-8622" t="0" r="-8618" b="0"/>
            </a:stretch>
          </a:blipFill>
        </p:spPr>
      </p:sp>
      <p:sp>
        <p:nvSpPr>
          <p:cNvPr name="TextBox 18" id="18"/>
          <p:cNvSpPr txBox="true"/>
          <p:nvPr/>
        </p:nvSpPr>
        <p:spPr>
          <a:xfrm rot="0">
            <a:off x="1726702" y="4311548"/>
            <a:ext cx="7142559" cy="305248"/>
          </a:xfrm>
          <a:prstGeom prst="rect">
            <a:avLst/>
          </a:prstGeom>
        </p:spPr>
        <p:txBody>
          <a:bodyPr anchor="t" rtlCol="false" tIns="0" lIns="0" bIns="0" rIns="0">
            <a:spAutoFit/>
          </a:bodyPr>
          <a:lstStyle/>
          <a:p>
            <a:pPr algn="l">
              <a:lnSpc>
                <a:spcPts val="2246"/>
              </a:lnSpc>
            </a:pPr>
            <a:r>
              <a:rPr lang="en-US" sz="1800">
                <a:solidFill>
                  <a:srgbClr val="000000"/>
                </a:solidFill>
                <a:latin typeface="Crimson Pro"/>
                <a:ea typeface="Crimson Pro"/>
                <a:cs typeface="Crimson Pro"/>
                <a:sym typeface="Crimson Pro"/>
              </a:rPr>
              <a:t>Location</a:t>
            </a:r>
          </a:p>
        </p:txBody>
      </p:sp>
      <p:sp>
        <p:nvSpPr>
          <p:cNvPr name="TextBox 19" id="19"/>
          <p:cNvSpPr txBox="true"/>
          <p:nvPr/>
        </p:nvSpPr>
        <p:spPr>
          <a:xfrm rot="0">
            <a:off x="1726702" y="4716066"/>
            <a:ext cx="7142559" cy="243040"/>
          </a:xfrm>
          <a:prstGeom prst="rect">
            <a:avLst/>
          </a:prstGeom>
        </p:spPr>
        <p:txBody>
          <a:bodyPr anchor="t" rtlCol="false" tIns="0" lIns="0" bIns="0" rIns="0">
            <a:spAutoFit/>
          </a:bodyPr>
          <a:lstStyle/>
          <a:p>
            <a:pPr algn="l">
              <a:lnSpc>
                <a:spcPts val="1780"/>
              </a:lnSpc>
            </a:pPr>
            <a:r>
              <a:rPr lang="en-US" sz="1399">
                <a:solidFill>
                  <a:srgbClr val="000000"/>
                </a:solidFill>
                <a:latin typeface="Heebo"/>
                <a:ea typeface="Heebo"/>
                <a:cs typeface="Heebo"/>
                <a:sym typeface="Heebo"/>
              </a:rPr>
              <a:t>City and country — include remote/hybrid status if applicable</a:t>
            </a:r>
          </a:p>
        </p:txBody>
      </p:sp>
      <p:sp>
        <p:nvSpPr>
          <p:cNvPr name="Freeform 20" id="20" descr="preencoded.png"/>
          <p:cNvSpPr/>
          <p:nvPr/>
        </p:nvSpPr>
        <p:spPr>
          <a:xfrm flipH="false" flipV="false" rot="0">
            <a:off x="1199998" y="5182343"/>
            <a:ext cx="274739" cy="274739"/>
          </a:xfrm>
          <a:custGeom>
            <a:avLst/>
            <a:gdLst/>
            <a:ahLst/>
            <a:cxnLst/>
            <a:rect r="r" b="b" t="t" l="l"/>
            <a:pathLst>
              <a:path h="274739" w="274739">
                <a:moveTo>
                  <a:pt x="0" y="0"/>
                </a:moveTo>
                <a:lnTo>
                  <a:pt x="274739" y="0"/>
                </a:lnTo>
                <a:lnTo>
                  <a:pt x="274739" y="274739"/>
                </a:lnTo>
                <a:lnTo>
                  <a:pt x="0" y="274739"/>
                </a:lnTo>
                <a:lnTo>
                  <a:pt x="0" y="0"/>
                </a:lnTo>
                <a:close/>
              </a:path>
            </a:pathLst>
          </a:custGeom>
          <a:blipFill>
            <a:blip r:embed="rId3">
              <a:extLst>
                <a:ext uri="{96DAC541-7B7A-43D3-8B79-37D633B846F1}">
                  <asvg:svgBlip xmlns:asvg="http://schemas.microsoft.com/office/drawing/2016/SVG/main" r:embed="rId4"/>
                </a:ext>
              </a:extLst>
            </a:blip>
            <a:stretch>
              <a:fillRect l="-8622" t="0" r="-8618" b="0"/>
            </a:stretch>
          </a:blipFill>
        </p:spPr>
      </p:sp>
      <p:sp>
        <p:nvSpPr>
          <p:cNvPr name="TextBox 21" id="21"/>
          <p:cNvSpPr txBox="true"/>
          <p:nvPr/>
        </p:nvSpPr>
        <p:spPr>
          <a:xfrm rot="0">
            <a:off x="1726702" y="5157635"/>
            <a:ext cx="7142559" cy="305248"/>
          </a:xfrm>
          <a:prstGeom prst="rect">
            <a:avLst/>
          </a:prstGeom>
        </p:spPr>
        <p:txBody>
          <a:bodyPr anchor="t" rtlCol="false" tIns="0" lIns="0" bIns="0" rIns="0">
            <a:spAutoFit/>
          </a:bodyPr>
          <a:lstStyle/>
          <a:p>
            <a:pPr algn="l">
              <a:lnSpc>
                <a:spcPts val="2246"/>
              </a:lnSpc>
            </a:pPr>
            <a:r>
              <a:rPr lang="en-US" sz="1800">
                <a:solidFill>
                  <a:srgbClr val="000000"/>
                </a:solidFill>
                <a:latin typeface="Crimson Pro"/>
                <a:ea typeface="Crimson Pro"/>
                <a:cs typeface="Crimson Pro"/>
                <a:sym typeface="Crimson Pro"/>
              </a:rPr>
              <a:t>Employment Type</a:t>
            </a:r>
          </a:p>
        </p:txBody>
      </p:sp>
      <p:sp>
        <p:nvSpPr>
          <p:cNvPr name="TextBox 22" id="22"/>
          <p:cNvSpPr txBox="true"/>
          <p:nvPr/>
        </p:nvSpPr>
        <p:spPr>
          <a:xfrm rot="0">
            <a:off x="1726702" y="5562152"/>
            <a:ext cx="7142559" cy="243040"/>
          </a:xfrm>
          <a:prstGeom prst="rect">
            <a:avLst/>
          </a:prstGeom>
        </p:spPr>
        <p:txBody>
          <a:bodyPr anchor="t" rtlCol="false" tIns="0" lIns="0" bIns="0" rIns="0">
            <a:spAutoFit/>
          </a:bodyPr>
          <a:lstStyle/>
          <a:p>
            <a:pPr algn="l">
              <a:lnSpc>
                <a:spcPts val="1780"/>
              </a:lnSpc>
            </a:pPr>
            <a:r>
              <a:rPr lang="en-US" sz="1399">
                <a:solidFill>
                  <a:srgbClr val="000000"/>
                </a:solidFill>
                <a:latin typeface="Heebo"/>
                <a:ea typeface="Heebo"/>
                <a:cs typeface="Heebo"/>
                <a:sym typeface="Heebo"/>
              </a:rPr>
              <a:t>Full-time, part-time, contract, or freelance</a:t>
            </a:r>
          </a:p>
        </p:txBody>
      </p:sp>
      <p:sp>
        <p:nvSpPr>
          <p:cNvPr name="TextBox 23" id="23"/>
          <p:cNvSpPr txBox="true"/>
          <p:nvPr/>
        </p:nvSpPr>
        <p:spPr>
          <a:xfrm rot="0">
            <a:off x="9377067" y="2210838"/>
            <a:ext cx="7840418" cy="305248"/>
          </a:xfrm>
          <a:prstGeom prst="rect">
            <a:avLst/>
          </a:prstGeom>
        </p:spPr>
        <p:txBody>
          <a:bodyPr anchor="t" rtlCol="false" tIns="0" lIns="0" bIns="0" rIns="0">
            <a:spAutoFit/>
          </a:bodyPr>
          <a:lstStyle/>
          <a:p>
            <a:pPr algn="l">
              <a:lnSpc>
                <a:spcPts val="2246"/>
              </a:lnSpc>
            </a:pPr>
            <a:r>
              <a:rPr lang="en-US" sz="1800">
                <a:solidFill>
                  <a:srgbClr val="152D47"/>
                </a:solidFill>
                <a:latin typeface="Crimson Pro"/>
                <a:ea typeface="Crimson Pro"/>
                <a:cs typeface="Crimson Pro"/>
                <a:sym typeface="Crimson Pro"/>
              </a:rPr>
              <a:t>Role Content</a:t>
            </a:r>
          </a:p>
        </p:txBody>
      </p:sp>
      <p:sp>
        <p:nvSpPr>
          <p:cNvPr name="Freeform 24" id="24" descr="preencoded.png"/>
          <p:cNvSpPr/>
          <p:nvPr/>
        </p:nvSpPr>
        <p:spPr>
          <a:xfrm flipH="false" flipV="false" rot="0">
            <a:off x="9445828" y="2644083"/>
            <a:ext cx="274739" cy="274739"/>
          </a:xfrm>
          <a:custGeom>
            <a:avLst/>
            <a:gdLst/>
            <a:ahLst/>
            <a:cxnLst/>
            <a:rect r="r" b="b" t="t" l="l"/>
            <a:pathLst>
              <a:path h="274739" w="274739">
                <a:moveTo>
                  <a:pt x="0" y="0"/>
                </a:moveTo>
                <a:lnTo>
                  <a:pt x="274739" y="0"/>
                </a:lnTo>
                <a:lnTo>
                  <a:pt x="274739" y="274739"/>
                </a:lnTo>
                <a:lnTo>
                  <a:pt x="0" y="274739"/>
                </a:lnTo>
                <a:lnTo>
                  <a:pt x="0" y="0"/>
                </a:lnTo>
                <a:close/>
              </a:path>
            </a:pathLst>
          </a:custGeom>
          <a:blipFill>
            <a:blip r:embed="rId5">
              <a:extLst>
                <a:ext uri="{96DAC541-7B7A-43D3-8B79-37D633B846F1}">
                  <asvg:svgBlip xmlns:asvg="http://schemas.microsoft.com/office/drawing/2016/SVG/main" r:embed="rId6"/>
                </a:ext>
              </a:extLst>
            </a:blip>
            <a:stretch>
              <a:fillRect l="-8622" t="0" r="-8618" b="0"/>
            </a:stretch>
          </a:blipFill>
        </p:spPr>
      </p:sp>
      <p:sp>
        <p:nvSpPr>
          <p:cNvPr name="TextBox 25" id="25"/>
          <p:cNvSpPr txBox="true"/>
          <p:nvPr/>
        </p:nvSpPr>
        <p:spPr>
          <a:xfrm rot="0">
            <a:off x="9972523" y="2619375"/>
            <a:ext cx="7244953" cy="305248"/>
          </a:xfrm>
          <a:prstGeom prst="rect">
            <a:avLst/>
          </a:prstGeom>
        </p:spPr>
        <p:txBody>
          <a:bodyPr anchor="t" rtlCol="false" tIns="0" lIns="0" bIns="0" rIns="0">
            <a:spAutoFit/>
          </a:bodyPr>
          <a:lstStyle/>
          <a:p>
            <a:pPr algn="l">
              <a:lnSpc>
                <a:spcPts val="2246"/>
              </a:lnSpc>
            </a:pPr>
            <a:r>
              <a:rPr lang="en-US" sz="1800">
                <a:solidFill>
                  <a:srgbClr val="4C4C4D"/>
                </a:solidFill>
                <a:latin typeface="Crimson Pro"/>
                <a:ea typeface="Crimson Pro"/>
                <a:cs typeface="Crimson Pro"/>
                <a:sym typeface="Crimson Pro"/>
              </a:rPr>
              <a:t>About the Company</a:t>
            </a:r>
          </a:p>
        </p:txBody>
      </p:sp>
      <p:sp>
        <p:nvSpPr>
          <p:cNvPr name="TextBox 26" id="26"/>
          <p:cNvSpPr txBox="true"/>
          <p:nvPr/>
        </p:nvSpPr>
        <p:spPr>
          <a:xfrm rot="0">
            <a:off x="9972523" y="3023892"/>
            <a:ext cx="7244953" cy="243040"/>
          </a:xfrm>
          <a:prstGeom prst="rect">
            <a:avLst/>
          </a:prstGeom>
        </p:spPr>
        <p:txBody>
          <a:bodyPr anchor="t" rtlCol="false" tIns="0" lIns="0" bIns="0" rIns="0">
            <a:spAutoFit/>
          </a:bodyPr>
          <a:lstStyle/>
          <a:p>
            <a:pPr algn="l">
              <a:lnSpc>
                <a:spcPts val="1780"/>
              </a:lnSpc>
            </a:pPr>
            <a:r>
              <a:rPr lang="en-US" sz="1399">
                <a:solidFill>
                  <a:srgbClr val="4C4C4D"/>
                </a:solidFill>
                <a:latin typeface="Heebo"/>
                <a:ea typeface="Heebo"/>
                <a:cs typeface="Heebo"/>
                <a:sym typeface="Heebo"/>
              </a:rPr>
              <a:t>Brief overview of your organization and mission</a:t>
            </a:r>
          </a:p>
        </p:txBody>
      </p:sp>
      <p:sp>
        <p:nvSpPr>
          <p:cNvPr name="Freeform 27" id="27" descr="preencoded.png"/>
          <p:cNvSpPr/>
          <p:nvPr/>
        </p:nvSpPr>
        <p:spPr>
          <a:xfrm flipH="false" flipV="false" rot="0">
            <a:off x="9445828" y="3490170"/>
            <a:ext cx="274739" cy="274739"/>
          </a:xfrm>
          <a:custGeom>
            <a:avLst/>
            <a:gdLst/>
            <a:ahLst/>
            <a:cxnLst/>
            <a:rect r="r" b="b" t="t" l="l"/>
            <a:pathLst>
              <a:path h="274739" w="274739">
                <a:moveTo>
                  <a:pt x="0" y="0"/>
                </a:moveTo>
                <a:lnTo>
                  <a:pt x="274739" y="0"/>
                </a:lnTo>
                <a:lnTo>
                  <a:pt x="274739" y="274739"/>
                </a:lnTo>
                <a:lnTo>
                  <a:pt x="0" y="274739"/>
                </a:lnTo>
                <a:lnTo>
                  <a:pt x="0" y="0"/>
                </a:lnTo>
                <a:close/>
              </a:path>
            </a:pathLst>
          </a:custGeom>
          <a:blipFill>
            <a:blip r:embed="rId5">
              <a:extLst>
                <a:ext uri="{96DAC541-7B7A-43D3-8B79-37D633B846F1}">
                  <asvg:svgBlip xmlns:asvg="http://schemas.microsoft.com/office/drawing/2016/SVG/main" r:embed="rId6"/>
                </a:ext>
              </a:extLst>
            </a:blip>
            <a:stretch>
              <a:fillRect l="-8622" t="0" r="-8618" b="0"/>
            </a:stretch>
          </a:blipFill>
        </p:spPr>
      </p:sp>
      <p:sp>
        <p:nvSpPr>
          <p:cNvPr name="TextBox 28" id="28"/>
          <p:cNvSpPr txBox="true"/>
          <p:nvPr/>
        </p:nvSpPr>
        <p:spPr>
          <a:xfrm rot="0">
            <a:off x="9972523" y="3465462"/>
            <a:ext cx="7244953" cy="305248"/>
          </a:xfrm>
          <a:prstGeom prst="rect">
            <a:avLst/>
          </a:prstGeom>
        </p:spPr>
        <p:txBody>
          <a:bodyPr anchor="t" rtlCol="false" tIns="0" lIns="0" bIns="0" rIns="0">
            <a:spAutoFit/>
          </a:bodyPr>
          <a:lstStyle/>
          <a:p>
            <a:pPr algn="l">
              <a:lnSpc>
                <a:spcPts val="2246"/>
              </a:lnSpc>
            </a:pPr>
            <a:r>
              <a:rPr lang="en-US" sz="1800">
                <a:solidFill>
                  <a:srgbClr val="4C4C4D"/>
                </a:solidFill>
                <a:latin typeface="Crimson Pro"/>
                <a:ea typeface="Crimson Pro"/>
                <a:cs typeface="Crimson Pro"/>
                <a:sym typeface="Crimson Pro"/>
              </a:rPr>
              <a:t>About the Role</a:t>
            </a:r>
          </a:p>
        </p:txBody>
      </p:sp>
      <p:sp>
        <p:nvSpPr>
          <p:cNvPr name="TextBox 29" id="29"/>
          <p:cNvSpPr txBox="true"/>
          <p:nvPr/>
        </p:nvSpPr>
        <p:spPr>
          <a:xfrm rot="0">
            <a:off x="9972523" y="3869979"/>
            <a:ext cx="7244953" cy="243040"/>
          </a:xfrm>
          <a:prstGeom prst="rect">
            <a:avLst/>
          </a:prstGeom>
        </p:spPr>
        <p:txBody>
          <a:bodyPr anchor="t" rtlCol="false" tIns="0" lIns="0" bIns="0" rIns="0">
            <a:spAutoFit/>
          </a:bodyPr>
          <a:lstStyle/>
          <a:p>
            <a:pPr algn="l">
              <a:lnSpc>
                <a:spcPts val="1780"/>
              </a:lnSpc>
            </a:pPr>
            <a:r>
              <a:rPr lang="en-US" sz="1399">
                <a:solidFill>
                  <a:srgbClr val="4C4C4D"/>
                </a:solidFill>
                <a:latin typeface="Heebo"/>
                <a:ea typeface="Heebo"/>
                <a:cs typeface="Heebo"/>
                <a:sym typeface="Heebo"/>
              </a:rPr>
              <a:t>What the position entails and why it matters</a:t>
            </a:r>
          </a:p>
        </p:txBody>
      </p:sp>
      <p:sp>
        <p:nvSpPr>
          <p:cNvPr name="Freeform 30" id="30" descr="preencoded.png"/>
          <p:cNvSpPr/>
          <p:nvPr/>
        </p:nvSpPr>
        <p:spPr>
          <a:xfrm flipH="false" flipV="false" rot="0">
            <a:off x="9445828" y="4336256"/>
            <a:ext cx="274739" cy="274739"/>
          </a:xfrm>
          <a:custGeom>
            <a:avLst/>
            <a:gdLst/>
            <a:ahLst/>
            <a:cxnLst/>
            <a:rect r="r" b="b" t="t" l="l"/>
            <a:pathLst>
              <a:path h="274739" w="274739">
                <a:moveTo>
                  <a:pt x="0" y="0"/>
                </a:moveTo>
                <a:lnTo>
                  <a:pt x="274739" y="0"/>
                </a:lnTo>
                <a:lnTo>
                  <a:pt x="274739" y="274739"/>
                </a:lnTo>
                <a:lnTo>
                  <a:pt x="0" y="274739"/>
                </a:lnTo>
                <a:lnTo>
                  <a:pt x="0" y="0"/>
                </a:lnTo>
                <a:close/>
              </a:path>
            </a:pathLst>
          </a:custGeom>
          <a:blipFill>
            <a:blip r:embed="rId5">
              <a:extLst>
                <a:ext uri="{96DAC541-7B7A-43D3-8B79-37D633B846F1}">
                  <asvg:svgBlip xmlns:asvg="http://schemas.microsoft.com/office/drawing/2016/SVG/main" r:embed="rId6"/>
                </a:ext>
              </a:extLst>
            </a:blip>
            <a:stretch>
              <a:fillRect l="-8622" t="0" r="-8618" b="0"/>
            </a:stretch>
          </a:blipFill>
        </p:spPr>
      </p:sp>
      <p:sp>
        <p:nvSpPr>
          <p:cNvPr name="TextBox 31" id="31"/>
          <p:cNvSpPr txBox="true"/>
          <p:nvPr/>
        </p:nvSpPr>
        <p:spPr>
          <a:xfrm rot="0">
            <a:off x="9972523" y="4311548"/>
            <a:ext cx="7244953" cy="305248"/>
          </a:xfrm>
          <a:prstGeom prst="rect">
            <a:avLst/>
          </a:prstGeom>
        </p:spPr>
        <p:txBody>
          <a:bodyPr anchor="t" rtlCol="false" tIns="0" lIns="0" bIns="0" rIns="0">
            <a:spAutoFit/>
          </a:bodyPr>
          <a:lstStyle/>
          <a:p>
            <a:pPr algn="l">
              <a:lnSpc>
                <a:spcPts val="2246"/>
              </a:lnSpc>
            </a:pPr>
            <a:r>
              <a:rPr lang="en-US" sz="1800">
                <a:solidFill>
                  <a:srgbClr val="4C4C4D"/>
                </a:solidFill>
                <a:latin typeface="Crimson Pro"/>
                <a:ea typeface="Crimson Pro"/>
                <a:cs typeface="Crimson Pro"/>
                <a:sym typeface="Crimson Pro"/>
              </a:rPr>
              <a:t>Key Responsibilities</a:t>
            </a:r>
          </a:p>
        </p:txBody>
      </p:sp>
      <p:sp>
        <p:nvSpPr>
          <p:cNvPr name="TextBox 32" id="32"/>
          <p:cNvSpPr txBox="true"/>
          <p:nvPr/>
        </p:nvSpPr>
        <p:spPr>
          <a:xfrm rot="0">
            <a:off x="9972523" y="4716066"/>
            <a:ext cx="7244953" cy="243040"/>
          </a:xfrm>
          <a:prstGeom prst="rect">
            <a:avLst/>
          </a:prstGeom>
        </p:spPr>
        <p:txBody>
          <a:bodyPr anchor="t" rtlCol="false" tIns="0" lIns="0" bIns="0" rIns="0">
            <a:spAutoFit/>
          </a:bodyPr>
          <a:lstStyle/>
          <a:p>
            <a:pPr algn="l">
              <a:lnSpc>
                <a:spcPts val="1780"/>
              </a:lnSpc>
            </a:pPr>
            <a:r>
              <a:rPr lang="en-US" sz="1399">
                <a:solidFill>
                  <a:srgbClr val="4C4C4D"/>
                </a:solidFill>
                <a:latin typeface="Heebo"/>
                <a:ea typeface="Heebo"/>
                <a:cs typeface="Heebo"/>
                <a:sym typeface="Heebo"/>
              </a:rPr>
              <a:t>Main duties and day-to-day tasks</a:t>
            </a:r>
          </a:p>
        </p:txBody>
      </p:sp>
      <p:sp>
        <p:nvSpPr>
          <p:cNvPr name="Freeform 33" id="33" descr="preencoded.png"/>
          <p:cNvSpPr/>
          <p:nvPr/>
        </p:nvSpPr>
        <p:spPr>
          <a:xfrm flipH="false" flipV="false" rot="0">
            <a:off x="9445828" y="5182343"/>
            <a:ext cx="274739" cy="274739"/>
          </a:xfrm>
          <a:custGeom>
            <a:avLst/>
            <a:gdLst/>
            <a:ahLst/>
            <a:cxnLst/>
            <a:rect r="r" b="b" t="t" l="l"/>
            <a:pathLst>
              <a:path h="274739" w="274739">
                <a:moveTo>
                  <a:pt x="0" y="0"/>
                </a:moveTo>
                <a:lnTo>
                  <a:pt x="274739" y="0"/>
                </a:lnTo>
                <a:lnTo>
                  <a:pt x="274739" y="274739"/>
                </a:lnTo>
                <a:lnTo>
                  <a:pt x="0" y="274739"/>
                </a:lnTo>
                <a:lnTo>
                  <a:pt x="0" y="0"/>
                </a:lnTo>
                <a:close/>
              </a:path>
            </a:pathLst>
          </a:custGeom>
          <a:blipFill>
            <a:blip r:embed="rId5">
              <a:extLst>
                <a:ext uri="{96DAC541-7B7A-43D3-8B79-37D633B846F1}">
                  <asvg:svgBlip xmlns:asvg="http://schemas.microsoft.com/office/drawing/2016/SVG/main" r:embed="rId6"/>
                </a:ext>
              </a:extLst>
            </a:blip>
            <a:stretch>
              <a:fillRect l="-8622" t="0" r="-8618" b="0"/>
            </a:stretch>
          </a:blipFill>
        </p:spPr>
      </p:sp>
      <p:sp>
        <p:nvSpPr>
          <p:cNvPr name="TextBox 34" id="34"/>
          <p:cNvSpPr txBox="true"/>
          <p:nvPr/>
        </p:nvSpPr>
        <p:spPr>
          <a:xfrm rot="0">
            <a:off x="9972523" y="5157635"/>
            <a:ext cx="7244953" cy="305248"/>
          </a:xfrm>
          <a:prstGeom prst="rect">
            <a:avLst/>
          </a:prstGeom>
        </p:spPr>
        <p:txBody>
          <a:bodyPr anchor="t" rtlCol="false" tIns="0" lIns="0" bIns="0" rIns="0">
            <a:spAutoFit/>
          </a:bodyPr>
          <a:lstStyle/>
          <a:p>
            <a:pPr algn="l">
              <a:lnSpc>
                <a:spcPts val="2246"/>
              </a:lnSpc>
            </a:pPr>
            <a:r>
              <a:rPr lang="en-US" sz="1800">
                <a:solidFill>
                  <a:srgbClr val="4C4C4D"/>
                </a:solidFill>
                <a:latin typeface="Crimson Pro"/>
                <a:ea typeface="Crimson Pro"/>
                <a:cs typeface="Crimson Pro"/>
                <a:sym typeface="Crimson Pro"/>
              </a:rPr>
              <a:t>Required Qualifications</a:t>
            </a:r>
          </a:p>
        </p:txBody>
      </p:sp>
      <p:sp>
        <p:nvSpPr>
          <p:cNvPr name="TextBox 35" id="35"/>
          <p:cNvSpPr txBox="true"/>
          <p:nvPr/>
        </p:nvSpPr>
        <p:spPr>
          <a:xfrm rot="0">
            <a:off x="9972523" y="5562152"/>
            <a:ext cx="7244953" cy="243040"/>
          </a:xfrm>
          <a:prstGeom prst="rect">
            <a:avLst/>
          </a:prstGeom>
        </p:spPr>
        <p:txBody>
          <a:bodyPr anchor="t" rtlCol="false" tIns="0" lIns="0" bIns="0" rIns="0">
            <a:spAutoFit/>
          </a:bodyPr>
          <a:lstStyle/>
          <a:p>
            <a:pPr algn="l">
              <a:lnSpc>
                <a:spcPts val="1780"/>
              </a:lnSpc>
            </a:pPr>
            <a:r>
              <a:rPr lang="en-US" sz="1399">
                <a:solidFill>
                  <a:srgbClr val="4C4C4D"/>
                </a:solidFill>
                <a:latin typeface="Heebo"/>
                <a:ea typeface="Heebo"/>
                <a:cs typeface="Heebo"/>
                <a:sym typeface="Heebo"/>
              </a:rPr>
              <a:t>Must-have education and experience</a:t>
            </a:r>
          </a:p>
        </p:txBody>
      </p:sp>
      <p:sp>
        <p:nvSpPr>
          <p:cNvPr name="Freeform 36" id="36" descr="preencoded.png"/>
          <p:cNvSpPr/>
          <p:nvPr/>
        </p:nvSpPr>
        <p:spPr>
          <a:xfrm flipH="false" flipV="false" rot="0">
            <a:off x="9445828" y="6028430"/>
            <a:ext cx="274739" cy="274739"/>
          </a:xfrm>
          <a:custGeom>
            <a:avLst/>
            <a:gdLst/>
            <a:ahLst/>
            <a:cxnLst/>
            <a:rect r="r" b="b" t="t" l="l"/>
            <a:pathLst>
              <a:path h="274739" w="274739">
                <a:moveTo>
                  <a:pt x="0" y="0"/>
                </a:moveTo>
                <a:lnTo>
                  <a:pt x="274739" y="0"/>
                </a:lnTo>
                <a:lnTo>
                  <a:pt x="274739" y="274739"/>
                </a:lnTo>
                <a:lnTo>
                  <a:pt x="0" y="274739"/>
                </a:lnTo>
                <a:lnTo>
                  <a:pt x="0" y="0"/>
                </a:lnTo>
                <a:close/>
              </a:path>
            </a:pathLst>
          </a:custGeom>
          <a:blipFill>
            <a:blip r:embed="rId5">
              <a:extLst>
                <a:ext uri="{96DAC541-7B7A-43D3-8B79-37D633B846F1}">
                  <asvg:svgBlip xmlns:asvg="http://schemas.microsoft.com/office/drawing/2016/SVG/main" r:embed="rId6"/>
                </a:ext>
              </a:extLst>
            </a:blip>
            <a:stretch>
              <a:fillRect l="-8622" t="0" r="-8618" b="0"/>
            </a:stretch>
          </a:blipFill>
        </p:spPr>
      </p:sp>
      <p:sp>
        <p:nvSpPr>
          <p:cNvPr name="TextBox 37" id="37"/>
          <p:cNvSpPr txBox="true"/>
          <p:nvPr/>
        </p:nvSpPr>
        <p:spPr>
          <a:xfrm rot="0">
            <a:off x="9972523" y="6003722"/>
            <a:ext cx="7244953" cy="305248"/>
          </a:xfrm>
          <a:prstGeom prst="rect">
            <a:avLst/>
          </a:prstGeom>
        </p:spPr>
        <p:txBody>
          <a:bodyPr anchor="t" rtlCol="false" tIns="0" lIns="0" bIns="0" rIns="0">
            <a:spAutoFit/>
          </a:bodyPr>
          <a:lstStyle/>
          <a:p>
            <a:pPr algn="l">
              <a:lnSpc>
                <a:spcPts val="2246"/>
              </a:lnSpc>
            </a:pPr>
            <a:r>
              <a:rPr lang="en-US" sz="1800">
                <a:solidFill>
                  <a:srgbClr val="4C4C4D"/>
                </a:solidFill>
                <a:latin typeface="Crimson Pro"/>
                <a:ea typeface="Crimson Pro"/>
                <a:cs typeface="Crimson Pro"/>
                <a:sym typeface="Crimson Pro"/>
              </a:rPr>
              <a:t>Required Skills</a:t>
            </a:r>
          </a:p>
        </p:txBody>
      </p:sp>
      <p:sp>
        <p:nvSpPr>
          <p:cNvPr name="TextBox 38" id="38"/>
          <p:cNvSpPr txBox="true"/>
          <p:nvPr/>
        </p:nvSpPr>
        <p:spPr>
          <a:xfrm rot="0">
            <a:off x="9972523" y="6408239"/>
            <a:ext cx="7244953" cy="243040"/>
          </a:xfrm>
          <a:prstGeom prst="rect">
            <a:avLst/>
          </a:prstGeom>
        </p:spPr>
        <p:txBody>
          <a:bodyPr anchor="t" rtlCol="false" tIns="0" lIns="0" bIns="0" rIns="0">
            <a:spAutoFit/>
          </a:bodyPr>
          <a:lstStyle/>
          <a:p>
            <a:pPr algn="l">
              <a:lnSpc>
                <a:spcPts val="1780"/>
              </a:lnSpc>
            </a:pPr>
            <a:r>
              <a:rPr lang="en-US" sz="1399">
                <a:solidFill>
                  <a:srgbClr val="4C4C4D"/>
                </a:solidFill>
                <a:latin typeface="Heebo"/>
                <a:ea typeface="Heebo"/>
                <a:cs typeface="Heebo"/>
                <a:sym typeface="Heebo"/>
              </a:rPr>
              <a:t>Essential technical and soft skills</a:t>
            </a:r>
          </a:p>
        </p:txBody>
      </p:sp>
      <p:sp>
        <p:nvSpPr>
          <p:cNvPr name="Freeform 39" id="39" descr="preencoded.png"/>
          <p:cNvSpPr/>
          <p:nvPr/>
        </p:nvSpPr>
        <p:spPr>
          <a:xfrm flipH="false" flipV="false" rot="0">
            <a:off x="9445828" y="6874516"/>
            <a:ext cx="274739" cy="274739"/>
          </a:xfrm>
          <a:custGeom>
            <a:avLst/>
            <a:gdLst/>
            <a:ahLst/>
            <a:cxnLst/>
            <a:rect r="r" b="b" t="t" l="l"/>
            <a:pathLst>
              <a:path h="274739" w="274739">
                <a:moveTo>
                  <a:pt x="0" y="0"/>
                </a:moveTo>
                <a:lnTo>
                  <a:pt x="274739" y="0"/>
                </a:lnTo>
                <a:lnTo>
                  <a:pt x="274739" y="274739"/>
                </a:lnTo>
                <a:lnTo>
                  <a:pt x="0" y="274739"/>
                </a:lnTo>
                <a:lnTo>
                  <a:pt x="0" y="0"/>
                </a:lnTo>
                <a:close/>
              </a:path>
            </a:pathLst>
          </a:custGeom>
          <a:blipFill>
            <a:blip r:embed="rId5">
              <a:extLst>
                <a:ext uri="{96DAC541-7B7A-43D3-8B79-37D633B846F1}">
                  <asvg:svgBlip xmlns:asvg="http://schemas.microsoft.com/office/drawing/2016/SVG/main" r:embed="rId6"/>
                </a:ext>
              </a:extLst>
            </a:blip>
            <a:stretch>
              <a:fillRect l="-8622" t="0" r="-8618" b="0"/>
            </a:stretch>
          </a:blipFill>
        </p:spPr>
      </p:sp>
      <p:sp>
        <p:nvSpPr>
          <p:cNvPr name="TextBox 40" id="40"/>
          <p:cNvSpPr txBox="true"/>
          <p:nvPr/>
        </p:nvSpPr>
        <p:spPr>
          <a:xfrm rot="0">
            <a:off x="9972523" y="6849818"/>
            <a:ext cx="7244953" cy="305248"/>
          </a:xfrm>
          <a:prstGeom prst="rect">
            <a:avLst/>
          </a:prstGeom>
        </p:spPr>
        <p:txBody>
          <a:bodyPr anchor="t" rtlCol="false" tIns="0" lIns="0" bIns="0" rIns="0">
            <a:spAutoFit/>
          </a:bodyPr>
          <a:lstStyle/>
          <a:p>
            <a:pPr algn="l">
              <a:lnSpc>
                <a:spcPts val="2246"/>
              </a:lnSpc>
            </a:pPr>
            <a:r>
              <a:rPr lang="en-US" sz="1800">
                <a:solidFill>
                  <a:srgbClr val="4C4C4D"/>
                </a:solidFill>
                <a:latin typeface="Crimson Pro"/>
                <a:ea typeface="Crimson Pro"/>
                <a:cs typeface="Crimson Pro"/>
                <a:sym typeface="Crimson Pro"/>
              </a:rPr>
              <a:t>Preferred Skills</a:t>
            </a:r>
          </a:p>
        </p:txBody>
      </p:sp>
      <p:sp>
        <p:nvSpPr>
          <p:cNvPr name="TextBox 41" id="41"/>
          <p:cNvSpPr txBox="true"/>
          <p:nvPr/>
        </p:nvSpPr>
        <p:spPr>
          <a:xfrm rot="0">
            <a:off x="9972523" y="7254326"/>
            <a:ext cx="7244953" cy="243040"/>
          </a:xfrm>
          <a:prstGeom prst="rect">
            <a:avLst/>
          </a:prstGeom>
        </p:spPr>
        <p:txBody>
          <a:bodyPr anchor="t" rtlCol="false" tIns="0" lIns="0" bIns="0" rIns="0">
            <a:spAutoFit/>
          </a:bodyPr>
          <a:lstStyle/>
          <a:p>
            <a:pPr algn="l">
              <a:lnSpc>
                <a:spcPts val="1780"/>
              </a:lnSpc>
            </a:pPr>
            <a:r>
              <a:rPr lang="en-US" sz="1399">
                <a:solidFill>
                  <a:srgbClr val="4C4C4D"/>
                </a:solidFill>
                <a:latin typeface="Heebo"/>
                <a:ea typeface="Heebo"/>
                <a:cs typeface="Heebo"/>
                <a:sym typeface="Heebo"/>
              </a:rPr>
              <a:t>Nice-to-have abilities that strengthen a candidacy</a:t>
            </a:r>
          </a:p>
        </p:txBody>
      </p:sp>
      <p:sp>
        <p:nvSpPr>
          <p:cNvPr name="Freeform 42" id="42" descr="preencoded.png"/>
          <p:cNvSpPr/>
          <p:nvPr/>
        </p:nvSpPr>
        <p:spPr>
          <a:xfrm flipH="false" flipV="false" rot="0">
            <a:off x="9445828" y="7720613"/>
            <a:ext cx="274739" cy="274739"/>
          </a:xfrm>
          <a:custGeom>
            <a:avLst/>
            <a:gdLst/>
            <a:ahLst/>
            <a:cxnLst/>
            <a:rect r="r" b="b" t="t" l="l"/>
            <a:pathLst>
              <a:path h="274739" w="274739">
                <a:moveTo>
                  <a:pt x="0" y="0"/>
                </a:moveTo>
                <a:lnTo>
                  <a:pt x="274739" y="0"/>
                </a:lnTo>
                <a:lnTo>
                  <a:pt x="274739" y="274739"/>
                </a:lnTo>
                <a:lnTo>
                  <a:pt x="0" y="274739"/>
                </a:lnTo>
                <a:lnTo>
                  <a:pt x="0" y="0"/>
                </a:lnTo>
                <a:close/>
              </a:path>
            </a:pathLst>
          </a:custGeom>
          <a:blipFill>
            <a:blip r:embed="rId5">
              <a:extLst>
                <a:ext uri="{96DAC541-7B7A-43D3-8B79-37D633B846F1}">
                  <asvg:svgBlip xmlns:asvg="http://schemas.microsoft.com/office/drawing/2016/SVG/main" r:embed="rId6"/>
                </a:ext>
              </a:extLst>
            </a:blip>
            <a:stretch>
              <a:fillRect l="-8622" t="0" r="-8618" b="0"/>
            </a:stretch>
          </a:blipFill>
        </p:spPr>
      </p:sp>
      <p:sp>
        <p:nvSpPr>
          <p:cNvPr name="TextBox 43" id="43"/>
          <p:cNvSpPr txBox="true"/>
          <p:nvPr/>
        </p:nvSpPr>
        <p:spPr>
          <a:xfrm rot="0">
            <a:off x="9972523" y="7695905"/>
            <a:ext cx="7244953" cy="305248"/>
          </a:xfrm>
          <a:prstGeom prst="rect">
            <a:avLst/>
          </a:prstGeom>
        </p:spPr>
        <p:txBody>
          <a:bodyPr anchor="t" rtlCol="false" tIns="0" lIns="0" bIns="0" rIns="0">
            <a:spAutoFit/>
          </a:bodyPr>
          <a:lstStyle/>
          <a:p>
            <a:pPr algn="l">
              <a:lnSpc>
                <a:spcPts val="2246"/>
              </a:lnSpc>
            </a:pPr>
            <a:r>
              <a:rPr lang="en-US" sz="1800">
                <a:solidFill>
                  <a:srgbClr val="4C4C4D"/>
                </a:solidFill>
                <a:latin typeface="Crimson Pro"/>
                <a:ea typeface="Crimson Pro"/>
                <a:cs typeface="Crimson Pro"/>
                <a:sym typeface="Crimson Pro"/>
              </a:rPr>
              <a:t>What We Offer</a:t>
            </a:r>
          </a:p>
        </p:txBody>
      </p:sp>
      <p:sp>
        <p:nvSpPr>
          <p:cNvPr name="TextBox 44" id="44"/>
          <p:cNvSpPr txBox="true"/>
          <p:nvPr/>
        </p:nvSpPr>
        <p:spPr>
          <a:xfrm rot="0">
            <a:off x="9972523" y="8100412"/>
            <a:ext cx="7244953" cy="243040"/>
          </a:xfrm>
          <a:prstGeom prst="rect">
            <a:avLst/>
          </a:prstGeom>
        </p:spPr>
        <p:txBody>
          <a:bodyPr anchor="t" rtlCol="false" tIns="0" lIns="0" bIns="0" rIns="0">
            <a:spAutoFit/>
          </a:bodyPr>
          <a:lstStyle/>
          <a:p>
            <a:pPr algn="l">
              <a:lnSpc>
                <a:spcPts val="1780"/>
              </a:lnSpc>
            </a:pPr>
            <a:r>
              <a:rPr lang="en-US" sz="1399">
                <a:solidFill>
                  <a:srgbClr val="4C4C4D"/>
                </a:solidFill>
                <a:latin typeface="Heebo"/>
                <a:ea typeface="Heebo"/>
                <a:cs typeface="Heebo"/>
                <a:sym typeface="Heebo"/>
              </a:rPr>
              <a:t>Benefits, compensation, and culture highlights</a:t>
            </a:r>
          </a:p>
        </p:txBody>
      </p:sp>
      <p:sp>
        <p:nvSpPr>
          <p:cNvPr name="Freeform 45" id="45" descr="preencoded.png"/>
          <p:cNvSpPr/>
          <p:nvPr/>
        </p:nvSpPr>
        <p:spPr>
          <a:xfrm flipH="false" flipV="false" rot="0">
            <a:off x="9445828" y="8566699"/>
            <a:ext cx="274739" cy="274739"/>
          </a:xfrm>
          <a:custGeom>
            <a:avLst/>
            <a:gdLst/>
            <a:ahLst/>
            <a:cxnLst/>
            <a:rect r="r" b="b" t="t" l="l"/>
            <a:pathLst>
              <a:path h="274739" w="274739">
                <a:moveTo>
                  <a:pt x="0" y="0"/>
                </a:moveTo>
                <a:lnTo>
                  <a:pt x="274739" y="0"/>
                </a:lnTo>
                <a:lnTo>
                  <a:pt x="274739" y="274739"/>
                </a:lnTo>
                <a:lnTo>
                  <a:pt x="0" y="274739"/>
                </a:lnTo>
                <a:lnTo>
                  <a:pt x="0" y="0"/>
                </a:lnTo>
                <a:close/>
              </a:path>
            </a:pathLst>
          </a:custGeom>
          <a:blipFill>
            <a:blip r:embed="rId5">
              <a:extLst>
                <a:ext uri="{96DAC541-7B7A-43D3-8B79-37D633B846F1}">
                  <asvg:svgBlip xmlns:asvg="http://schemas.microsoft.com/office/drawing/2016/SVG/main" r:embed="rId6"/>
                </a:ext>
              </a:extLst>
            </a:blip>
            <a:stretch>
              <a:fillRect l="-8622" t="0" r="-8618" b="0"/>
            </a:stretch>
          </a:blipFill>
        </p:spPr>
      </p:sp>
      <p:sp>
        <p:nvSpPr>
          <p:cNvPr name="TextBox 46" id="46"/>
          <p:cNvSpPr txBox="true"/>
          <p:nvPr/>
        </p:nvSpPr>
        <p:spPr>
          <a:xfrm rot="0">
            <a:off x="9972523" y="8541991"/>
            <a:ext cx="7244953" cy="305248"/>
          </a:xfrm>
          <a:prstGeom prst="rect">
            <a:avLst/>
          </a:prstGeom>
        </p:spPr>
        <p:txBody>
          <a:bodyPr anchor="t" rtlCol="false" tIns="0" lIns="0" bIns="0" rIns="0">
            <a:spAutoFit/>
          </a:bodyPr>
          <a:lstStyle/>
          <a:p>
            <a:pPr algn="l">
              <a:lnSpc>
                <a:spcPts val="2246"/>
              </a:lnSpc>
            </a:pPr>
            <a:r>
              <a:rPr lang="en-US" sz="1800">
                <a:solidFill>
                  <a:srgbClr val="4C4C4D"/>
                </a:solidFill>
                <a:latin typeface="Crimson Pro"/>
                <a:ea typeface="Crimson Pro"/>
                <a:cs typeface="Crimson Pro"/>
                <a:sym typeface="Crimson Pro"/>
              </a:rPr>
              <a:t>Application Instructions</a:t>
            </a:r>
          </a:p>
        </p:txBody>
      </p:sp>
      <p:sp>
        <p:nvSpPr>
          <p:cNvPr name="TextBox 47" id="47"/>
          <p:cNvSpPr txBox="true"/>
          <p:nvPr/>
        </p:nvSpPr>
        <p:spPr>
          <a:xfrm rot="0">
            <a:off x="9972523" y="8946509"/>
            <a:ext cx="7244953" cy="243040"/>
          </a:xfrm>
          <a:prstGeom prst="rect">
            <a:avLst/>
          </a:prstGeom>
        </p:spPr>
        <p:txBody>
          <a:bodyPr anchor="t" rtlCol="false" tIns="0" lIns="0" bIns="0" rIns="0">
            <a:spAutoFit/>
          </a:bodyPr>
          <a:lstStyle/>
          <a:p>
            <a:pPr algn="l">
              <a:lnSpc>
                <a:spcPts val="1780"/>
              </a:lnSpc>
            </a:pPr>
            <a:r>
              <a:rPr lang="en-US" sz="1399">
                <a:solidFill>
                  <a:srgbClr val="4C4C4D"/>
                </a:solidFill>
                <a:latin typeface="Heebo"/>
                <a:ea typeface="Heebo"/>
                <a:cs typeface="Heebo"/>
                <a:sym typeface="Heebo"/>
              </a:rPr>
              <a:t>Exactly how and where candidates should apply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0F0F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1080049" y="852335"/>
            <a:ext cx="16127911" cy="591588"/>
          </a:xfrm>
          <a:prstGeom prst="rect">
            <a:avLst/>
          </a:prstGeom>
        </p:spPr>
        <p:txBody>
          <a:bodyPr anchor="t" rtlCol="false" tIns="0" lIns="0" bIns="0" rIns="0">
            <a:spAutoFit/>
          </a:bodyPr>
          <a:lstStyle/>
          <a:p>
            <a:pPr algn="l">
              <a:lnSpc>
                <a:spcPts val="4492"/>
              </a:lnSpc>
            </a:pPr>
            <a:r>
              <a:rPr lang="en-US" sz="3600">
                <a:solidFill>
                  <a:srgbClr val="152D47"/>
                </a:solidFill>
                <a:latin typeface="Crimson Pro"/>
                <a:ea typeface="Crimson Pro"/>
                <a:cs typeface="Crimson Pro"/>
                <a:sym typeface="Crimson Pro"/>
              </a:rPr>
              <a:t>Master Job Description Template</a:t>
            </a:r>
          </a:p>
        </p:txBody>
      </p:sp>
      <p:sp>
        <p:nvSpPr>
          <p:cNvPr name="TextBox 7" id="7"/>
          <p:cNvSpPr txBox="true"/>
          <p:nvPr/>
        </p:nvSpPr>
        <p:spPr>
          <a:xfrm rot="0">
            <a:off x="1080049" y="1651997"/>
            <a:ext cx="17042311" cy="252565"/>
          </a:xfrm>
          <a:prstGeom prst="rect">
            <a:avLst/>
          </a:prstGeom>
        </p:spPr>
        <p:txBody>
          <a:bodyPr anchor="t" rtlCol="false" tIns="0" lIns="0" bIns="0" rIns="0">
            <a:spAutoFit/>
          </a:bodyPr>
          <a:lstStyle/>
          <a:p>
            <a:pPr algn="l">
              <a:lnSpc>
                <a:spcPts val="1780"/>
              </a:lnSpc>
            </a:pPr>
            <a:r>
              <a:rPr lang="en-US" sz="1399">
                <a:solidFill>
                  <a:srgbClr val="4C4C4D"/>
                </a:solidFill>
                <a:latin typeface="Heebo"/>
                <a:ea typeface="Heebo"/>
                <a:cs typeface="Heebo"/>
                <a:sym typeface="Heebo"/>
              </a:rPr>
              <a:t>Use this template as your universal starting point. Replace all [bracketed text] with your specific information. Every section below is required unless marked optional.</a:t>
            </a:r>
          </a:p>
        </p:txBody>
      </p:sp>
      <p:sp>
        <p:nvSpPr>
          <p:cNvPr name="Freeform 8" id="8" descr="preencoded.png"/>
          <p:cNvSpPr/>
          <p:nvPr/>
        </p:nvSpPr>
        <p:spPr>
          <a:xfrm flipH="false" flipV="false" rot="0">
            <a:off x="1080049" y="2149231"/>
            <a:ext cx="3865807" cy="1042540"/>
          </a:xfrm>
          <a:custGeom>
            <a:avLst/>
            <a:gdLst/>
            <a:ahLst/>
            <a:cxnLst/>
            <a:rect r="r" b="b" t="t" l="l"/>
            <a:pathLst>
              <a:path h="1042540" w="3865807">
                <a:moveTo>
                  <a:pt x="0" y="0"/>
                </a:moveTo>
                <a:lnTo>
                  <a:pt x="3865807" y="0"/>
                </a:lnTo>
                <a:lnTo>
                  <a:pt x="3865807" y="1042539"/>
                </a:lnTo>
                <a:lnTo>
                  <a:pt x="0" y="1042539"/>
                </a:lnTo>
                <a:lnTo>
                  <a:pt x="0" y="0"/>
                </a:lnTo>
                <a:close/>
              </a:path>
            </a:pathLst>
          </a:custGeom>
          <a:blipFill>
            <a:blip r:embed="rId3">
              <a:extLst>
                <a:ext uri="{96DAC541-7B7A-43D3-8B79-37D633B846F1}">
                  <asvg:svgBlip xmlns:asvg="http://schemas.microsoft.com/office/drawing/2016/SVG/main" r:embed="rId4"/>
                </a:ext>
              </a:extLst>
            </a:blip>
            <a:stretch>
              <a:fillRect l="0" t="-232" r="0" b="-232"/>
            </a:stretch>
          </a:blipFill>
        </p:spPr>
      </p:sp>
      <p:sp>
        <p:nvSpPr>
          <p:cNvPr name="TextBox 9" id="9"/>
          <p:cNvSpPr txBox="true"/>
          <p:nvPr/>
        </p:nvSpPr>
        <p:spPr>
          <a:xfrm rot="0">
            <a:off x="1358503" y="2332434"/>
            <a:ext cx="3385099" cy="305248"/>
          </a:xfrm>
          <a:prstGeom prst="rect">
            <a:avLst/>
          </a:prstGeom>
        </p:spPr>
        <p:txBody>
          <a:bodyPr anchor="t" rtlCol="false" tIns="0" lIns="0" bIns="0" rIns="0">
            <a:spAutoFit/>
          </a:bodyPr>
          <a:lstStyle/>
          <a:p>
            <a:pPr algn="l">
              <a:lnSpc>
                <a:spcPts val="2246"/>
              </a:lnSpc>
            </a:pPr>
            <a:r>
              <a:rPr lang="en-US" sz="1800">
                <a:solidFill>
                  <a:srgbClr val="4C4C4D"/>
                </a:solidFill>
                <a:latin typeface="Crimson Pro"/>
                <a:ea typeface="Crimson Pro"/>
                <a:cs typeface="Crimson Pro"/>
                <a:sym typeface="Crimson Pro"/>
              </a:rPr>
              <a:t>JOB TITLE</a:t>
            </a:r>
          </a:p>
        </p:txBody>
      </p:sp>
      <p:sp>
        <p:nvSpPr>
          <p:cNvPr name="TextBox 10" id="10"/>
          <p:cNvSpPr txBox="true"/>
          <p:nvPr/>
        </p:nvSpPr>
        <p:spPr>
          <a:xfrm rot="0">
            <a:off x="1358503" y="2708377"/>
            <a:ext cx="3385099" cy="281140"/>
          </a:xfrm>
          <a:prstGeom prst="rect">
            <a:avLst/>
          </a:prstGeom>
        </p:spPr>
        <p:txBody>
          <a:bodyPr anchor="t" rtlCol="false" tIns="0" lIns="0" bIns="0" rIns="0">
            <a:spAutoFit/>
          </a:bodyPr>
          <a:lstStyle/>
          <a:p>
            <a:pPr algn="l">
              <a:lnSpc>
                <a:spcPts val="1780"/>
              </a:lnSpc>
            </a:pPr>
            <a:r>
              <a:rPr lang="en-US" sz="1399">
                <a:solidFill>
                  <a:srgbClr val="4C4C4D"/>
                </a:solidFill>
                <a:latin typeface="Consolas"/>
                <a:ea typeface="Consolas"/>
                <a:cs typeface="Consolas"/>
                <a:sym typeface="Consolas"/>
              </a:rPr>
              <a:t>[Job Title]</a:t>
            </a:r>
          </a:p>
        </p:txBody>
      </p:sp>
      <p:sp>
        <p:nvSpPr>
          <p:cNvPr name="Freeform 11" id="11" descr="preencoded.png"/>
          <p:cNvSpPr/>
          <p:nvPr/>
        </p:nvSpPr>
        <p:spPr>
          <a:xfrm flipH="false" flipV="false" rot="0">
            <a:off x="5054651" y="2149231"/>
            <a:ext cx="3865807" cy="1042540"/>
          </a:xfrm>
          <a:custGeom>
            <a:avLst/>
            <a:gdLst/>
            <a:ahLst/>
            <a:cxnLst/>
            <a:rect r="r" b="b" t="t" l="l"/>
            <a:pathLst>
              <a:path h="1042540" w="3865807">
                <a:moveTo>
                  <a:pt x="0" y="0"/>
                </a:moveTo>
                <a:lnTo>
                  <a:pt x="3865807" y="0"/>
                </a:lnTo>
                <a:lnTo>
                  <a:pt x="3865807" y="1042539"/>
                </a:lnTo>
                <a:lnTo>
                  <a:pt x="0" y="1042539"/>
                </a:lnTo>
                <a:lnTo>
                  <a:pt x="0" y="0"/>
                </a:lnTo>
                <a:close/>
              </a:path>
            </a:pathLst>
          </a:custGeom>
          <a:blipFill>
            <a:blip r:embed="rId3">
              <a:extLst>
                <a:ext uri="{96DAC541-7B7A-43D3-8B79-37D633B846F1}">
                  <asvg:svgBlip xmlns:asvg="http://schemas.microsoft.com/office/drawing/2016/SVG/main" r:embed="rId4"/>
                </a:ext>
              </a:extLst>
            </a:blip>
            <a:stretch>
              <a:fillRect l="0" t="-232" r="0" b="-232"/>
            </a:stretch>
          </a:blipFill>
        </p:spPr>
      </p:sp>
      <p:sp>
        <p:nvSpPr>
          <p:cNvPr name="TextBox 12" id="12"/>
          <p:cNvSpPr txBox="true"/>
          <p:nvPr/>
        </p:nvSpPr>
        <p:spPr>
          <a:xfrm rot="0">
            <a:off x="5333105" y="2332434"/>
            <a:ext cx="3385099" cy="305248"/>
          </a:xfrm>
          <a:prstGeom prst="rect">
            <a:avLst/>
          </a:prstGeom>
        </p:spPr>
        <p:txBody>
          <a:bodyPr anchor="t" rtlCol="false" tIns="0" lIns="0" bIns="0" rIns="0">
            <a:spAutoFit/>
          </a:bodyPr>
          <a:lstStyle/>
          <a:p>
            <a:pPr algn="l">
              <a:lnSpc>
                <a:spcPts val="2246"/>
              </a:lnSpc>
            </a:pPr>
            <a:r>
              <a:rPr lang="en-US" sz="1800">
                <a:solidFill>
                  <a:srgbClr val="4C4C4D"/>
                </a:solidFill>
                <a:latin typeface="Crimson Pro"/>
                <a:ea typeface="Crimson Pro"/>
                <a:cs typeface="Crimson Pro"/>
                <a:sym typeface="Crimson Pro"/>
              </a:rPr>
              <a:t>COMPANY</a:t>
            </a:r>
          </a:p>
        </p:txBody>
      </p:sp>
      <p:sp>
        <p:nvSpPr>
          <p:cNvPr name="TextBox 13" id="13"/>
          <p:cNvSpPr txBox="true"/>
          <p:nvPr/>
        </p:nvSpPr>
        <p:spPr>
          <a:xfrm rot="0">
            <a:off x="5333105" y="2708377"/>
            <a:ext cx="3385099" cy="281140"/>
          </a:xfrm>
          <a:prstGeom prst="rect">
            <a:avLst/>
          </a:prstGeom>
        </p:spPr>
        <p:txBody>
          <a:bodyPr anchor="t" rtlCol="false" tIns="0" lIns="0" bIns="0" rIns="0">
            <a:spAutoFit/>
          </a:bodyPr>
          <a:lstStyle/>
          <a:p>
            <a:pPr algn="l">
              <a:lnSpc>
                <a:spcPts val="1780"/>
              </a:lnSpc>
            </a:pPr>
            <a:r>
              <a:rPr lang="en-US" sz="1399">
                <a:solidFill>
                  <a:srgbClr val="4C4C4D"/>
                </a:solidFill>
                <a:latin typeface="Consolas"/>
                <a:ea typeface="Consolas"/>
                <a:cs typeface="Consolas"/>
                <a:sym typeface="Consolas"/>
              </a:rPr>
              <a:t>[Company Name]</a:t>
            </a:r>
          </a:p>
        </p:txBody>
      </p:sp>
      <p:sp>
        <p:nvSpPr>
          <p:cNvPr name="Freeform 14" id="14" descr="preencoded.png"/>
          <p:cNvSpPr/>
          <p:nvPr/>
        </p:nvSpPr>
        <p:spPr>
          <a:xfrm flipH="false" flipV="false" rot="0">
            <a:off x="1080049" y="3300565"/>
            <a:ext cx="3865807" cy="1042540"/>
          </a:xfrm>
          <a:custGeom>
            <a:avLst/>
            <a:gdLst/>
            <a:ahLst/>
            <a:cxnLst/>
            <a:rect r="r" b="b" t="t" l="l"/>
            <a:pathLst>
              <a:path h="1042540" w="3865807">
                <a:moveTo>
                  <a:pt x="0" y="0"/>
                </a:moveTo>
                <a:lnTo>
                  <a:pt x="3865807" y="0"/>
                </a:lnTo>
                <a:lnTo>
                  <a:pt x="3865807" y="1042540"/>
                </a:lnTo>
                <a:lnTo>
                  <a:pt x="0" y="1042540"/>
                </a:lnTo>
                <a:lnTo>
                  <a:pt x="0" y="0"/>
                </a:lnTo>
                <a:close/>
              </a:path>
            </a:pathLst>
          </a:custGeom>
          <a:blipFill>
            <a:blip r:embed="rId3">
              <a:extLst>
                <a:ext uri="{96DAC541-7B7A-43D3-8B79-37D633B846F1}">
                  <asvg:svgBlip xmlns:asvg="http://schemas.microsoft.com/office/drawing/2016/SVG/main" r:embed="rId4"/>
                </a:ext>
              </a:extLst>
            </a:blip>
            <a:stretch>
              <a:fillRect l="0" t="-232" r="0" b="-232"/>
            </a:stretch>
          </a:blipFill>
        </p:spPr>
      </p:sp>
      <p:sp>
        <p:nvSpPr>
          <p:cNvPr name="TextBox 15" id="15"/>
          <p:cNvSpPr txBox="true"/>
          <p:nvPr/>
        </p:nvSpPr>
        <p:spPr>
          <a:xfrm rot="0">
            <a:off x="1358503" y="3483769"/>
            <a:ext cx="3385099" cy="305248"/>
          </a:xfrm>
          <a:prstGeom prst="rect">
            <a:avLst/>
          </a:prstGeom>
        </p:spPr>
        <p:txBody>
          <a:bodyPr anchor="t" rtlCol="false" tIns="0" lIns="0" bIns="0" rIns="0">
            <a:spAutoFit/>
          </a:bodyPr>
          <a:lstStyle/>
          <a:p>
            <a:pPr algn="l">
              <a:lnSpc>
                <a:spcPts val="2246"/>
              </a:lnSpc>
            </a:pPr>
            <a:r>
              <a:rPr lang="en-US" sz="1800">
                <a:solidFill>
                  <a:srgbClr val="4C4C4D"/>
                </a:solidFill>
                <a:latin typeface="Crimson Pro"/>
                <a:ea typeface="Crimson Pro"/>
                <a:cs typeface="Crimson Pro"/>
                <a:sym typeface="Crimson Pro"/>
              </a:rPr>
              <a:t>LOCATION</a:t>
            </a:r>
          </a:p>
        </p:txBody>
      </p:sp>
      <p:sp>
        <p:nvSpPr>
          <p:cNvPr name="TextBox 16" id="16"/>
          <p:cNvSpPr txBox="true"/>
          <p:nvPr/>
        </p:nvSpPr>
        <p:spPr>
          <a:xfrm rot="0">
            <a:off x="1358503" y="3859711"/>
            <a:ext cx="3385099" cy="281140"/>
          </a:xfrm>
          <a:prstGeom prst="rect">
            <a:avLst/>
          </a:prstGeom>
        </p:spPr>
        <p:txBody>
          <a:bodyPr anchor="t" rtlCol="false" tIns="0" lIns="0" bIns="0" rIns="0">
            <a:spAutoFit/>
          </a:bodyPr>
          <a:lstStyle/>
          <a:p>
            <a:pPr algn="l">
              <a:lnSpc>
                <a:spcPts val="1780"/>
              </a:lnSpc>
            </a:pPr>
            <a:r>
              <a:rPr lang="en-US" sz="1399">
                <a:solidFill>
                  <a:srgbClr val="4C4C4D"/>
                </a:solidFill>
                <a:latin typeface="Consolas"/>
                <a:ea typeface="Consolas"/>
                <a:cs typeface="Consolas"/>
                <a:sym typeface="Consolas"/>
              </a:rPr>
              <a:t>[City, Country]</a:t>
            </a:r>
          </a:p>
        </p:txBody>
      </p:sp>
      <p:sp>
        <p:nvSpPr>
          <p:cNvPr name="Freeform 17" id="17" descr="preencoded.png"/>
          <p:cNvSpPr/>
          <p:nvPr/>
        </p:nvSpPr>
        <p:spPr>
          <a:xfrm flipH="false" flipV="false" rot="0">
            <a:off x="5054651" y="3300565"/>
            <a:ext cx="3865807" cy="1042540"/>
          </a:xfrm>
          <a:custGeom>
            <a:avLst/>
            <a:gdLst/>
            <a:ahLst/>
            <a:cxnLst/>
            <a:rect r="r" b="b" t="t" l="l"/>
            <a:pathLst>
              <a:path h="1042540" w="3865807">
                <a:moveTo>
                  <a:pt x="0" y="0"/>
                </a:moveTo>
                <a:lnTo>
                  <a:pt x="3865807" y="0"/>
                </a:lnTo>
                <a:lnTo>
                  <a:pt x="3865807" y="1042540"/>
                </a:lnTo>
                <a:lnTo>
                  <a:pt x="0" y="1042540"/>
                </a:lnTo>
                <a:lnTo>
                  <a:pt x="0" y="0"/>
                </a:lnTo>
                <a:close/>
              </a:path>
            </a:pathLst>
          </a:custGeom>
          <a:blipFill>
            <a:blip r:embed="rId3">
              <a:extLst>
                <a:ext uri="{96DAC541-7B7A-43D3-8B79-37D633B846F1}">
                  <asvg:svgBlip xmlns:asvg="http://schemas.microsoft.com/office/drawing/2016/SVG/main" r:embed="rId4"/>
                </a:ext>
              </a:extLst>
            </a:blip>
            <a:stretch>
              <a:fillRect l="0" t="-232" r="0" b="-232"/>
            </a:stretch>
          </a:blipFill>
        </p:spPr>
      </p:sp>
      <p:sp>
        <p:nvSpPr>
          <p:cNvPr name="TextBox 18" id="18"/>
          <p:cNvSpPr txBox="true"/>
          <p:nvPr/>
        </p:nvSpPr>
        <p:spPr>
          <a:xfrm rot="0">
            <a:off x="5333105" y="3483769"/>
            <a:ext cx="3385099" cy="305248"/>
          </a:xfrm>
          <a:prstGeom prst="rect">
            <a:avLst/>
          </a:prstGeom>
        </p:spPr>
        <p:txBody>
          <a:bodyPr anchor="t" rtlCol="false" tIns="0" lIns="0" bIns="0" rIns="0">
            <a:spAutoFit/>
          </a:bodyPr>
          <a:lstStyle/>
          <a:p>
            <a:pPr algn="l">
              <a:lnSpc>
                <a:spcPts val="2246"/>
              </a:lnSpc>
            </a:pPr>
            <a:r>
              <a:rPr lang="en-US" sz="1800">
                <a:solidFill>
                  <a:srgbClr val="4C4C4D"/>
                </a:solidFill>
                <a:latin typeface="Crimson Pro"/>
                <a:ea typeface="Crimson Pro"/>
                <a:cs typeface="Crimson Pro"/>
                <a:sym typeface="Crimson Pro"/>
              </a:rPr>
              <a:t>EMPLOYMENT TYPE</a:t>
            </a:r>
          </a:p>
        </p:txBody>
      </p:sp>
      <p:sp>
        <p:nvSpPr>
          <p:cNvPr name="TextBox 19" id="19"/>
          <p:cNvSpPr txBox="true"/>
          <p:nvPr/>
        </p:nvSpPr>
        <p:spPr>
          <a:xfrm rot="0">
            <a:off x="5333105" y="3859711"/>
            <a:ext cx="3385099" cy="281140"/>
          </a:xfrm>
          <a:prstGeom prst="rect">
            <a:avLst/>
          </a:prstGeom>
        </p:spPr>
        <p:txBody>
          <a:bodyPr anchor="t" rtlCol="false" tIns="0" lIns="0" bIns="0" rIns="0">
            <a:spAutoFit/>
          </a:bodyPr>
          <a:lstStyle/>
          <a:p>
            <a:pPr algn="l">
              <a:lnSpc>
                <a:spcPts val="1780"/>
              </a:lnSpc>
            </a:pPr>
            <a:r>
              <a:rPr lang="en-US" sz="1399">
                <a:solidFill>
                  <a:srgbClr val="4C4C4D"/>
                </a:solidFill>
                <a:latin typeface="Consolas"/>
                <a:ea typeface="Consolas"/>
                <a:cs typeface="Consolas"/>
                <a:sym typeface="Consolas"/>
              </a:rPr>
              <a:t>[Full-Time / Part-Time / Contract]</a:t>
            </a:r>
          </a:p>
        </p:txBody>
      </p:sp>
      <p:grpSp>
        <p:nvGrpSpPr>
          <p:cNvPr name="Group 20" id="20"/>
          <p:cNvGrpSpPr/>
          <p:nvPr/>
        </p:nvGrpSpPr>
        <p:grpSpPr>
          <a:xfrm rot="0">
            <a:off x="1080049" y="4511126"/>
            <a:ext cx="7840418" cy="19050"/>
            <a:chOff x="0" y="0"/>
            <a:chExt cx="10453891" cy="25400"/>
          </a:xfrm>
        </p:grpSpPr>
        <p:sp>
          <p:nvSpPr>
            <p:cNvPr name="Freeform 21" id="21"/>
            <p:cNvSpPr/>
            <p:nvPr/>
          </p:nvSpPr>
          <p:spPr>
            <a:xfrm flipH="false" flipV="false" rot="0">
              <a:off x="0" y="0"/>
              <a:ext cx="10453878" cy="25400"/>
            </a:xfrm>
            <a:custGeom>
              <a:avLst/>
              <a:gdLst/>
              <a:ahLst/>
              <a:cxnLst/>
              <a:rect r="r" b="b" t="t" l="l"/>
              <a:pathLst>
                <a:path h="25400" w="10453878">
                  <a:moveTo>
                    <a:pt x="0" y="12700"/>
                  </a:moveTo>
                  <a:cubicBezTo>
                    <a:pt x="0" y="5715"/>
                    <a:pt x="5715" y="0"/>
                    <a:pt x="12700" y="0"/>
                  </a:cubicBezTo>
                  <a:lnTo>
                    <a:pt x="10441178" y="0"/>
                  </a:lnTo>
                  <a:cubicBezTo>
                    <a:pt x="10448163" y="0"/>
                    <a:pt x="10453878" y="5715"/>
                    <a:pt x="10453878" y="12700"/>
                  </a:cubicBezTo>
                  <a:cubicBezTo>
                    <a:pt x="10453878" y="19685"/>
                    <a:pt x="10448163" y="25400"/>
                    <a:pt x="10441178" y="25400"/>
                  </a:cubicBezTo>
                  <a:lnTo>
                    <a:pt x="12700" y="25400"/>
                  </a:lnTo>
                  <a:cubicBezTo>
                    <a:pt x="5715" y="25400"/>
                    <a:pt x="0" y="19685"/>
                    <a:pt x="0" y="12700"/>
                  </a:cubicBezTo>
                  <a:close/>
                </a:path>
              </a:pathLst>
            </a:custGeom>
            <a:solidFill>
              <a:srgbClr val="4C4C4D">
                <a:alpha val="24706"/>
              </a:srgbClr>
            </a:solidFill>
          </p:spPr>
        </p:sp>
      </p:grpSp>
      <p:sp>
        <p:nvSpPr>
          <p:cNvPr name="TextBox 22" id="22"/>
          <p:cNvSpPr txBox="true"/>
          <p:nvPr/>
        </p:nvSpPr>
        <p:spPr>
          <a:xfrm rot="0">
            <a:off x="1080049" y="4679156"/>
            <a:ext cx="7840418" cy="305248"/>
          </a:xfrm>
          <a:prstGeom prst="rect">
            <a:avLst/>
          </a:prstGeom>
        </p:spPr>
        <p:txBody>
          <a:bodyPr anchor="t" rtlCol="false" tIns="0" lIns="0" bIns="0" rIns="0">
            <a:spAutoFit/>
          </a:bodyPr>
          <a:lstStyle/>
          <a:p>
            <a:pPr algn="l">
              <a:lnSpc>
                <a:spcPts val="2246"/>
              </a:lnSpc>
            </a:pPr>
            <a:r>
              <a:rPr lang="en-US" sz="1800">
                <a:solidFill>
                  <a:srgbClr val="152D47"/>
                </a:solidFill>
                <a:latin typeface="Crimson Pro"/>
                <a:ea typeface="Crimson Pro"/>
                <a:cs typeface="Crimson Pro"/>
                <a:sym typeface="Crimson Pro"/>
              </a:rPr>
              <a:t>ABOUT THE COMPANY</a:t>
            </a:r>
          </a:p>
        </p:txBody>
      </p:sp>
      <p:sp>
        <p:nvSpPr>
          <p:cNvPr name="TextBox 23" id="23"/>
          <p:cNvSpPr txBox="true"/>
          <p:nvPr/>
        </p:nvSpPr>
        <p:spPr>
          <a:xfrm rot="0">
            <a:off x="1080049" y="5055098"/>
            <a:ext cx="8754818" cy="281140"/>
          </a:xfrm>
          <a:prstGeom prst="rect">
            <a:avLst/>
          </a:prstGeom>
        </p:spPr>
        <p:txBody>
          <a:bodyPr anchor="t" rtlCol="false" tIns="0" lIns="0" bIns="0" rIns="0">
            <a:spAutoFit/>
          </a:bodyPr>
          <a:lstStyle/>
          <a:p>
            <a:pPr algn="l">
              <a:lnSpc>
                <a:spcPts val="1780"/>
              </a:lnSpc>
            </a:pPr>
            <a:r>
              <a:rPr lang="en-US" sz="1399">
                <a:solidFill>
                  <a:srgbClr val="4C4C4D"/>
                </a:solidFill>
                <a:latin typeface="Consolas"/>
                <a:ea typeface="Consolas"/>
                <a:cs typeface="Consolas"/>
                <a:sym typeface="Consolas"/>
              </a:rPr>
              <a:t>[2–3 sentence description of your company, mission, and what you do]</a:t>
            </a:r>
          </a:p>
        </p:txBody>
      </p:sp>
      <p:sp>
        <p:nvSpPr>
          <p:cNvPr name="TextBox 24" id="24"/>
          <p:cNvSpPr txBox="true"/>
          <p:nvPr/>
        </p:nvSpPr>
        <p:spPr>
          <a:xfrm rot="0">
            <a:off x="1080049" y="5425973"/>
            <a:ext cx="7840418" cy="305248"/>
          </a:xfrm>
          <a:prstGeom prst="rect">
            <a:avLst/>
          </a:prstGeom>
        </p:spPr>
        <p:txBody>
          <a:bodyPr anchor="t" rtlCol="false" tIns="0" lIns="0" bIns="0" rIns="0">
            <a:spAutoFit/>
          </a:bodyPr>
          <a:lstStyle/>
          <a:p>
            <a:pPr algn="l">
              <a:lnSpc>
                <a:spcPts val="2246"/>
              </a:lnSpc>
            </a:pPr>
            <a:r>
              <a:rPr lang="en-US" sz="1800">
                <a:solidFill>
                  <a:srgbClr val="152D47"/>
                </a:solidFill>
                <a:latin typeface="Crimson Pro"/>
                <a:ea typeface="Crimson Pro"/>
                <a:cs typeface="Crimson Pro"/>
                <a:sym typeface="Crimson Pro"/>
              </a:rPr>
              <a:t>ABOUT THE ROLE</a:t>
            </a:r>
          </a:p>
        </p:txBody>
      </p:sp>
      <p:sp>
        <p:nvSpPr>
          <p:cNvPr name="TextBox 25" id="25"/>
          <p:cNvSpPr txBox="true"/>
          <p:nvPr/>
        </p:nvSpPr>
        <p:spPr>
          <a:xfrm rot="0">
            <a:off x="1080049" y="5801916"/>
            <a:ext cx="8754818" cy="281140"/>
          </a:xfrm>
          <a:prstGeom prst="rect">
            <a:avLst/>
          </a:prstGeom>
        </p:spPr>
        <p:txBody>
          <a:bodyPr anchor="t" rtlCol="false" tIns="0" lIns="0" bIns="0" rIns="0">
            <a:spAutoFit/>
          </a:bodyPr>
          <a:lstStyle/>
          <a:p>
            <a:pPr algn="l">
              <a:lnSpc>
                <a:spcPts val="1780"/>
              </a:lnSpc>
            </a:pPr>
            <a:r>
              <a:rPr lang="en-US" sz="1399">
                <a:solidFill>
                  <a:srgbClr val="4C4C4D"/>
                </a:solidFill>
                <a:latin typeface="Consolas"/>
                <a:ea typeface="Consolas"/>
                <a:cs typeface="Consolas"/>
                <a:sym typeface="Consolas"/>
              </a:rPr>
              <a:t>[Brief explanation of the position and why it matters to your organization]</a:t>
            </a:r>
          </a:p>
        </p:txBody>
      </p:sp>
      <p:sp>
        <p:nvSpPr>
          <p:cNvPr name="TextBox 26" id="26"/>
          <p:cNvSpPr txBox="true"/>
          <p:nvPr/>
        </p:nvSpPr>
        <p:spPr>
          <a:xfrm rot="0">
            <a:off x="9377067" y="2116636"/>
            <a:ext cx="7840418" cy="305248"/>
          </a:xfrm>
          <a:prstGeom prst="rect">
            <a:avLst/>
          </a:prstGeom>
        </p:spPr>
        <p:txBody>
          <a:bodyPr anchor="t" rtlCol="false" tIns="0" lIns="0" bIns="0" rIns="0">
            <a:spAutoFit/>
          </a:bodyPr>
          <a:lstStyle/>
          <a:p>
            <a:pPr algn="l">
              <a:lnSpc>
                <a:spcPts val="2246"/>
              </a:lnSpc>
            </a:pPr>
            <a:r>
              <a:rPr lang="en-US" sz="1800">
                <a:solidFill>
                  <a:srgbClr val="152D47"/>
                </a:solidFill>
                <a:latin typeface="Crimson Pro"/>
                <a:ea typeface="Crimson Pro"/>
                <a:cs typeface="Crimson Pro"/>
                <a:sym typeface="Crimson Pro"/>
              </a:rPr>
              <a:t>KEY RESPONSIBILITIES</a:t>
            </a:r>
          </a:p>
        </p:txBody>
      </p:sp>
      <p:sp>
        <p:nvSpPr>
          <p:cNvPr name="TextBox 27" id="27"/>
          <p:cNvSpPr txBox="true"/>
          <p:nvPr/>
        </p:nvSpPr>
        <p:spPr>
          <a:xfrm rot="0">
            <a:off x="9377067" y="2492578"/>
            <a:ext cx="7840418" cy="1405090"/>
          </a:xfrm>
          <a:prstGeom prst="rect">
            <a:avLst/>
          </a:prstGeom>
        </p:spPr>
        <p:txBody>
          <a:bodyPr anchor="t" rtlCol="false" tIns="0" lIns="0" bIns="0" rIns="0">
            <a:spAutoFit/>
          </a:bodyPr>
          <a:lstStyle/>
          <a:p>
            <a:pPr algn="l" marL="337820" indent="-168910" lvl="1">
              <a:lnSpc>
                <a:spcPts val="1780"/>
              </a:lnSpc>
              <a:buFont typeface="Arial"/>
              <a:buChar char="•"/>
            </a:pPr>
            <a:r>
              <a:rPr lang="en-US" sz="1399">
                <a:solidFill>
                  <a:srgbClr val="4C4C4D"/>
                </a:solidFill>
                <a:latin typeface="Consolas"/>
                <a:ea typeface="Consolas"/>
                <a:cs typeface="Consolas"/>
                <a:sym typeface="Consolas"/>
              </a:rPr>
              <a:t>[Responsibility 1]</a:t>
            </a:r>
          </a:p>
          <a:p>
            <a:pPr algn="l" marL="337820" indent="-168910" lvl="1">
              <a:lnSpc>
                <a:spcPts val="1780"/>
              </a:lnSpc>
              <a:buFont typeface="Arial"/>
              <a:buChar char="•"/>
            </a:pPr>
            <a:r>
              <a:rPr lang="en-US" sz="1399">
                <a:solidFill>
                  <a:srgbClr val="4C4C4D"/>
                </a:solidFill>
                <a:latin typeface="Consolas"/>
                <a:ea typeface="Consolas"/>
                <a:cs typeface="Consolas"/>
                <a:sym typeface="Consolas"/>
              </a:rPr>
              <a:t>[Responsibility 2]</a:t>
            </a:r>
          </a:p>
          <a:p>
            <a:pPr algn="l" marL="337820" indent="-168910" lvl="1">
              <a:lnSpc>
                <a:spcPts val="1780"/>
              </a:lnSpc>
              <a:buFont typeface="Arial"/>
              <a:buChar char="•"/>
            </a:pPr>
            <a:r>
              <a:rPr lang="en-US" sz="1399">
                <a:solidFill>
                  <a:srgbClr val="4C4C4D"/>
                </a:solidFill>
                <a:latin typeface="Consolas"/>
                <a:ea typeface="Consolas"/>
                <a:cs typeface="Consolas"/>
                <a:sym typeface="Consolas"/>
              </a:rPr>
              <a:t>[Responsibility 3]</a:t>
            </a:r>
          </a:p>
          <a:p>
            <a:pPr algn="l" marL="337820" indent="-168910" lvl="1">
              <a:lnSpc>
                <a:spcPts val="1780"/>
              </a:lnSpc>
              <a:buFont typeface="Arial"/>
              <a:buChar char="•"/>
            </a:pPr>
            <a:r>
              <a:rPr lang="en-US" sz="1399">
                <a:solidFill>
                  <a:srgbClr val="4C4C4D"/>
                </a:solidFill>
                <a:latin typeface="Consolas"/>
                <a:ea typeface="Consolas"/>
                <a:cs typeface="Consolas"/>
                <a:sym typeface="Consolas"/>
              </a:rPr>
              <a:t>[Responsibility 4]</a:t>
            </a:r>
          </a:p>
          <a:p>
            <a:pPr algn="l" marL="337820" indent="-168910" lvl="1">
              <a:lnSpc>
                <a:spcPts val="1780"/>
              </a:lnSpc>
              <a:buFont typeface="Arial"/>
              <a:buChar char="•"/>
            </a:pPr>
            <a:r>
              <a:rPr lang="en-US" sz="1399">
                <a:solidFill>
                  <a:srgbClr val="4C4C4D"/>
                </a:solidFill>
                <a:latin typeface="Consolas"/>
                <a:ea typeface="Consolas"/>
                <a:cs typeface="Consolas"/>
                <a:sym typeface="Consolas"/>
              </a:rPr>
              <a:t>[Responsibility 5]</a:t>
            </a:r>
          </a:p>
        </p:txBody>
      </p:sp>
      <p:sp>
        <p:nvSpPr>
          <p:cNvPr name="TextBox 28" id="28"/>
          <p:cNvSpPr txBox="true"/>
          <p:nvPr/>
        </p:nvSpPr>
        <p:spPr>
          <a:xfrm rot="0">
            <a:off x="9377067" y="3987403"/>
            <a:ext cx="7840418" cy="305248"/>
          </a:xfrm>
          <a:prstGeom prst="rect">
            <a:avLst/>
          </a:prstGeom>
        </p:spPr>
        <p:txBody>
          <a:bodyPr anchor="t" rtlCol="false" tIns="0" lIns="0" bIns="0" rIns="0">
            <a:spAutoFit/>
          </a:bodyPr>
          <a:lstStyle/>
          <a:p>
            <a:pPr algn="l">
              <a:lnSpc>
                <a:spcPts val="2246"/>
              </a:lnSpc>
            </a:pPr>
            <a:r>
              <a:rPr lang="en-US" sz="1800">
                <a:solidFill>
                  <a:srgbClr val="152D47"/>
                </a:solidFill>
                <a:latin typeface="Crimson Pro"/>
                <a:ea typeface="Crimson Pro"/>
                <a:cs typeface="Crimson Pro"/>
                <a:sym typeface="Crimson Pro"/>
              </a:rPr>
              <a:t>REQUIRED QUALIFICATIONS</a:t>
            </a:r>
          </a:p>
        </p:txBody>
      </p:sp>
      <p:sp>
        <p:nvSpPr>
          <p:cNvPr name="TextBox 29" id="29"/>
          <p:cNvSpPr txBox="true"/>
          <p:nvPr/>
        </p:nvSpPr>
        <p:spPr>
          <a:xfrm rot="0">
            <a:off x="9377067" y="4363345"/>
            <a:ext cx="7840418" cy="562127"/>
          </a:xfrm>
          <a:prstGeom prst="rect">
            <a:avLst/>
          </a:prstGeom>
        </p:spPr>
        <p:txBody>
          <a:bodyPr anchor="t" rtlCol="false" tIns="0" lIns="0" bIns="0" rIns="0">
            <a:spAutoFit/>
          </a:bodyPr>
          <a:lstStyle/>
          <a:p>
            <a:pPr algn="l" marL="337820" indent="-168910" lvl="1">
              <a:lnSpc>
                <a:spcPts val="1780"/>
              </a:lnSpc>
              <a:buFont typeface="Arial"/>
              <a:buChar char="•"/>
            </a:pPr>
            <a:r>
              <a:rPr lang="en-US" sz="1399">
                <a:solidFill>
                  <a:srgbClr val="4C4C4D"/>
                </a:solidFill>
                <a:latin typeface="Consolas"/>
                <a:ea typeface="Consolas"/>
                <a:cs typeface="Consolas"/>
                <a:sym typeface="Consolas"/>
              </a:rPr>
              <a:t>[Qualification — e.g. degree, certification, years of experience]</a:t>
            </a:r>
          </a:p>
          <a:p>
            <a:pPr algn="l" marL="337820" indent="-168910" lvl="1">
              <a:lnSpc>
                <a:spcPts val="1780"/>
              </a:lnSpc>
              <a:buFont typeface="Arial"/>
              <a:buChar char="•"/>
            </a:pPr>
            <a:r>
              <a:rPr lang="en-US" sz="1399">
                <a:solidFill>
                  <a:srgbClr val="4C4C4D"/>
                </a:solidFill>
                <a:latin typeface="Consolas"/>
                <a:ea typeface="Consolas"/>
                <a:cs typeface="Consolas"/>
                <a:sym typeface="Consolas"/>
              </a:rPr>
              <a:t>[Qualification]</a:t>
            </a:r>
          </a:p>
        </p:txBody>
      </p:sp>
      <p:sp>
        <p:nvSpPr>
          <p:cNvPr name="TextBox 30" id="30"/>
          <p:cNvSpPr txBox="true"/>
          <p:nvPr/>
        </p:nvSpPr>
        <p:spPr>
          <a:xfrm rot="0">
            <a:off x="9377067" y="5015208"/>
            <a:ext cx="7840418" cy="305248"/>
          </a:xfrm>
          <a:prstGeom prst="rect">
            <a:avLst/>
          </a:prstGeom>
        </p:spPr>
        <p:txBody>
          <a:bodyPr anchor="t" rtlCol="false" tIns="0" lIns="0" bIns="0" rIns="0">
            <a:spAutoFit/>
          </a:bodyPr>
          <a:lstStyle/>
          <a:p>
            <a:pPr algn="l">
              <a:lnSpc>
                <a:spcPts val="2246"/>
              </a:lnSpc>
            </a:pPr>
            <a:r>
              <a:rPr lang="en-US" sz="1800">
                <a:solidFill>
                  <a:srgbClr val="152D47"/>
                </a:solidFill>
                <a:latin typeface="Crimson Pro"/>
                <a:ea typeface="Crimson Pro"/>
                <a:cs typeface="Crimson Pro"/>
                <a:sym typeface="Crimson Pro"/>
              </a:rPr>
              <a:t>REQUIRED SKILLS</a:t>
            </a:r>
          </a:p>
        </p:txBody>
      </p:sp>
      <p:sp>
        <p:nvSpPr>
          <p:cNvPr name="TextBox 31" id="31"/>
          <p:cNvSpPr txBox="true"/>
          <p:nvPr/>
        </p:nvSpPr>
        <p:spPr>
          <a:xfrm rot="0">
            <a:off x="9377067" y="5391150"/>
            <a:ext cx="7840418" cy="843115"/>
          </a:xfrm>
          <a:prstGeom prst="rect">
            <a:avLst/>
          </a:prstGeom>
        </p:spPr>
        <p:txBody>
          <a:bodyPr anchor="t" rtlCol="false" tIns="0" lIns="0" bIns="0" rIns="0">
            <a:spAutoFit/>
          </a:bodyPr>
          <a:lstStyle/>
          <a:p>
            <a:pPr algn="l" marL="337820" indent="-168910" lvl="1">
              <a:lnSpc>
                <a:spcPts val="1780"/>
              </a:lnSpc>
              <a:buFont typeface="Arial"/>
              <a:buChar char="•"/>
            </a:pPr>
            <a:r>
              <a:rPr lang="en-US" sz="1399">
                <a:solidFill>
                  <a:srgbClr val="4C4C4D"/>
                </a:solidFill>
                <a:latin typeface="Consolas"/>
                <a:ea typeface="Consolas"/>
                <a:cs typeface="Consolas"/>
                <a:sym typeface="Consolas"/>
              </a:rPr>
              <a:t>[Skill]</a:t>
            </a:r>
          </a:p>
          <a:p>
            <a:pPr algn="l" marL="337820" indent="-168910" lvl="1">
              <a:lnSpc>
                <a:spcPts val="1780"/>
              </a:lnSpc>
              <a:buFont typeface="Arial"/>
              <a:buChar char="•"/>
            </a:pPr>
            <a:r>
              <a:rPr lang="en-US" sz="1399">
                <a:solidFill>
                  <a:srgbClr val="4C4C4D"/>
                </a:solidFill>
                <a:latin typeface="Consolas"/>
                <a:ea typeface="Consolas"/>
                <a:cs typeface="Consolas"/>
                <a:sym typeface="Consolas"/>
              </a:rPr>
              <a:t>[Skill]</a:t>
            </a:r>
          </a:p>
          <a:p>
            <a:pPr algn="l" marL="337820" indent="-168910" lvl="1">
              <a:lnSpc>
                <a:spcPts val="1780"/>
              </a:lnSpc>
              <a:buFont typeface="Arial"/>
              <a:buChar char="•"/>
            </a:pPr>
            <a:r>
              <a:rPr lang="en-US" sz="1399">
                <a:solidFill>
                  <a:srgbClr val="4C4C4D"/>
                </a:solidFill>
                <a:latin typeface="Consolas"/>
                <a:ea typeface="Consolas"/>
                <a:cs typeface="Consolas"/>
                <a:sym typeface="Consolas"/>
              </a:rPr>
              <a:t>[Skill]</a:t>
            </a:r>
          </a:p>
        </p:txBody>
      </p:sp>
      <p:sp>
        <p:nvSpPr>
          <p:cNvPr name="TextBox 32" id="32"/>
          <p:cNvSpPr txBox="true"/>
          <p:nvPr/>
        </p:nvSpPr>
        <p:spPr>
          <a:xfrm rot="0">
            <a:off x="9377067" y="6324000"/>
            <a:ext cx="7840418" cy="305248"/>
          </a:xfrm>
          <a:prstGeom prst="rect">
            <a:avLst/>
          </a:prstGeom>
        </p:spPr>
        <p:txBody>
          <a:bodyPr anchor="t" rtlCol="false" tIns="0" lIns="0" bIns="0" rIns="0">
            <a:spAutoFit/>
          </a:bodyPr>
          <a:lstStyle/>
          <a:p>
            <a:pPr algn="l">
              <a:lnSpc>
                <a:spcPts val="2246"/>
              </a:lnSpc>
            </a:pPr>
            <a:r>
              <a:rPr lang="en-US" sz="1800">
                <a:solidFill>
                  <a:srgbClr val="152D47"/>
                </a:solidFill>
                <a:latin typeface="Crimson Pro"/>
                <a:ea typeface="Crimson Pro"/>
                <a:cs typeface="Crimson Pro"/>
                <a:sym typeface="Crimson Pro"/>
              </a:rPr>
              <a:t>PREFERRED SKILLS</a:t>
            </a:r>
          </a:p>
        </p:txBody>
      </p:sp>
      <p:sp>
        <p:nvSpPr>
          <p:cNvPr name="TextBox 33" id="33"/>
          <p:cNvSpPr txBox="true"/>
          <p:nvPr/>
        </p:nvSpPr>
        <p:spPr>
          <a:xfrm rot="0">
            <a:off x="9377067" y="6699942"/>
            <a:ext cx="7840418" cy="562127"/>
          </a:xfrm>
          <a:prstGeom prst="rect">
            <a:avLst/>
          </a:prstGeom>
        </p:spPr>
        <p:txBody>
          <a:bodyPr anchor="t" rtlCol="false" tIns="0" lIns="0" bIns="0" rIns="0">
            <a:spAutoFit/>
          </a:bodyPr>
          <a:lstStyle/>
          <a:p>
            <a:pPr algn="l" marL="337820" indent="-168910" lvl="1">
              <a:lnSpc>
                <a:spcPts val="1780"/>
              </a:lnSpc>
              <a:buFont typeface="Arial"/>
              <a:buChar char="•"/>
            </a:pPr>
            <a:r>
              <a:rPr lang="en-US" sz="1399">
                <a:solidFill>
                  <a:srgbClr val="4C4C4D"/>
                </a:solidFill>
                <a:latin typeface="Consolas"/>
                <a:ea typeface="Consolas"/>
                <a:cs typeface="Consolas"/>
                <a:sym typeface="Consolas"/>
              </a:rPr>
              <a:t>[Nice-to-have skill]</a:t>
            </a:r>
          </a:p>
          <a:p>
            <a:pPr algn="l" marL="337820" indent="-168910" lvl="1">
              <a:lnSpc>
                <a:spcPts val="1780"/>
              </a:lnSpc>
              <a:buFont typeface="Arial"/>
              <a:buChar char="•"/>
            </a:pPr>
            <a:r>
              <a:rPr lang="en-US" sz="1399">
                <a:solidFill>
                  <a:srgbClr val="4C4C4D"/>
                </a:solidFill>
                <a:latin typeface="Consolas"/>
                <a:ea typeface="Consolas"/>
                <a:cs typeface="Consolas"/>
                <a:sym typeface="Consolas"/>
              </a:rPr>
              <a:t>[Nice-to-have skill]</a:t>
            </a:r>
          </a:p>
        </p:txBody>
      </p:sp>
      <p:sp>
        <p:nvSpPr>
          <p:cNvPr name="TextBox 34" id="34"/>
          <p:cNvSpPr txBox="true"/>
          <p:nvPr/>
        </p:nvSpPr>
        <p:spPr>
          <a:xfrm rot="0">
            <a:off x="9377067" y="7351814"/>
            <a:ext cx="7840418" cy="305248"/>
          </a:xfrm>
          <a:prstGeom prst="rect">
            <a:avLst/>
          </a:prstGeom>
        </p:spPr>
        <p:txBody>
          <a:bodyPr anchor="t" rtlCol="false" tIns="0" lIns="0" bIns="0" rIns="0">
            <a:spAutoFit/>
          </a:bodyPr>
          <a:lstStyle/>
          <a:p>
            <a:pPr algn="l">
              <a:lnSpc>
                <a:spcPts val="2246"/>
              </a:lnSpc>
            </a:pPr>
            <a:r>
              <a:rPr lang="en-US" sz="1800">
                <a:solidFill>
                  <a:srgbClr val="152D47"/>
                </a:solidFill>
                <a:latin typeface="Crimson Pro"/>
                <a:ea typeface="Crimson Pro"/>
                <a:cs typeface="Crimson Pro"/>
                <a:sym typeface="Crimson Pro"/>
              </a:rPr>
              <a:t>WHAT WE OFFER</a:t>
            </a:r>
          </a:p>
        </p:txBody>
      </p:sp>
      <p:sp>
        <p:nvSpPr>
          <p:cNvPr name="TextBox 35" id="35"/>
          <p:cNvSpPr txBox="true"/>
          <p:nvPr/>
        </p:nvSpPr>
        <p:spPr>
          <a:xfrm rot="0">
            <a:off x="9377067" y="7727756"/>
            <a:ext cx="7840418" cy="843115"/>
          </a:xfrm>
          <a:prstGeom prst="rect">
            <a:avLst/>
          </a:prstGeom>
        </p:spPr>
        <p:txBody>
          <a:bodyPr anchor="t" rtlCol="false" tIns="0" lIns="0" bIns="0" rIns="0">
            <a:spAutoFit/>
          </a:bodyPr>
          <a:lstStyle/>
          <a:p>
            <a:pPr algn="l" marL="337820" indent="-168910" lvl="1">
              <a:lnSpc>
                <a:spcPts val="1780"/>
              </a:lnSpc>
              <a:buFont typeface="Arial"/>
              <a:buChar char="•"/>
            </a:pPr>
            <a:r>
              <a:rPr lang="en-US" sz="1399">
                <a:solidFill>
                  <a:srgbClr val="4C4C4D"/>
                </a:solidFill>
                <a:latin typeface="Consolas"/>
                <a:ea typeface="Consolas"/>
                <a:cs typeface="Consolas"/>
                <a:sym typeface="Consolas"/>
              </a:rPr>
              <a:t>[Benefit or compensation detail]</a:t>
            </a:r>
          </a:p>
          <a:p>
            <a:pPr algn="l" marL="337820" indent="-168910" lvl="1">
              <a:lnSpc>
                <a:spcPts val="1780"/>
              </a:lnSpc>
              <a:buFont typeface="Arial"/>
              <a:buChar char="•"/>
            </a:pPr>
            <a:r>
              <a:rPr lang="en-US" sz="1399">
                <a:solidFill>
                  <a:srgbClr val="4C4C4D"/>
                </a:solidFill>
                <a:latin typeface="Consolas"/>
                <a:ea typeface="Consolas"/>
                <a:cs typeface="Consolas"/>
                <a:sym typeface="Consolas"/>
              </a:rPr>
              <a:t>[Benefit]</a:t>
            </a:r>
          </a:p>
          <a:p>
            <a:pPr algn="l" marL="337820" indent="-168910" lvl="1">
              <a:lnSpc>
                <a:spcPts val="1780"/>
              </a:lnSpc>
              <a:buFont typeface="Arial"/>
              <a:buChar char="•"/>
            </a:pPr>
            <a:r>
              <a:rPr lang="en-US" sz="1399">
                <a:solidFill>
                  <a:srgbClr val="4C4C4D"/>
                </a:solidFill>
                <a:latin typeface="Consolas"/>
                <a:ea typeface="Consolas"/>
                <a:cs typeface="Consolas"/>
                <a:sym typeface="Consolas"/>
              </a:rPr>
              <a:t>[Benefit]</a:t>
            </a:r>
          </a:p>
        </p:txBody>
      </p:sp>
      <p:sp>
        <p:nvSpPr>
          <p:cNvPr name="TextBox 36" id="36"/>
          <p:cNvSpPr txBox="true"/>
          <p:nvPr/>
        </p:nvSpPr>
        <p:spPr>
          <a:xfrm rot="0">
            <a:off x="9377067" y="8660606"/>
            <a:ext cx="7840418" cy="305248"/>
          </a:xfrm>
          <a:prstGeom prst="rect">
            <a:avLst/>
          </a:prstGeom>
        </p:spPr>
        <p:txBody>
          <a:bodyPr anchor="t" rtlCol="false" tIns="0" lIns="0" bIns="0" rIns="0">
            <a:spAutoFit/>
          </a:bodyPr>
          <a:lstStyle/>
          <a:p>
            <a:pPr algn="l">
              <a:lnSpc>
                <a:spcPts val="2246"/>
              </a:lnSpc>
            </a:pPr>
            <a:r>
              <a:rPr lang="en-US" sz="1800">
                <a:solidFill>
                  <a:srgbClr val="152D47"/>
                </a:solidFill>
                <a:latin typeface="Crimson Pro"/>
                <a:ea typeface="Crimson Pro"/>
                <a:cs typeface="Crimson Pro"/>
                <a:sym typeface="Crimson Pro"/>
              </a:rPr>
              <a:t>APPLICATION</a:t>
            </a:r>
          </a:p>
        </p:txBody>
      </p:sp>
      <p:sp>
        <p:nvSpPr>
          <p:cNvPr name="TextBox 37" id="37"/>
          <p:cNvSpPr txBox="true"/>
          <p:nvPr/>
        </p:nvSpPr>
        <p:spPr>
          <a:xfrm rot="0">
            <a:off x="9377067" y="9036548"/>
            <a:ext cx="8754818" cy="281140"/>
          </a:xfrm>
          <a:prstGeom prst="rect">
            <a:avLst/>
          </a:prstGeom>
        </p:spPr>
        <p:txBody>
          <a:bodyPr anchor="t" rtlCol="false" tIns="0" lIns="0" bIns="0" rIns="0">
            <a:spAutoFit/>
          </a:bodyPr>
          <a:lstStyle/>
          <a:p>
            <a:pPr algn="l">
              <a:lnSpc>
                <a:spcPts val="1780"/>
              </a:lnSpc>
            </a:pPr>
            <a:r>
              <a:rPr lang="en-US" sz="1399">
                <a:solidFill>
                  <a:srgbClr val="4C4C4D"/>
                </a:solidFill>
                <a:latin typeface="Consolas"/>
                <a:ea typeface="Consolas"/>
                <a:cs typeface="Consolas"/>
                <a:sym typeface="Consolas"/>
              </a:rPr>
              <a:t>[How candidates should apply — email address, link, or instructions]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0F0F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1080049" y="948033"/>
            <a:ext cx="16127911" cy="510778"/>
          </a:xfrm>
          <a:prstGeom prst="rect">
            <a:avLst/>
          </a:prstGeom>
        </p:spPr>
        <p:txBody>
          <a:bodyPr anchor="t" rtlCol="false" tIns="0" lIns="0" bIns="0" rIns="0">
            <a:spAutoFit/>
          </a:bodyPr>
          <a:lstStyle/>
          <a:p>
            <a:pPr algn="l">
              <a:lnSpc>
                <a:spcPts val="3744"/>
              </a:lnSpc>
            </a:pPr>
            <a:r>
              <a:rPr lang="en-US" sz="3000">
                <a:solidFill>
                  <a:srgbClr val="152D47"/>
                </a:solidFill>
                <a:latin typeface="Crimson Pro"/>
                <a:ea typeface="Crimson Pro"/>
                <a:cs typeface="Crimson Pro"/>
                <a:sym typeface="Crimson Pro"/>
              </a:rPr>
              <a:t>Software Developer &amp; Sales / Business Development Executive</a:t>
            </a:r>
          </a:p>
        </p:txBody>
      </p:sp>
      <p:grpSp>
        <p:nvGrpSpPr>
          <p:cNvPr name="Group 7" id="7"/>
          <p:cNvGrpSpPr/>
          <p:nvPr/>
        </p:nvGrpSpPr>
        <p:grpSpPr>
          <a:xfrm rot="0">
            <a:off x="1080049" y="1661217"/>
            <a:ext cx="1522809" cy="234401"/>
            <a:chOff x="0" y="0"/>
            <a:chExt cx="2030412" cy="312534"/>
          </a:xfrm>
        </p:grpSpPr>
        <p:sp>
          <p:nvSpPr>
            <p:cNvPr name="Freeform 8" id="8"/>
            <p:cNvSpPr/>
            <p:nvPr/>
          </p:nvSpPr>
          <p:spPr>
            <a:xfrm flipH="false" flipV="false" rot="0">
              <a:off x="0" y="0"/>
              <a:ext cx="2030349" cy="312547"/>
            </a:xfrm>
            <a:custGeom>
              <a:avLst/>
              <a:gdLst/>
              <a:ahLst/>
              <a:cxnLst/>
              <a:rect r="r" b="b" t="t" l="l"/>
              <a:pathLst>
                <a:path h="312547" w="2030349">
                  <a:moveTo>
                    <a:pt x="0" y="24638"/>
                  </a:moveTo>
                  <a:cubicBezTo>
                    <a:pt x="0" y="11049"/>
                    <a:pt x="11049" y="0"/>
                    <a:pt x="24638" y="0"/>
                  </a:cubicBezTo>
                  <a:lnTo>
                    <a:pt x="2005711" y="0"/>
                  </a:lnTo>
                  <a:cubicBezTo>
                    <a:pt x="2019300" y="0"/>
                    <a:pt x="2030349" y="11049"/>
                    <a:pt x="2030349" y="24638"/>
                  </a:cubicBezTo>
                  <a:lnTo>
                    <a:pt x="2030349" y="287909"/>
                  </a:lnTo>
                  <a:cubicBezTo>
                    <a:pt x="2030349" y="301498"/>
                    <a:pt x="2019300" y="312547"/>
                    <a:pt x="2005711" y="312547"/>
                  </a:cubicBezTo>
                  <a:lnTo>
                    <a:pt x="24638" y="312547"/>
                  </a:lnTo>
                  <a:cubicBezTo>
                    <a:pt x="11049" y="312547"/>
                    <a:pt x="0" y="301498"/>
                    <a:pt x="0" y="287909"/>
                  </a:cubicBezTo>
                  <a:close/>
                </a:path>
              </a:pathLst>
            </a:custGeom>
            <a:solidFill>
              <a:srgbClr val="CCD7FF"/>
            </a:solidFill>
          </p:spPr>
        </p:sp>
      </p:grpSp>
      <p:sp>
        <p:nvSpPr>
          <p:cNvPr name="TextBox 9" id="9"/>
          <p:cNvSpPr txBox="true"/>
          <p:nvPr/>
        </p:nvSpPr>
        <p:spPr>
          <a:xfrm rot="0">
            <a:off x="1172613" y="1707509"/>
            <a:ext cx="2252072" cy="141837"/>
          </a:xfrm>
          <a:prstGeom prst="rect">
            <a:avLst/>
          </a:prstGeom>
        </p:spPr>
        <p:txBody>
          <a:bodyPr anchor="t" rtlCol="false" tIns="0" lIns="0" bIns="0" rIns="0">
            <a:spAutoFit/>
          </a:bodyPr>
          <a:lstStyle/>
          <a:p>
            <a:pPr algn="l">
              <a:lnSpc>
                <a:spcPts val="1036"/>
              </a:lnSpc>
            </a:pPr>
            <a:r>
              <a:rPr lang="en-US" sz="900">
                <a:solidFill>
                  <a:srgbClr val="4C4C4D"/>
                </a:solidFill>
                <a:latin typeface="Heebo"/>
                <a:ea typeface="Heebo"/>
                <a:cs typeface="Heebo"/>
                <a:sym typeface="Heebo"/>
              </a:rPr>
              <a:t>SOFTWARE DEVELOPER</a:t>
            </a:r>
          </a:p>
        </p:txBody>
      </p:sp>
      <p:sp>
        <p:nvSpPr>
          <p:cNvPr name="Freeform 10" id="10" descr="preencoded.png"/>
          <p:cNvSpPr/>
          <p:nvPr/>
        </p:nvSpPr>
        <p:spPr>
          <a:xfrm flipH="false" flipV="false" rot="0">
            <a:off x="1080049" y="1982391"/>
            <a:ext cx="7875832" cy="859336"/>
          </a:xfrm>
          <a:custGeom>
            <a:avLst/>
            <a:gdLst/>
            <a:ahLst/>
            <a:cxnLst/>
            <a:rect r="r" b="b" t="t" l="l"/>
            <a:pathLst>
              <a:path h="859336" w="7875832">
                <a:moveTo>
                  <a:pt x="0" y="0"/>
                </a:moveTo>
                <a:lnTo>
                  <a:pt x="7875832" y="0"/>
                </a:lnTo>
                <a:lnTo>
                  <a:pt x="7875832" y="859336"/>
                </a:lnTo>
                <a:lnTo>
                  <a:pt x="0" y="859336"/>
                </a:lnTo>
                <a:lnTo>
                  <a:pt x="0" y="0"/>
                </a:lnTo>
                <a:close/>
              </a:path>
            </a:pathLst>
          </a:custGeom>
          <a:blipFill>
            <a:blip r:embed="rId3">
              <a:extLst>
                <a:ext uri="{96DAC541-7B7A-43D3-8B79-37D633B846F1}">
                  <asvg:svgBlip xmlns:asvg="http://schemas.microsoft.com/office/drawing/2016/SVG/main" r:embed="rId4"/>
                </a:ext>
              </a:extLst>
            </a:blip>
            <a:stretch>
              <a:fillRect l="0" t="-424" r="0" b="-424"/>
            </a:stretch>
          </a:blipFill>
        </p:spPr>
      </p:sp>
      <p:sp>
        <p:nvSpPr>
          <p:cNvPr name="TextBox 11" id="11"/>
          <p:cNvSpPr txBox="true"/>
          <p:nvPr/>
        </p:nvSpPr>
        <p:spPr>
          <a:xfrm rot="0">
            <a:off x="1329480" y="2146097"/>
            <a:ext cx="7453160" cy="250631"/>
          </a:xfrm>
          <a:prstGeom prst="rect">
            <a:avLst/>
          </a:prstGeom>
        </p:spPr>
        <p:txBody>
          <a:bodyPr anchor="t" rtlCol="false" tIns="0" lIns="0" bIns="0" rIns="0">
            <a:spAutoFit/>
          </a:bodyPr>
          <a:lstStyle/>
          <a:p>
            <a:pPr algn="l">
              <a:lnSpc>
                <a:spcPts val="1872"/>
              </a:lnSpc>
            </a:pPr>
            <a:r>
              <a:rPr lang="en-US" sz="1500">
                <a:solidFill>
                  <a:srgbClr val="4C4C4D"/>
                </a:solidFill>
                <a:latin typeface="Crimson Pro"/>
                <a:ea typeface="Crimson Pro"/>
                <a:cs typeface="Crimson Pro"/>
                <a:sym typeface="Crimson Pro"/>
              </a:rPr>
              <a:t>Employment Type</a:t>
            </a:r>
          </a:p>
        </p:txBody>
      </p:sp>
      <p:sp>
        <p:nvSpPr>
          <p:cNvPr name="TextBox 12" id="12"/>
          <p:cNvSpPr txBox="true"/>
          <p:nvPr/>
        </p:nvSpPr>
        <p:spPr>
          <a:xfrm rot="0">
            <a:off x="1329480" y="2445248"/>
            <a:ext cx="7453160" cy="223247"/>
          </a:xfrm>
          <a:prstGeom prst="rect">
            <a:avLst/>
          </a:prstGeom>
        </p:spPr>
        <p:txBody>
          <a:bodyPr anchor="t" rtlCol="false" tIns="0" lIns="0" bIns="0" rIns="0">
            <a:spAutoFit/>
          </a:bodyPr>
          <a:lstStyle/>
          <a:p>
            <a:pPr algn="l">
              <a:lnSpc>
                <a:spcPts val="1439"/>
              </a:lnSpc>
            </a:pPr>
            <a:r>
              <a:rPr lang="en-US" sz="1200">
                <a:solidFill>
                  <a:srgbClr val="4C4C4D"/>
                </a:solidFill>
                <a:latin typeface="Consolas"/>
                <a:ea typeface="Consolas"/>
                <a:cs typeface="Consolas"/>
                <a:sym typeface="Consolas"/>
              </a:rPr>
              <a:t>Full-Time  |  [City, Country]</a:t>
            </a:r>
          </a:p>
        </p:txBody>
      </p:sp>
      <p:sp>
        <p:nvSpPr>
          <p:cNvPr name="TextBox 13" id="13"/>
          <p:cNvSpPr txBox="true"/>
          <p:nvPr/>
        </p:nvSpPr>
        <p:spPr>
          <a:xfrm rot="0">
            <a:off x="1080049" y="2918965"/>
            <a:ext cx="7875832" cy="250631"/>
          </a:xfrm>
          <a:prstGeom prst="rect">
            <a:avLst/>
          </a:prstGeom>
        </p:spPr>
        <p:txBody>
          <a:bodyPr anchor="t" rtlCol="false" tIns="0" lIns="0" bIns="0" rIns="0">
            <a:spAutoFit/>
          </a:bodyPr>
          <a:lstStyle/>
          <a:p>
            <a:pPr algn="l">
              <a:lnSpc>
                <a:spcPts val="1872"/>
              </a:lnSpc>
            </a:pPr>
            <a:r>
              <a:rPr lang="en-US" sz="1500">
                <a:solidFill>
                  <a:srgbClr val="152D47"/>
                </a:solidFill>
                <a:latin typeface="Crimson Pro"/>
                <a:ea typeface="Crimson Pro"/>
                <a:cs typeface="Crimson Pro"/>
                <a:sym typeface="Crimson Pro"/>
              </a:rPr>
              <a:t>About the Role</a:t>
            </a:r>
          </a:p>
        </p:txBody>
      </p:sp>
      <p:sp>
        <p:nvSpPr>
          <p:cNvPr name="TextBox 14" id="14"/>
          <p:cNvSpPr txBox="true"/>
          <p:nvPr/>
        </p:nvSpPr>
        <p:spPr>
          <a:xfrm rot="0">
            <a:off x="1080049" y="3246682"/>
            <a:ext cx="7875832" cy="555422"/>
          </a:xfrm>
          <a:prstGeom prst="rect">
            <a:avLst/>
          </a:prstGeom>
        </p:spPr>
        <p:txBody>
          <a:bodyPr anchor="t" rtlCol="false" tIns="0" lIns="0" bIns="0" rIns="0">
            <a:spAutoFit/>
          </a:bodyPr>
          <a:lstStyle/>
          <a:p>
            <a:pPr algn="l">
              <a:lnSpc>
                <a:spcPts val="1439"/>
              </a:lnSpc>
            </a:pPr>
            <a:r>
              <a:rPr lang="en-US" sz="1200">
                <a:solidFill>
                  <a:srgbClr val="4C4C4D"/>
                </a:solidFill>
                <a:latin typeface="Heebo"/>
                <a:ea typeface="Heebo"/>
                <a:cs typeface="Heebo"/>
                <a:sym typeface="Heebo"/>
              </a:rPr>
              <a:t>We are looking for a Software Developer to join our development team. You will design, develop, and maintain software applications that serve our customers, working with modern technologies alongside a talented engineering team.</a:t>
            </a:r>
          </a:p>
        </p:txBody>
      </p:sp>
      <p:sp>
        <p:nvSpPr>
          <p:cNvPr name="TextBox 15" id="15"/>
          <p:cNvSpPr txBox="true"/>
          <p:nvPr/>
        </p:nvSpPr>
        <p:spPr>
          <a:xfrm rot="0">
            <a:off x="1080049" y="3869684"/>
            <a:ext cx="7875832" cy="250631"/>
          </a:xfrm>
          <a:prstGeom prst="rect">
            <a:avLst/>
          </a:prstGeom>
        </p:spPr>
        <p:txBody>
          <a:bodyPr anchor="t" rtlCol="false" tIns="0" lIns="0" bIns="0" rIns="0">
            <a:spAutoFit/>
          </a:bodyPr>
          <a:lstStyle/>
          <a:p>
            <a:pPr algn="l">
              <a:lnSpc>
                <a:spcPts val="1872"/>
              </a:lnSpc>
            </a:pPr>
            <a:r>
              <a:rPr lang="en-US" sz="1500">
                <a:solidFill>
                  <a:srgbClr val="152D47"/>
                </a:solidFill>
                <a:latin typeface="Crimson Pro"/>
                <a:ea typeface="Crimson Pro"/>
                <a:cs typeface="Crimson Pro"/>
                <a:sym typeface="Crimson Pro"/>
              </a:rPr>
              <a:t>Key Responsibilities</a:t>
            </a:r>
          </a:p>
        </p:txBody>
      </p:sp>
      <p:sp>
        <p:nvSpPr>
          <p:cNvPr name="TextBox 16" id="16"/>
          <p:cNvSpPr txBox="true"/>
          <p:nvPr/>
        </p:nvSpPr>
        <p:spPr>
          <a:xfrm rot="0">
            <a:off x="1080049" y="4197401"/>
            <a:ext cx="7875832" cy="1255071"/>
          </a:xfrm>
          <a:prstGeom prst="rect">
            <a:avLst/>
          </a:prstGeom>
        </p:spPr>
        <p:txBody>
          <a:bodyPr anchor="t" rtlCol="false" tIns="0" lIns="0" bIns="0" rIns="0">
            <a:spAutoFit/>
          </a:bodyPr>
          <a:lstStyle/>
          <a:p>
            <a:pPr algn="l" marL="289560" indent="-144780" lvl="1">
              <a:lnSpc>
                <a:spcPts val="1439"/>
              </a:lnSpc>
              <a:buFont typeface="Arial"/>
              <a:buChar char="•"/>
            </a:pPr>
            <a:r>
              <a:rPr lang="en-US" sz="1200">
                <a:solidFill>
                  <a:srgbClr val="4C4C4D"/>
                </a:solidFill>
                <a:latin typeface="Heebo"/>
                <a:ea typeface="Heebo"/>
                <a:cs typeface="Heebo"/>
                <a:sym typeface="Heebo"/>
              </a:rPr>
              <a:t>Design and develop software applications using [relevant programming languages]</a:t>
            </a:r>
          </a:p>
          <a:p>
            <a:pPr algn="l" marL="289560" indent="-144780" lvl="1">
              <a:lnSpc>
                <a:spcPts val="1439"/>
              </a:lnSpc>
              <a:buFont typeface="Arial"/>
              <a:buChar char="•"/>
            </a:pPr>
            <a:r>
              <a:rPr lang="en-US" sz="1200">
                <a:solidFill>
                  <a:srgbClr val="4C4C4D"/>
                </a:solidFill>
                <a:latin typeface="Heebo"/>
                <a:ea typeface="Heebo"/>
                <a:cs typeface="Heebo"/>
                <a:sym typeface="Heebo"/>
              </a:rPr>
              <a:t>Write clean, maintainable code and participate in code reviews</a:t>
            </a:r>
          </a:p>
          <a:p>
            <a:pPr algn="l" marL="289560" indent="-144780" lvl="1">
              <a:lnSpc>
                <a:spcPts val="1439"/>
              </a:lnSpc>
              <a:buFont typeface="Arial"/>
              <a:buChar char="•"/>
            </a:pPr>
            <a:r>
              <a:rPr lang="en-US" sz="1200">
                <a:solidFill>
                  <a:srgbClr val="4C4C4D"/>
                </a:solidFill>
                <a:latin typeface="Heebo"/>
                <a:ea typeface="Heebo"/>
                <a:cs typeface="Heebo"/>
                <a:sym typeface="Heebo"/>
              </a:rPr>
              <a:t>Debug and troubleshoot software issues</a:t>
            </a:r>
          </a:p>
          <a:p>
            <a:pPr algn="l" marL="289560" indent="-144780" lvl="1">
              <a:lnSpc>
                <a:spcPts val="1439"/>
              </a:lnSpc>
              <a:buFont typeface="Arial"/>
              <a:buChar char="•"/>
            </a:pPr>
            <a:r>
              <a:rPr lang="en-US" sz="1200">
                <a:solidFill>
                  <a:srgbClr val="4C4C4D"/>
                </a:solidFill>
                <a:latin typeface="Heebo"/>
                <a:ea typeface="Heebo"/>
                <a:cs typeface="Heebo"/>
                <a:sym typeface="Heebo"/>
              </a:rPr>
              <a:t>Collaborate with product managers and designers on requirements</a:t>
            </a:r>
          </a:p>
          <a:p>
            <a:pPr algn="l" marL="289560" indent="-144780" lvl="1">
              <a:lnSpc>
                <a:spcPts val="1439"/>
              </a:lnSpc>
              <a:buFont typeface="Arial"/>
              <a:buChar char="•"/>
            </a:pPr>
            <a:r>
              <a:rPr lang="en-US" sz="1200">
                <a:solidFill>
                  <a:srgbClr val="4C4C4D"/>
                </a:solidFill>
                <a:latin typeface="Heebo"/>
                <a:ea typeface="Heebo"/>
                <a:cs typeface="Heebo"/>
                <a:sym typeface="Heebo"/>
              </a:rPr>
              <a:t>Participate in testing and quality assurance processes</a:t>
            </a:r>
          </a:p>
          <a:p>
            <a:pPr algn="l" marL="289560" indent="-144780" lvl="1">
              <a:lnSpc>
                <a:spcPts val="1439"/>
              </a:lnSpc>
              <a:buFont typeface="Arial"/>
              <a:buChar char="•"/>
            </a:pPr>
            <a:r>
              <a:rPr lang="en-US" sz="1200">
                <a:solidFill>
                  <a:srgbClr val="4C4C4D"/>
                </a:solidFill>
                <a:latin typeface="Heebo"/>
                <a:ea typeface="Heebo"/>
                <a:cs typeface="Heebo"/>
                <a:sym typeface="Heebo"/>
              </a:rPr>
              <a:t>Document code and technical specifications</a:t>
            </a:r>
          </a:p>
        </p:txBody>
      </p:sp>
      <p:sp>
        <p:nvSpPr>
          <p:cNvPr name="TextBox 17" id="17"/>
          <p:cNvSpPr txBox="true"/>
          <p:nvPr/>
        </p:nvSpPr>
        <p:spPr>
          <a:xfrm rot="0">
            <a:off x="1080049" y="5520033"/>
            <a:ext cx="7875832" cy="250631"/>
          </a:xfrm>
          <a:prstGeom prst="rect">
            <a:avLst/>
          </a:prstGeom>
        </p:spPr>
        <p:txBody>
          <a:bodyPr anchor="t" rtlCol="false" tIns="0" lIns="0" bIns="0" rIns="0">
            <a:spAutoFit/>
          </a:bodyPr>
          <a:lstStyle/>
          <a:p>
            <a:pPr algn="l">
              <a:lnSpc>
                <a:spcPts val="1872"/>
              </a:lnSpc>
            </a:pPr>
            <a:r>
              <a:rPr lang="en-US" sz="1500">
                <a:solidFill>
                  <a:srgbClr val="152D47"/>
                </a:solidFill>
                <a:latin typeface="Crimson Pro"/>
                <a:ea typeface="Crimson Pro"/>
                <a:cs typeface="Crimson Pro"/>
                <a:sym typeface="Crimson Pro"/>
              </a:rPr>
              <a:t>Required Qualifications &amp; Skills</a:t>
            </a:r>
          </a:p>
        </p:txBody>
      </p:sp>
      <p:sp>
        <p:nvSpPr>
          <p:cNvPr name="TextBox 18" id="18"/>
          <p:cNvSpPr txBox="true"/>
          <p:nvPr/>
        </p:nvSpPr>
        <p:spPr>
          <a:xfrm rot="0">
            <a:off x="1080049" y="5847750"/>
            <a:ext cx="7875832" cy="849954"/>
          </a:xfrm>
          <a:prstGeom prst="rect">
            <a:avLst/>
          </a:prstGeom>
        </p:spPr>
        <p:txBody>
          <a:bodyPr anchor="t" rtlCol="false" tIns="0" lIns="0" bIns="0" rIns="0">
            <a:spAutoFit/>
          </a:bodyPr>
          <a:lstStyle/>
          <a:p>
            <a:pPr algn="l" marL="289560" indent="-144780" lvl="1">
              <a:lnSpc>
                <a:spcPts val="1439"/>
              </a:lnSpc>
              <a:buFont typeface="Arial"/>
              <a:buChar char="•"/>
            </a:pPr>
            <a:r>
              <a:rPr lang="en-US" sz="1200">
                <a:solidFill>
                  <a:srgbClr val="4C4C4D"/>
                </a:solidFill>
                <a:latin typeface="Heebo"/>
                <a:ea typeface="Heebo"/>
                <a:cs typeface="Heebo"/>
                <a:sym typeface="Heebo"/>
              </a:rPr>
              <a:t>Bachelor's degree in Computer Science or equivalent professional experience</a:t>
            </a:r>
          </a:p>
          <a:p>
            <a:pPr algn="l" marL="289560" indent="-144780" lvl="1">
              <a:lnSpc>
                <a:spcPts val="1439"/>
              </a:lnSpc>
              <a:buFont typeface="Arial"/>
              <a:buChar char="•"/>
            </a:pPr>
            <a:r>
              <a:rPr lang="en-US" sz="1200">
                <a:solidFill>
                  <a:srgbClr val="4C4C4D"/>
                </a:solidFill>
                <a:latin typeface="Heebo"/>
                <a:ea typeface="Heebo"/>
                <a:cs typeface="Heebo"/>
                <a:sym typeface="Heebo"/>
              </a:rPr>
              <a:t>[X] years of professional software development experience</a:t>
            </a:r>
          </a:p>
          <a:p>
            <a:pPr algn="l" marL="289560" indent="-144780" lvl="1">
              <a:lnSpc>
                <a:spcPts val="1439"/>
              </a:lnSpc>
              <a:buFont typeface="Arial"/>
              <a:buChar char="•"/>
            </a:pPr>
            <a:r>
              <a:rPr lang="en-US" sz="1200">
                <a:solidFill>
                  <a:srgbClr val="4C4C4D"/>
                </a:solidFill>
                <a:latin typeface="Heebo"/>
                <a:ea typeface="Heebo"/>
                <a:cs typeface="Heebo"/>
                <a:sym typeface="Heebo"/>
              </a:rPr>
              <a:t>Proficiency in [programming language(s)] and version control (Git)</a:t>
            </a:r>
          </a:p>
          <a:p>
            <a:pPr algn="l" marL="289560" indent="-144780" lvl="1">
              <a:lnSpc>
                <a:spcPts val="1439"/>
              </a:lnSpc>
              <a:buFont typeface="Arial"/>
              <a:buChar char="•"/>
            </a:pPr>
            <a:r>
              <a:rPr lang="en-US" sz="1200">
                <a:solidFill>
                  <a:srgbClr val="4C4C4D"/>
                </a:solidFill>
                <a:latin typeface="Heebo"/>
                <a:ea typeface="Heebo"/>
                <a:cs typeface="Heebo"/>
                <a:sym typeface="Heebo"/>
              </a:rPr>
              <a:t>Experience with [relevant frameworks or tools] and SQL/database design</a:t>
            </a:r>
          </a:p>
        </p:txBody>
      </p:sp>
      <p:sp>
        <p:nvSpPr>
          <p:cNvPr name="TextBox 19" id="19"/>
          <p:cNvSpPr txBox="true"/>
          <p:nvPr/>
        </p:nvSpPr>
        <p:spPr>
          <a:xfrm rot="0">
            <a:off x="1080049" y="6765284"/>
            <a:ext cx="7875832" cy="250631"/>
          </a:xfrm>
          <a:prstGeom prst="rect">
            <a:avLst/>
          </a:prstGeom>
        </p:spPr>
        <p:txBody>
          <a:bodyPr anchor="t" rtlCol="false" tIns="0" lIns="0" bIns="0" rIns="0">
            <a:spAutoFit/>
          </a:bodyPr>
          <a:lstStyle/>
          <a:p>
            <a:pPr algn="l">
              <a:lnSpc>
                <a:spcPts val="1872"/>
              </a:lnSpc>
            </a:pPr>
            <a:r>
              <a:rPr lang="en-US" sz="1500">
                <a:solidFill>
                  <a:srgbClr val="152D47"/>
                </a:solidFill>
                <a:latin typeface="Crimson Pro"/>
                <a:ea typeface="Crimson Pro"/>
                <a:cs typeface="Crimson Pro"/>
                <a:sym typeface="Crimson Pro"/>
              </a:rPr>
              <a:t>Preferred Skills</a:t>
            </a:r>
          </a:p>
        </p:txBody>
      </p:sp>
      <p:sp>
        <p:nvSpPr>
          <p:cNvPr name="TextBox 20" id="20"/>
          <p:cNvSpPr txBox="true"/>
          <p:nvPr/>
        </p:nvSpPr>
        <p:spPr>
          <a:xfrm rot="0">
            <a:off x="1080049" y="7093001"/>
            <a:ext cx="7875832" cy="618830"/>
          </a:xfrm>
          <a:prstGeom prst="rect">
            <a:avLst/>
          </a:prstGeom>
        </p:spPr>
        <p:txBody>
          <a:bodyPr anchor="t" rtlCol="false" tIns="0" lIns="0" bIns="0" rIns="0">
            <a:spAutoFit/>
          </a:bodyPr>
          <a:lstStyle/>
          <a:p>
            <a:pPr algn="l" marL="289560" indent="-144780" lvl="1">
              <a:lnSpc>
                <a:spcPts val="1439"/>
              </a:lnSpc>
              <a:buFont typeface="Arial"/>
              <a:buChar char="•"/>
            </a:pPr>
            <a:r>
              <a:rPr lang="en-US" sz="1200">
                <a:solidFill>
                  <a:srgbClr val="4C4C4D"/>
                </a:solidFill>
                <a:latin typeface="Heebo"/>
                <a:ea typeface="Heebo"/>
                <a:cs typeface="Heebo"/>
                <a:sym typeface="Heebo"/>
              </a:rPr>
              <a:t>Cloud platforms (AWS, Azure, GCP)</a:t>
            </a:r>
          </a:p>
          <a:p>
            <a:pPr algn="l" marL="289560" indent="-144780" lvl="1">
              <a:lnSpc>
                <a:spcPts val="1439"/>
              </a:lnSpc>
              <a:buFont typeface="Arial"/>
              <a:buChar char="•"/>
            </a:pPr>
            <a:r>
              <a:rPr lang="en-US" sz="1200">
                <a:solidFill>
                  <a:srgbClr val="4C4C4D"/>
                </a:solidFill>
                <a:latin typeface="Heebo"/>
                <a:ea typeface="Heebo"/>
                <a:cs typeface="Heebo"/>
                <a:sym typeface="Heebo"/>
              </a:rPr>
              <a:t>Agile development methodologies</a:t>
            </a:r>
          </a:p>
          <a:p>
            <a:pPr algn="l" marL="289560" indent="-144780" lvl="1">
              <a:lnSpc>
                <a:spcPts val="1439"/>
              </a:lnSpc>
              <a:buFont typeface="Arial"/>
              <a:buChar char="•"/>
            </a:pPr>
            <a:r>
              <a:rPr lang="en-US" sz="1200">
                <a:solidFill>
                  <a:srgbClr val="4C4C4D"/>
                </a:solidFill>
                <a:latin typeface="Consolas"/>
                <a:ea typeface="Consolas"/>
                <a:cs typeface="Consolas"/>
                <a:sym typeface="Consolas"/>
              </a:rPr>
              <a:t>Experience with [specific technology or framework]</a:t>
            </a:r>
          </a:p>
        </p:txBody>
      </p:sp>
      <p:sp>
        <p:nvSpPr>
          <p:cNvPr name="TextBox 21" id="21"/>
          <p:cNvSpPr txBox="true"/>
          <p:nvPr/>
        </p:nvSpPr>
        <p:spPr>
          <a:xfrm rot="0">
            <a:off x="1080049" y="7779391"/>
            <a:ext cx="7875832" cy="250631"/>
          </a:xfrm>
          <a:prstGeom prst="rect">
            <a:avLst/>
          </a:prstGeom>
        </p:spPr>
        <p:txBody>
          <a:bodyPr anchor="t" rtlCol="false" tIns="0" lIns="0" bIns="0" rIns="0">
            <a:spAutoFit/>
          </a:bodyPr>
          <a:lstStyle/>
          <a:p>
            <a:pPr algn="l">
              <a:lnSpc>
                <a:spcPts val="1872"/>
              </a:lnSpc>
            </a:pPr>
            <a:r>
              <a:rPr lang="en-US" sz="1500">
                <a:solidFill>
                  <a:srgbClr val="152D47"/>
                </a:solidFill>
                <a:latin typeface="Crimson Pro"/>
                <a:ea typeface="Crimson Pro"/>
                <a:cs typeface="Crimson Pro"/>
                <a:sym typeface="Crimson Pro"/>
              </a:rPr>
              <a:t>Application</a:t>
            </a:r>
          </a:p>
        </p:txBody>
      </p:sp>
      <p:sp>
        <p:nvSpPr>
          <p:cNvPr name="TextBox 22" id="22"/>
          <p:cNvSpPr txBox="true"/>
          <p:nvPr/>
        </p:nvSpPr>
        <p:spPr>
          <a:xfrm rot="0">
            <a:off x="1080049" y="8107118"/>
            <a:ext cx="8790232" cy="194672"/>
          </a:xfrm>
          <a:prstGeom prst="rect">
            <a:avLst/>
          </a:prstGeom>
        </p:spPr>
        <p:txBody>
          <a:bodyPr anchor="t" rtlCol="false" tIns="0" lIns="0" bIns="0" rIns="0">
            <a:spAutoFit/>
          </a:bodyPr>
          <a:lstStyle/>
          <a:p>
            <a:pPr algn="l">
              <a:lnSpc>
                <a:spcPts val="1439"/>
              </a:lnSpc>
            </a:pPr>
            <a:r>
              <a:rPr lang="en-US" sz="1200">
                <a:solidFill>
                  <a:srgbClr val="4C4C4D"/>
                </a:solidFill>
                <a:latin typeface="Heebo"/>
                <a:ea typeface="Heebo"/>
                <a:cs typeface="Heebo"/>
                <a:sym typeface="Heebo"/>
              </a:rPr>
              <a:t>Send resume and portfolio to [email] or apply via [link]</a:t>
            </a:r>
          </a:p>
        </p:txBody>
      </p:sp>
      <p:grpSp>
        <p:nvGrpSpPr>
          <p:cNvPr name="Group 23" id="23"/>
          <p:cNvGrpSpPr/>
          <p:nvPr/>
        </p:nvGrpSpPr>
        <p:grpSpPr>
          <a:xfrm rot="0">
            <a:off x="9336881" y="1656455"/>
            <a:ext cx="2795445" cy="243926"/>
            <a:chOff x="0" y="0"/>
            <a:chExt cx="3727260" cy="325234"/>
          </a:xfrm>
        </p:grpSpPr>
        <p:sp>
          <p:nvSpPr>
            <p:cNvPr name="Freeform 24" id="24"/>
            <p:cNvSpPr/>
            <p:nvPr/>
          </p:nvSpPr>
          <p:spPr>
            <a:xfrm flipH="false" flipV="false" rot="0">
              <a:off x="0" y="0"/>
              <a:ext cx="3727196" cy="325247"/>
            </a:xfrm>
            <a:custGeom>
              <a:avLst/>
              <a:gdLst/>
              <a:ahLst/>
              <a:cxnLst/>
              <a:rect r="r" b="b" t="t" l="l"/>
              <a:pathLst>
                <a:path h="325247" w="3727196">
                  <a:moveTo>
                    <a:pt x="0" y="25654"/>
                  </a:moveTo>
                  <a:cubicBezTo>
                    <a:pt x="0" y="11557"/>
                    <a:pt x="11557" y="0"/>
                    <a:pt x="25654" y="0"/>
                  </a:cubicBezTo>
                  <a:lnTo>
                    <a:pt x="3701542" y="0"/>
                  </a:lnTo>
                  <a:cubicBezTo>
                    <a:pt x="3715766" y="0"/>
                    <a:pt x="3727196" y="11557"/>
                    <a:pt x="3727196" y="25654"/>
                  </a:cubicBezTo>
                  <a:lnTo>
                    <a:pt x="3727196" y="299593"/>
                  </a:lnTo>
                  <a:cubicBezTo>
                    <a:pt x="3727196" y="313817"/>
                    <a:pt x="3715639" y="325247"/>
                    <a:pt x="3701542" y="325247"/>
                  </a:cubicBezTo>
                  <a:lnTo>
                    <a:pt x="25654" y="325247"/>
                  </a:lnTo>
                  <a:cubicBezTo>
                    <a:pt x="11557" y="325247"/>
                    <a:pt x="0" y="313690"/>
                    <a:pt x="0" y="299593"/>
                  </a:cubicBezTo>
                  <a:close/>
                </a:path>
              </a:pathLst>
            </a:custGeom>
            <a:blipFill>
              <a:blip r:embed="rId5">
                <a:alphaModFix amt="0"/>
              </a:blip>
              <a:stretch>
                <a:fillRect l="0" t="-173296" r="-1" b="-173292"/>
              </a:stretch>
            </a:blipFill>
            <a:ln w="9526" cap="sq">
              <a:solidFill>
                <a:srgbClr val="2150FE"/>
              </a:solidFill>
              <a:prstDash val="solid"/>
              <a:miter/>
            </a:ln>
          </p:spPr>
        </p:sp>
      </p:grpSp>
      <p:sp>
        <p:nvSpPr>
          <p:cNvPr name="TextBox 25" id="25"/>
          <p:cNvSpPr txBox="true"/>
          <p:nvPr/>
        </p:nvSpPr>
        <p:spPr>
          <a:xfrm rot="0">
            <a:off x="9434217" y="1707509"/>
            <a:ext cx="3515173" cy="141837"/>
          </a:xfrm>
          <a:prstGeom prst="rect">
            <a:avLst/>
          </a:prstGeom>
        </p:spPr>
        <p:txBody>
          <a:bodyPr anchor="t" rtlCol="false" tIns="0" lIns="0" bIns="0" rIns="0">
            <a:spAutoFit/>
          </a:bodyPr>
          <a:lstStyle/>
          <a:p>
            <a:pPr algn="l">
              <a:lnSpc>
                <a:spcPts val="1036"/>
              </a:lnSpc>
            </a:pPr>
            <a:r>
              <a:rPr lang="en-US" sz="900">
                <a:solidFill>
                  <a:srgbClr val="2150FE"/>
                </a:solidFill>
                <a:latin typeface="Heebo"/>
                <a:ea typeface="Heebo"/>
                <a:cs typeface="Heebo"/>
                <a:sym typeface="Heebo"/>
              </a:rPr>
              <a:t>SALES / BUSINESS DEVELOPMENT EXECUTIVE</a:t>
            </a:r>
          </a:p>
        </p:txBody>
      </p:sp>
      <p:sp>
        <p:nvSpPr>
          <p:cNvPr name="Freeform 26" id="26" descr="preencoded.png"/>
          <p:cNvSpPr/>
          <p:nvPr/>
        </p:nvSpPr>
        <p:spPr>
          <a:xfrm flipH="false" flipV="false" rot="0">
            <a:off x="9341644" y="1982391"/>
            <a:ext cx="7875832" cy="859336"/>
          </a:xfrm>
          <a:custGeom>
            <a:avLst/>
            <a:gdLst/>
            <a:ahLst/>
            <a:cxnLst/>
            <a:rect r="r" b="b" t="t" l="l"/>
            <a:pathLst>
              <a:path h="859336" w="7875832">
                <a:moveTo>
                  <a:pt x="0" y="0"/>
                </a:moveTo>
                <a:lnTo>
                  <a:pt x="7875832" y="0"/>
                </a:lnTo>
                <a:lnTo>
                  <a:pt x="7875832" y="859336"/>
                </a:lnTo>
                <a:lnTo>
                  <a:pt x="0" y="859336"/>
                </a:lnTo>
                <a:lnTo>
                  <a:pt x="0" y="0"/>
                </a:lnTo>
                <a:close/>
              </a:path>
            </a:pathLst>
          </a:custGeom>
          <a:blipFill>
            <a:blip r:embed="rId3">
              <a:extLst>
                <a:ext uri="{96DAC541-7B7A-43D3-8B79-37D633B846F1}">
                  <asvg:svgBlip xmlns:asvg="http://schemas.microsoft.com/office/drawing/2016/SVG/main" r:embed="rId4"/>
                </a:ext>
              </a:extLst>
            </a:blip>
            <a:stretch>
              <a:fillRect l="0" t="-424" r="0" b="-424"/>
            </a:stretch>
          </a:blipFill>
        </p:spPr>
      </p:sp>
      <p:sp>
        <p:nvSpPr>
          <p:cNvPr name="TextBox 27" id="27"/>
          <p:cNvSpPr txBox="true"/>
          <p:nvPr/>
        </p:nvSpPr>
        <p:spPr>
          <a:xfrm rot="0">
            <a:off x="9591084" y="2146097"/>
            <a:ext cx="7453160" cy="250631"/>
          </a:xfrm>
          <a:prstGeom prst="rect">
            <a:avLst/>
          </a:prstGeom>
        </p:spPr>
        <p:txBody>
          <a:bodyPr anchor="t" rtlCol="false" tIns="0" lIns="0" bIns="0" rIns="0">
            <a:spAutoFit/>
          </a:bodyPr>
          <a:lstStyle/>
          <a:p>
            <a:pPr algn="l">
              <a:lnSpc>
                <a:spcPts val="1872"/>
              </a:lnSpc>
            </a:pPr>
            <a:r>
              <a:rPr lang="en-US" sz="1500">
                <a:solidFill>
                  <a:srgbClr val="4C4C4D"/>
                </a:solidFill>
                <a:latin typeface="Crimson Pro"/>
                <a:ea typeface="Crimson Pro"/>
                <a:cs typeface="Crimson Pro"/>
                <a:sym typeface="Crimson Pro"/>
              </a:rPr>
              <a:t>Employment Type</a:t>
            </a:r>
          </a:p>
        </p:txBody>
      </p:sp>
      <p:sp>
        <p:nvSpPr>
          <p:cNvPr name="TextBox 28" id="28"/>
          <p:cNvSpPr txBox="true"/>
          <p:nvPr/>
        </p:nvSpPr>
        <p:spPr>
          <a:xfrm rot="0">
            <a:off x="9591084" y="2445248"/>
            <a:ext cx="7453160" cy="223247"/>
          </a:xfrm>
          <a:prstGeom prst="rect">
            <a:avLst/>
          </a:prstGeom>
        </p:spPr>
        <p:txBody>
          <a:bodyPr anchor="t" rtlCol="false" tIns="0" lIns="0" bIns="0" rIns="0">
            <a:spAutoFit/>
          </a:bodyPr>
          <a:lstStyle/>
          <a:p>
            <a:pPr algn="l">
              <a:lnSpc>
                <a:spcPts val="1439"/>
              </a:lnSpc>
            </a:pPr>
            <a:r>
              <a:rPr lang="en-US" sz="1200">
                <a:solidFill>
                  <a:srgbClr val="4C4C4D"/>
                </a:solidFill>
                <a:latin typeface="Consolas"/>
                <a:ea typeface="Consolas"/>
                <a:cs typeface="Consolas"/>
                <a:sym typeface="Consolas"/>
              </a:rPr>
              <a:t>Full-Time  |  [City, Country]</a:t>
            </a:r>
          </a:p>
        </p:txBody>
      </p:sp>
      <p:sp>
        <p:nvSpPr>
          <p:cNvPr name="TextBox 29" id="29"/>
          <p:cNvSpPr txBox="true"/>
          <p:nvPr/>
        </p:nvSpPr>
        <p:spPr>
          <a:xfrm rot="0">
            <a:off x="9341644" y="2918965"/>
            <a:ext cx="7875832" cy="250631"/>
          </a:xfrm>
          <a:prstGeom prst="rect">
            <a:avLst/>
          </a:prstGeom>
        </p:spPr>
        <p:txBody>
          <a:bodyPr anchor="t" rtlCol="false" tIns="0" lIns="0" bIns="0" rIns="0">
            <a:spAutoFit/>
          </a:bodyPr>
          <a:lstStyle/>
          <a:p>
            <a:pPr algn="l">
              <a:lnSpc>
                <a:spcPts val="1872"/>
              </a:lnSpc>
            </a:pPr>
            <a:r>
              <a:rPr lang="en-US" sz="1500">
                <a:solidFill>
                  <a:srgbClr val="152D47"/>
                </a:solidFill>
                <a:latin typeface="Crimson Pro"/>
                <a:ea typeface="Crimson Pro"/>
                <a:cs typeface="Crimson Pro"/>
                <a:sym typeface="Crimson Pro"/>
              </a:rPr>
              <a:t>About the Role</a:t>
            </a:r>
          </a:p>
        </p:txBody>
      </p:sp>
      <p:sp>
        <p:nvSpPr>
          <p:cNvPr name="TextBox 30" id="30"/>
          <p:cNvSpPr txBox="true"/>
          <p:nvPr/>
        </p:nvSpPr>
        <p:spPr>
          <a:xfrm rot="0">
            <a:off x="9341644" y="3246682"/>
            <a:ext cx="7875832" cy="370284"/>
          </a:xfrm>
          <a:prstGeom prst="rect">
            <a:avLst/>
          </a:prstGeom>
        </p:spPr>
        <p:txBody>
          <a:bodyPr anchor="t" rtlCol="false" tIns="0" lIns="0" bIns="0" rIns="0">
            <a:spAutoFit/>
          </a:bodyPr>
          <a:lstStyle/>
          <a:p>
            <a:pPr algn="l">
              <a:lnSpc>
                <a:spcPts val="1439"/>
              </a:lnSpc>
            </a:pPr>
            <a:r>
              <a:rPr lang="en-US" sz="1200">
                <a:solidFill>
                  <a:srgbClr val="4C4C4D"/>
                </a:solidFill>
                <a:latin typeface="Heebo"/>
                <a:ea typeface="Heebo"/>
                <a:cs typeface="Heebo"/>
                <a:sym typeface="Heebo"/>
              </a:rPr>
              <a:t>We are seeking a Sales / Business Development Executive to identify new business opportunities, build client relationships, and drive revenue growth through strategic sales and deal-closing.</a:t>
            </a:r>
          </a:p>
        </p:txBody>
      </p:sp>
      <p:sp>
        <p:nvSpPr>
          <p:cNvPr name="TextBox 31" id="31"/>
          <p:cNvSpPr txBox="true"/>
          <p:nvPr/>
        </p:nvSpPr>
        <p:spPr>
          <a:xfrm rot="0">
            <a:off x="9341644" y="3684537"/>
            <a:ext cx="7875832" cy="250631"/>
          </a:xfrm>
          <a:prstGeom prst="rect">
            <a:avLst/>
          </a:prstGeom>
        </p:spPr>
        <p:txBody>
          <a:bodyPr anchor="t" rtlCol="false" tIns="0" lIns="0" bIns="0" rIns="0">
            <a:spAutoFit/>
          </a:bodyPr>
          <a:lstStyle/>
          <a:p>
            <a:pPr algn="l">
              <a:lnSpc>
                <a:spcPts val="1872"/>
              </a:lnSpc>
            </a:pPr>
            <a:r>
              <a:rPr lang="en-US" sz="1500">
                <a:solidFill>
                  <a:srgbClr val="152D47"/>
                </a:solidFill>
                <a:latin typeface="Crimson Pro"/>
                <a:ea typeface="Crimson Pro"/>
                <a:cs typeface="Crimson Pro"/>
                <a:sym typeface="Crimson Pro"/>
              </a:rPr>
              <a:t>Sales Responsibilities</a:t>
            </a:r>
          </a:p>
        </p:txBody>
      </p:sp>
      <p:sp>
        <p:nvSpPr>
          <p:cNvPr name="TextBox 32" id="32"/>
          <p:cNvSpPr txBox="true"/>
          <p:nvPr/>
        </p:nvSpPr>
        <p:spPr>
          <a:xfrm rot="0">
            <a:off x="9341644" y="4012254"/>
            <a:ext cx="7875832" cy="821379"/>
          </a:xfrm>
          <a:prstGeom prst="rect">
            <a:avLst/>
          </a:prstGeom>
        </p:spPr>
        <p:txBody>
          <a:bodyPr anchor="t" rtlCol="false" tIns="0" lIns="0" bIns="0" rIns="0">
            <a:spAutoFit/>
          </a:bodyPr>
          <a:lstStyle/>
          <a:p>
            <a:pPr algn="l" marL="289560" indent="-144780" lvl="1">
              <a:lnSpc>
                <a:spcPts val="1439"/>
              </a:lnSpc>
              <a:buFont typeface="Arial"/>
              <a:buChar char="•"/>
            </a:pPr>
            <a:r>
              <a:rPr lang="en-US" sz="1200">
                <a:solidFill>
                  <a:srgbClr val="4C4C4D"/>
                </a:solidFill>
                <a:latin typeface="Heebo"/>
                <a:ea typeface="Heebo"/>
                <a:cs typeface="Heebo"/>
                <a:sym typeface="Heebo"/>
              </a:rPr>
              <a:t>Identify and prospect new business opportunities</a:t>
            </a:r>
          </a:p>
          <a:p>
            <a:pPr algn="l" marL="289560" indent="-144780" lvl="1">
              <a:lnSpc>
                <a:spcPts val="1439"/>
              </a:lnSpc>
              <a:buFont typeface="Arial"/>
              <a:buChar char="•"/>
            </a:pPr>
            <a:r>
              <a:rPr lang="en-US" sz="1200">
                <a:solidFill>
                  <a:srgbClr val="4C4C4D"/>
                </a:solidFill>
                <a:latin typeface="Heebo"/>
                <a:ea typeface="Heebo"/>
                <a:cs typeface="Heebo"/>
                <a:sym typeface="Heebo"/>
              </a:rPr>
              <a:t>Develop and maintain relationships with prospective and existing clients</a:t>
            </a:r>
          </a:p>
          <a:p>
            <a:pPr algn="l" marL="289560" indent="-144780" lvl="1">
              <a:lnSpc>
                <a:spcPts val="1439"/>
              </a:lnSpc>
              <a:buFont typeface="Arial"/>
              <a:buChar char="•"/>
            </a:pPr>
            <a:r>
              <a:rPr lang="en-US" sz="1200">
                <a:solidFill>
                  <a:srgbClr val="4C4C4D"/>
                </a:solidFill>
                <a:latin typeface="Heebo"/>
                <a:ea typeface="Heebo"/>
                <a:cs typeface="Heebo"/>
                <a:sym typeface="Heebo"/>
              </a:rPr>
              <a:t>Present products/services and negotiate contracts</a:t>
            </a:r>
          </a:p>
          <a:p>
            <a:pPr algn="l" marL="289560" indent="-144780" lvl="1">
              <a:lnSpc>
                <a:spcPts val="1439"/>
              </a:lnSpc>
              <a:buFont typeface="Arial"/>
              <a:buChar char="•"/>
            </a:pPr>
            <a:r>
              <a:rPr lang="en-US" sz="1200">
                <a:solidFill>
                  <a:srgbClr val="4C4C4D"/>
                </a:solidFill>
                <a:latin typeface="Heebo"/>
                <a:ea typeface="Heebo"/>
                <a:cs typeface="Heebo"/>
                <a:sym typeface="Heebo"/>
              </a:rPr>
              <a:t>Achieve and exceed sales targets; prepare proposals and quotations</a:t>
            </a:r>
          </a:p>
        </p:txBody>
      </p:sp>
      <p:sp>
        <p:nvSpPr>
          <p:cNvPr name="TextBox 33" id="33"/>
          <p:cNvSpPr txBox="true"/>
          <p:nvPr/>
        </p:nvSpPr>
        <p:spPr>
          <a:xfrm rot="0">
            <a:off x="9341644" y="4901203"/>
            <a:ext cx="7875832" cy="250631"/>
          </a:xfrm>
          <a:prstGeom prst="rect">
            <a:avLst/>
          </a:prstGeom>
        </p:spPr>
        <p:txBody>
          <a:bodyPr anchor="t" rtlCol="false" tIns="0" lIns="0" bIns="0" rIns="0">
            <a:spAutoFit/>
          </a:bodyPr>
          <a:lstStyle/>
          <a:p>
            <a:pPr algn="l">
              <a:lnSpc>
                <a:spcPts val="1872"/>
              </a:lnSpc>
            </a:pPr>
            <a:r>
              <a:rPr lang="en-US" sz="1500">
                <a:solidFill>
                  <a:srgbClr val="152D47"/>
                </a:solidFill>
                <a:latin typeface="Crimson Pro"/>
                <a:ea typeface="Crimson Pro"/>
                <a:cs typeface="Crimson Pro"/>
                <a:sym typeface="Crimson Pro"/>
              </a:rPr>
              <a:t>Client Relationship Responsibilities</a:t>
            </a:r>
          </a:p>
        </p:txBody>
      </p:sp>
      <p:sp>
        <p:nvSpPr>
          <p:cNvPr name="TextBox 34" id="34"/>
          <p:cNvSpPr txBox="true"/>
          <p:nvPr/>
        </p:nvSpPr>
        <p:spPr>
          <a:xfrm rot="0">
            <a:off x="9341644" y="5228930"/>
            <a:ext cx="7875832" cy="609305"/>
          </a:xfrm>
          <a:prstGeom prst="rect">
            <a:avLst/>
          </a:prstGeom>
        </p:spPr>
        <p:txBody>
          <a:bodyPr anchor="t" rtlCol="false" tIns="0" lIns="0" bIns="0" rIns="0">
            <a:spAutoFit/>
          </a:bodyPr>
          <a:lstStyle/>
          <a:p>
            <a:pPr algn="l" marL="289560" indent="-144780" lvl="1">
              <a:lnSpc>
                <a:spcPts val="1439"/>
              </a:lnSpc>
              <a:buFont typeface="Arial"/>
              <a:buChar char="•"/>
            </a:pPr>
            <a:r>
              <a:rPr lang="en-US" sz="1200">
                <a:solidFill>
                  <a:srgbClr val="4C4C4D"/>
                </a:solidFill>
                <a:latin typeface="Heebo"/>
                <a:ea typeface="Heebo"/>
                <a:cs typeface="Heebo"/>
                <a:sym typeface="Heebo"/>
              </a:rPr>
              <a:t>Understand client needs and provide tailored solutions</a:t>
            </a:r>
          </a:p>
          <a:p>
            <a:pPr algn="l" marL="289560" indent="-144780" lvl="1">
              <a:lnSpc>
                <a:spcPts val="1439"/>
              </a:lnSpc>
              <a:buFont typeface="Arial"/>
              <a:buChar char="•"/>
            </a:pPr>
            <a:r>
              <a:rPr lang="en-US" sz="1200">
                <a:solidFill>
                  <a:srgbClr val="4C4C4D"/>
                </a:solidFill>
                <a:latin typeface="Heebo"/>
                <a:ea typeface="Heebo"/>
                <a:cs typeface="Heebo"/>
                <a:sym typeface="Heebo"/>
              </a:rPr>
              <a:t>Maintain regular communication with key accounts</a:t>
            </a:r>
          </a:p>
          <a:p>
            <a:pPr algn="l" marL="289560" indent="-144780" lvl="1">
              <a:lnSpc>
                <a:spcPts val="1439"/>
              </a:lnSpc>
              <a:buFont typeface="Arial"/>
              <a:buChar char="•"/>
            </a:pPr>
            <a:r>
              <a:rPr lang="en-US" sz="1200">
                <a:solidFill>
                  <a:srgbClr val="4C4C4D"/>
                </a:solidFill>
                <a:latin typeface="Heebo"/>
                <a:ea typeface="Heebo"/>
                <a:cs typeface="Heebo"/>
                <a:sym typeface="Heebo"/>
              </a:rPr>
              <a:t>Identify upsell and cross-sell opportunities</a:t>
            </a:r>
          </a:p>
        </p:txBody>
      </p:sp>
      <p:sp>
        <p:nvSpPr>
          <p:cNvPr name="TextBox 35" id="35"/>
          <p:cNvSpPr txBox="true"/>
          <p:nvPr/>
        </p:nvSpPr>
        <p:spPr>
          <a:xfrm rot="0">
            <a:off x="9341644" y="5905795"/>
            <a:ext cx="7875832" cy="250631"/>
          </a:xfrm>
          <a:prstGeom prst="rect">
            <a:avLst/>
          </a:prstGeom>
        </p:spPr>
        <p:txBody>
          <a:bodyPr anchor="t" rtlCol="false" tIns="0" lIns="0" bIns="0" rIns="0">
            <a:spAutoFit/>
          </a:bodyPr>
          <a:lstStyle/>
          <a:p>
            <a:pPr algn="l">
              <a:lnSpc>
                <a:spcPts val="1872"/>
              </a:lnSpc>
            </a:pPr>
            <a:r>
              <a:rPr lang="en-US" sz="1500">
                <a:solidFill>
                  <a:srgbClr val="152D47"/>
                </a:solidFill>
                <a:latin typeface="Crimson Pro"/>
                <a:ea typeface="Crimson Pro"/>
                <a:cs typeface="Crimson Pro"/>
                <a:sym typeface="Crimson Pro"/>
              </a:rPr>
              <a:t>Required Skills &amp; Experience</a:t>
            </a:r>
          </a:p>
        </p:txBody>
      </p:sp>
      <p:sp>
        <p:nvSpPr>
          <p:cNvPr name="TextBox 36" id="36"/>
          <p:cNvSpPr txBox="true"/>
          <p:nvPr/>
        </p:nvSpPr>
        <p:spPr>
          <a:xfrm rot="0">
            <a:off x="9341644" y="6233522"/>
            <a:ext cx="7875832" cy="830904"/>
          </a:xfrm>
          <a:prstGeom prst="rect">
            <a:avLst/>
          </a:prstGeom>
        </p:spPr>
        <p:txBody>
          <a:bodyPr anchor="t" rtlCol="false" tIns="0" lIns="0" bIns="0" rIns="0">
            <a:spAutoFit/>
          </a:bodyPr>
          <a:lstStyle/>
          <a:p>
            <a:pPr algn="l" marL="289560" indent="-144780" lvl="1">
              <a:lnSpc>
                <a:spcPts val="1439"/>
              </a:lnSpc>
              <a:buFont typeface="Arial"/>
              <a:buChar char="•"/>
            </a:pPr>
            <a:r>
              <a:rPr lang="en-US" sz="1200">
                <a:solidFill>
                  <a:srgbClr val="4C4C4D"/>
                </a:solidFill>
                <a:latin typeface="Heebo"/>
                <a:ea typeface="Heebo"/>
                <a:cs typeface="Heebo"/>
                <a:sym typeface="Heebo"/>
              </a:rPr>
              <a:t>Excellent communication, negotiation, and closing ability</a:t>
            </a:r>
          </a:p>
          <a:p>
            <a:pPr algn="l" marL="289560" indent="-144780" lvl="1">
              <a:lnSpc>
                <a:spcPts val="1439"/>
              </a:lnSpc>
              <a:buFont typeface="Arial"/>
              <a:buChar char="•"/>
            </a:pPr>
            <a:r>
              <a:rPr lang="en-US" sz="1200">
                <a:solidFill>
                  <a:srgbClr val="4C4C4D"/>
                </a:solidFill>
                <a:latin typeface="Heebo"/>
                <a:ea typeface="Heebo"/>
                <a:cs typeface="Heebo"/>
                <a:sym typeface="Heebo"/>
              </a:rPr>
              <a:t>CRM software proficiency; self-motivated and target-driven</a:t>
            </a:r>
          </a:p>
          <a:p>
            <a:pPr algn="l" marL="289560" indent="-144780" lvl="1">
              <a:lnSpc>
                <a:spcPts val="1439"/>
              </a:lnSpc>
              <a:buFont typeface="Arial"/>
              <a:buChar char="•"/>
            </a:pPr>
            <a:r>
              <a:rPr lang="en-US" sz="1200">
                <a:solidFill>
                  <a:srgbClr val="4C4C4D"/>
                </a:solidFill>
                <a:latin typeface="Heebo"/>
                <a:ea typeface="Heebo"/>
                <a:cs typeface="Heebo"/>
                <a:sym typeface="Heebo"/>
              </a:rPr>
              <a:t>[X] years of sales or business development experience</a:t>
            </a:r>
          </a:p>
          <a:p>
            <a:pPr algn="l" marL="289560" indent="-144780" lvl="1">
              <a:lnSpc>
                <a:spcPts val="1439"/>
              </a:lnSpc>
              <a:buFont typeface="Arial"/>
              <a:buChar char="•"/>
            </a:pPr>
            <a:r>
              <a:rPr lang="en-US" sz="1200">
                <a:solidFill>
                  <a:srgbClr val="4C4C4D"/>
                </a:solidFill>
                <a:latin typeface="Heebo"/>
                <a:ea typeface="Heebo"/>
                <a:cs typeface="Heebo"/>
                <a:sym typeface="Heebo"/>
              </a:rPr>
              <a:t>Proven track record of meeting or exceeding sales targets</a:t>
            </a:r>
          </a:p>
        </p:txBody>
      </p:sp>
      <p:sp>
        <p:nvSpPr>
          <p:cNvPr name="TextBox 37" id="37"/>
          <p:cNvSpPr txBox="true"/>
          <p:nvPr/>
        </p:nvSpPr>
        <p:spPr>
          <a:xfrm rot="0">
            <a:off x="9341644" y="7131996"/>
            <a:ext cx="7875832" cy="250631"/>
          </a:xfrm>
          <a:prstGeom prst="rect">
            <a:avLst/>
          </a:prstGeom>
        </p:spPr>
        <p:txBody>
          <a:bodyPr anchor="t" rtlCol="false" tIns="0" lIns="0" bIns="0" rIns="0">
            <a:spAutoFit/>
          </a:bodyPr>
          <a:lstStyle/>
          <a:p>
            <a:pPr algn="l">
              <a:lnSpc>
                <a:spcPts val="1872"/>
              </a:lnSpc>
            </a:pPr>
            <a:r>
              <a:rPr lang="en-US" sz="1500">
                <a:solidFill>
                  <a:srgbClr val="152D47"/>
                </a:solidFill>
                <a:latin typeface="Crimson Pro"/>
                <a:ea typeface="Crimson Pro"/>
                <a:cs typeface="Crimson Pro"/>
                <a:sym typeface="Crimson Pro"/>
              </a:rPr>
              <a:t>Preferred Qualifications</a:t>
            </a:r>
          </a:p>
        </p:txBody>
      </p:sp>
      <p:sp>
        <p:nvSpPr>
          <p:cNvPr name="TextBox 38" id="38"/>
          <p:cNvSpPr txBox="true"/>
          <p:nvPr/>
        </p:nvSpPr>
        <p:spPr>
          <a:xfrm rot="0">
            <a:off x="9341644" y="7431138"/>
            <a:ext cx="7875832" cy="435321"/>
          </a:xfrm>
          <a:prstGeom prst="rect">
            <a:avLst/>
          </a:prstGeom>
        </p:spPr>
        <p:txBody>
          <a:bodyPr anchor="t" rtlCol="false" tIns="0" lIns="0" bIns="0" rIns="0">
            <a:spAutoFit/>
          </a:bodyPr>
          <a:lstStyle/>
          <a:p>
            <a:pPr algn="l" marL="289560" indent="-144780" lvl="1">
              <a:lnSpc>
                <a:spcPts val="1439"/>
              </a:lnSpc>
              <a:buFont typeface="Arial"/>
              <a:buChar char="•"/>
            </a:pPr>
            <a:r>
              <a:rPr lang="en-US" sz="1200">
                <a:solidFill>
                  <a:srgbClr val="4C4C4D"/>
                </a:solidFill>
                <a:latin typeface="Consolas"/>
                <a:ea typeface="Consolas"/>
                <a:cs typeface="Consolas"/>
                <a:sym typeface="Consolas"/>
              </a:rPr>
              <a:t>Experience in [specific industry]</a:t>
            </a:r>
          </a:p>
          <a:p>
            <a:pPr algn="l" marL="289560" indent="-144780" lvl="1">
              <a:lnSpc>
                <a:spcPts val="1439"/>
              </a:lnSpc>
              <a:buFont typeface="Arial"/>
              <a:buChar char="•"/>
            </a:pPr>
            <a:r>
              <a:rPr lang="en-US" sz="1200">
                <a:solidFill>
                  <a:srgbClr val="4C4C4D"/>
                </a:solidFill>
                <a:latin typeface="Heebo"/>
                <a:ea typeface="Heebo"/>
                <a:cs typeface="Heebo"/>
                <a:sym typeface="Heebo"/>
              </a:rPr>
              <a:t>Bachelor's degree in Business, Marketing, or related field</a:t>
            </a:r>
          </a:p>
        </p:txBody>
      </p:sp>
      <p:sp>
        <p:nvSpPr>
          <p:cNvPr name="TextBox 39" id="39"/>
          <p:cNvSpPr txBox="true"/>
          <p:nvPr/>
        </p:nvSpPr>
        <p:spPr>
          <a:xfrm rot="0">
            <a:off x="9341644" y="7934030"/>
            <a:ext cx="7875832" cy="250631"/>
          </a:xfrm>
          <a:prstGeom prst="rect">
            <a:avLst/>
          </a:prstGeom>
        </p:spPr>
        <p:txBody>
          <a:bodyPr anchor="t" rtlCol="false" tIns="0" lIns="0" bIns="0" rIns="0">
            <a:spAutoFit/>
          </a:bodyPr>
          <a:lstStyle/>
          <a:p>
            <a:pPr algn="l">
              <a:lnSpc>
                <a:spcPts val="1872"/>
              </a:lnSpc>
            </a:pPr>
            <a:r>
              <a:rPr lang="en-US" sz="1500">
                <a:solidFill>
                  <a:srgbClr val="152D47"/>
                </a:solidFill>
                <a:latin typeface="Crimson Pro"/>
                <a:ea typeface="Crimson Pro"/>
                <a:cs typeface="Crimson Pro"/>
                <a:sym typeface="Crimson Pro"/>
              </a:rPr>
              <a:t>What We Offer</a:t>
            </a:r>
          </a:p>
        </p:txBody>
      </p:sp>
      <p:sp>
        <p:nvSpPr>
          <p:cNvPr name="TextBox 40" id="40"/>
          <p:cNvSpPr txBox="true"/>
          <p:nvPr/>
        </p:nvSpPr>
        <p:spPr>
          <a:xfrm rot="0">
            <a:off x="9341644" y="8261747"/>
            <a:ext cx="7875832" cy="389334"/>
          </a:xfrm>
          <a:prstGeom prst="rect">
            <a:avLst/>
          </a:prstGeom>
        </p:spPr>
        <p:txBody>
          <a:bodyPr anchor="t" rtlCol="false" tIns="0" lIns="0" bIns="0" rIns="0">
            <a:spAutoFit/>
          </a:bodyPr>
          <a:lstStyle/>
          <a:p>
            <a:pPr algn="l">
              <a:lnSpc>
                <a:spcPts val="1439"/>
              </a:lnSpc>
            </a:pPr>
            <a:r>
              <a:rPr lang="en-US" sz="1200">
                <a:solidFill>
                  <a:srgbClr val="4C4C4D"/>
                </a:solidFill>
                <a:latin typeface="Heebo"/>
                <a:ea typeface="Heebo"/>
                <a:cs typeface="Heebo"/>
                <a:sym typeface="Heebo"/>
              </a:rPr>
              <a:t>Competitive base salary plus commission, career growth opportunities, sales training and support, [additional benefits]</a:t>
            </a:r>
          </a:p>
        </p:txBody>
      </p:sp>
      <p:sp>
        <p:nvSpPr>
          <p:cNvPr name="TextBox 41" id="41"/>
          <p:cNvSpPr txBox="true"/>
          <p:nvPr/>
        </p:nvSpPr>
        <p:spPr>
          <a:xfrm rot="0">
            <a:off x="9341644" y="8718652"/>
            <a:ext cx="7875832" cy="250631"/>
          </a:xfrm>
          <a:prstGeom prst="rect">
            <a:avLst/>
          </a:prstGeom>
        </p:spPr>
        <p:txBody>
          <a:bodyPr anchor="t" rtlCol="false" tIns="0" lIns="0" bIns="0" rIns="0">
            <a:spAutoFit/>
          </a:bodyPr>
          <a:lstStyle/>
          <a:p>
            <a:pPr algn="l">
              <a:lnSpc>
                <a:spcPts val="1872"/>
              </a:lnSpc>
            </a:pPr>
            <a:r>
              <a:rPr lang="en-US" sz="1500">
                <a:solidFill>
                  <a:srgbClr val="152D47"/>
                </a:solidFill>
                <a:latin typeface="Crimson Pro"/>
                <a:ea typeface="Crimson Pro"/>
                <a:cs typeface="Crimson Pro"/>
                <a:sym typeface="Crimson Pro"/>
              </a:rPr>
              <a:t>Application</a:t>
            </a:r>
          </a:p>
        </p:txBody>
      </p:sp>
      <p:sp>
        <p:nvSpPr>
          <p:cNvPr name="TextBox 42" id="42"/>
          <p:cNvSpPr txBox="true"/>
          <p:nvPr/>
        </p:nvSpPr>
        <p:spPr>
          <a:xfrm rot="0">
            <a:off x="9341644" y="9046369"/>
            <a:ext cx="8790232" cy="194672"/>
          </a:xfrm>
          <a:prstGeom prst="rect">
            <a:avLst/>
          </a:prstGeom>
        </p:spPr>
        <p:txBody>
          <a:bodyPr anchor="t" rtlCol="false" tIns="0" lIns="0" bIns="0" rIns="0">
            <a:spAutoFit/>
          </a:bodyPr>
          <a:lstStyle/>
          <a:p>
            <a:pPr algn="l">
              <a:lnSpc>
                <a:spcPts val="1439"/>
              </a:lnSpc>
            </a:pPr>
            <a:r>
              <a:rPr lang="en-US" sz="1200">
                <a:solidFill>
                  <a:srgbClr val="4C4C4D"/>
                </a:solidFill>
                <a:latin typeface="Heebo"/>
                <a:ea typeface="Heebo"/>
                <a:cs typeface="Heebo"/>
                <a:sym typeface="Heebo"/>
              </a:rPr>
              <a:t>Send resume to [email] or apply via [link]</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0F0F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1080049" y="912466"/>
            <a:ext cx="16127911" cy="591588"/>
          </a:xfrm>
          <a:prstGeom prst="rect">
            <a:avLst/>
          </a:prstGeom>
        </p:spPr>
        <p:txBody>
          <a:bodyPr anchor="t" rtlCol="false" tIns="0" lIns="0" bIns="0" rIns="0">
            <a:spAutoFit/>
          </a:bodyPr>
          <a:lstStyle/>
          <a:p>
            <a:pPr algn="l">
              <a:lnSpc>
                <a:spcPts val="4492"/>
              </a:lnSpc>
            </a:pPr>
            <a:r>
              <a:rPr lang="en-US" sz="3600">
                <a:solidFill>
                  <a:srgbClr val="152D47"/>
                </a:solidFill>
                <a:latin typeface="Crimson Pro"/>
                <a:ea typeface="Crimson Pro"/>
                <a:cs typeface="Crimson Pro"/>
                <a:sym typeface="Crimson Pro"/>
              </a:rPr>
              <a:t>Marketing Specialist</a:t>
            </a:r>
          </a:p>
        </p:txBody>
      </p:sp>
      <p:grpSp>
        <p:nvGrpSpPr>
          <p:cNvPr name="Group 7" id="7"/>
          <p:cNvGrpSpPr/>
          <p:nvPr/>
        </p:nvGrpSpPr>
        <p:grpSpPr>
          <a:xfrm rot="0">
            <a:off x="1080049" y="1721644"/>
            <a:ext cx="3626044" cy="278311"/>
            <a:chOff x="0" y="0"/>
            <a:chExt cx="4834725" cy="371081"/>
          </a:xfrm>
        </p:grpSpPr>
        <p:sp>
          <p:nvSpPr>
            <p:cNvPr name="Freeform 8" id="8"/>
            <p:cNvSpPr/>
            <p:nvPr/>
          </p:nvSpPr>
          <p:spPr>
            <a:xfrm flipH="false" flipV="false" rot="0">
              <a:off x="0" y="0"/>
              <a:ext cx="4834763" cy="371094"/>
            </a:xfrm>
            <a:custGeom>
              <a:avLst/>
              <a:gdLst/>
              <a:ahLst/>
              <a:cxnLst/>
              <a:rect r="r" b="b" t="t" l="l"/>
              <a:pathLst>
                <a:path h="371094" w="4834763">
                  <a:moveTo>
                    <a:pt x="0" y="29337"/>
                  </a:moveTo>
                  <a:cubicBezTo>
                    <a:pt x="0" y="13081"/>
                    <a:pt x="13081" y="0"/>
                    <a:pt x="29337" y="0"/>
                  </a:cubicBezTo>
                  <a:lnTo>
                    <a:pt x="4805426" y="0"/>
                  </a:lnTo>
                  <a:cubicBezTo>
                    <a:pt x="4821555" y="0"/>
                    <a:pt x="4834763" y="13081"/>
                    <a:pt x="4834763" y="29337"/>
                  </a:cubicBezTo>
                  <a:lnTo>
                    <a:pt x="4834763" y="341757"/>
                  </a:lnTo>
                  <a:cubicBezTo>
                    <a:pt x="4834763" y="357886"/>
                    <a:pt x="4821682" y="371094"/>
                    <a:pt x="4805426" y="371094"/>
                  </a:cubicBezTo>
                  <a:lnTo>
                    <a:pt x="29337" y="371094"/>
                  </a:lnTo>
                  <a:cubicBezTo>
                    <a:pt x="13081" y="371094"/>
                    <a:pt x="0" y="358013"/>
                    <a:pt x="0" y="341757"/>
                  </a:cubicBezTo>
                  <a:close/>
                </a:path>
              </a:pathLst>
            </a:custGeom>
            <a:solidFill>
              <a:srgbClr val="CCD7FF"/>
            </a:solidFill>
          </p:spPr>
        </p:sp>
      </p:grpSp>
      <p:sp>
        <p:nvSpPr>
          <p:cNvPr name="TextBox 9" id="9"/>
          <p:cNvSpPr txBox="true"/>
          <p:nvPr/>
        </p:nvSpPr>
        <p:spPr>
          <a:xfrm rot="0">
            <a:off x="1189882" y="1786090"/>
            <a:ext cx="4320778" cy="158953"/>
          </a:xfrm>
          <a:prstGeom prst="rect">
            <a:avLst/>
          </a:prstGeom>
        </p:spPr>
        <p:txBody>
          <a:bodyPr anchor="t" rtlCol="false" tIns="0" lIns="0" bIns="0" rIns="0">
            <a:spAutoFit/>
          </a:bodyPr>
          <a:lstStyle/>
          <a:p>
            <a:pPr algn="l">
              <a:lnSpc>
                <a:spcPts val="1267"/>
              </a:lnSpc>
            </a:pPr>
            <a:r>
              <a:rPr lang="en-US" sz="1100">
                <a:solidFill>
                  <a:srgbClr val="4C4C4D"/>
                </a:solidFill>
                <a:latin typeface="Heebo"/>
                <a:ea typeface="Heebo"/>
                <a:cs typeface="Heebo"/>
                <a:sym typeface="Heebo"/>
              </a:rPr>
              <a:t>FULL-TIME  |  [CITY, COUNTRY]  |  [COMPANY NAME]</a:t>
            </a:r>
          </a:p>
        </p:txBody>
      </p:sp>
      <p:sp>
        <p:nvSpPr>
          <p:cNvPr name="TextBox 10" id="10"/>
          <p:cNvSpPr txBox="true"/>
          <p:nvPr/>
        </p:nvSpPr>
        <p:spPr>
          <a:xfrm rot="0">
            <a:off x="1080049" y="2112769"/>
            <a:ext cx="16127911" cy="476545"/>
          </a:xfrm>
          <a:prstGeom prst="rect">
            <a:avLst/>
          </a:prstGeom>
        </p:spPr>
        <p:txBody>
          <a:bodyPr anchor="t" rtlCol="false" tIns="0" lIns="0" bIns="0" rIns="0">
            <a:spAutoFit/>
          </a:bodyPr>
          <a:lstStyle/>
          <a:p>
            <a:pPr algn="l">
              <a:lnSpc>
                <a:spcPts val="1780"/>
              </a:lnSpc>
            </a:pPr>
            <a:r>
              <a:rPr lang="en-US" sz="1399">
                <a:solidFill>
                  <a:srgbClr val="4C4C4D"/>
                </a:solidFill>
                <a:latin typeface="Heebo"/>
                <a:ea typeface="Heebo"/>
                <a:cs typeface="Heebo"/>
                <a:sym typeface="Heebo"/>
              </a:rPr>
              <a:t>We are looking for a Marketing Specialist to develop and execute marketing campaigns that promote our brand and drive customer engagement. You will manage digital marketing initiatives, create content, and analyze campaign performance.</a:t>
            </a:r>
          </a:p>
        </p:txBody>
      </p:sp>
      <p:grpSp>
        <p:nvGrpSpPr>
          <p:cNvPr name="Group 11" id="11"/>
          <p:cNvGrpSpPr/>
          <p:nvPr/>
        </p:nvGrpSpPr>
        <p:grpSpPr>
          <a:xfrm rot="0">
            <a:off x="1080049" y="2711644"/>
            <a:ext cx="8009487" cy="1765697"/>
            <a:chOff x="0" y="0"/>
            <a:chExt cx="10679316" cy="2354262"/>
          </a:xfrm>
        </p:grpSpPr>
        <p:sp>
          <p:nvSpPr>
            <p:cNvPr name="Freeform 12" id="12"/>
            <p:cNvSpPr/>
            <p:nvPr/>
          </p:nvSpPr>
          <p:spPr>
            <a:xfrm flipH="false" flipV="false" rot="0">
              <a:off x="0" y="0"/>
              <a:ext cx="10679303" cy="2354326"/>
            </a:xfrm>
            <a:custGeom>
              <a:avLst/>
              <a:gdLst/>
              <a:ahLst/>
              <a:cxnLst/>
              <a:rect r="r" b="b" t="t" l="l"/>
              <a:pathLst>
                <a:path h="2354326" w="10679303">
                  <a:moveTo>
                    <a:pt x="0" y="36703"/>
                  </a:moveTo>
                  <a:cubicBezTo>
                    <a:pt x="0" y="16383"/>
                    <a:pt x="16383" y="0"/>
                    <a:pt x="36703" y="0"/>
                  </a:cubicBezTo>
                  <a:lnTo>
                    <a:pt x="10642600" y="0"/>
                  </a:lnTo>
                  <a:cubicBezTo>
                    <a:pt x="10662793" y="0"/>
                    <a:pt x="10679303" y="16383"/>
                    <a:pt x="10679303" y="36703"/>
                  </a:cubicBezTo>
                  <a:lnTo>
                    <a:pt x="10679303" y="2317623"/>
                  </a:lnTo>
                  <a:cubicBezTo>
                    <a:pt x="10679303" y="2337816"/>
                    <a:pt x="10662920" y="2354326"/>
                    <a:pt x="10642600" y="2354326"/>
                  </a:cubicBezTo>
                  <a:lnTo>
                    <a:pt x="36703" y="2354326"/>
                  </a:lnTo>
                  <a:cubicBezTo>
                    <a:pt x="16510" y="2354326"/>
                    <a:pt x="0" y="2337943"/>
                    <a:pt x="0" y="2317623"/>
                  </a:cubicBezTo>
                  <a:close/>
                </a:path>
              </a:pathLst>
            </a:custGeom>
            <a:solidFill>
              <a:srgbClr val="F2EEEE"/>
            </a:solidFill>
          </p:spPr>
        </p:sp>
      </p:grpSp>
      <p:sp>
        <p:nvSpPr>
          <p:cNvPr name="TextBox 13" id="13"/>
          <p:cNvSpPr txBox="true"/>
          <p:nvPr/>
        </p:nvSpPr>
        <p:spPr>
          <a:xfrm rot="0">
            <a:off x="1263253" y="2875807"/>
            <a:ext cx="7643070" cy="305248"/>
          </a:xfrm>
          <a:prstGeom prst="rect">
            <a:avLst/>
          </a:prstGeom>
        </p:spPr>
        <p:txBody>
          <a:bodyPr anchor="t" rtlCol="false" tIns="0" lIns="0" bIns="0" rIns="0">
            <a:spAutoFit/>
          </a:bodyPr>
          <a:lstStyle/>
          <a:p>
            <a:pPr algn="l">
              <a:lnSpc>
                <a:spcPts val="2246"/>
              </a:lnSpc>
            </a:pPr>
            <a:r>
              <a:rPr lang="en-US" sz="1800">
                <a:solidFill>
                  <a:srgbClr val="4C4C4D"/>
                </a:solidFill>
                <a:latin typeface="Crimson Pro"/>
                <a:ea typeface="Crimson Pro"/>
                <a:cs typeface="Crimson Pro"/>
                <a:sym typeface="Crimson Pro"/>
              </a:rPr>
              <a:t>Campaign Management</a:t>
            </a:r>
          </a:p>
        </p:txBody>
      </p:sp>
      <p:sp>
        <p:nvSpPr>
          <p:cNvPr name="TextBox 14" id="14"/>
          <p:cNvSpPr txBox="true"/>
          <p:nvPr/>
        </p:nvSpPr>
        <p:spPr>
          <a:xfrm rot="0">
            <a:off x="1263253" y="3236719"/>
            <a:ext cx="7643070" cy="1057427"/>
          </a:xfrm>
          <a:prstGeom prst="rect">
            <a:avLst/>
          </a:prstGeom>
        </p:spPr>
        <p:txBody>
          <a:bodyPr anchor="t" rtlCol="false" tIns="0" lIns="0" bIns="0" rIns="0">
            <a:spAutoFit/>
          </a:bodyPr>
          <a:lstStyle/>
          <a:p>
            <a:pPr algn="l" marL="337820" indent="-168910" lvl="1">
              <a:lnSpc>
                <a:spcPts val="1780"/>
              </a:lnSpc>
              <a:buFont typeface="Arial"/>
              <a:buChar char="•"/>
            </a:pPr>
            <a:r>
              <a:rPr lang="en-US" sz="1399">
                <a:solidFill>
                  <a:srgbClr val="4C4C4D"/>
                </a:solidFill>
                <a:latin typeface="Heebo"/>
                <a:ea typeface="Heebo"/>
                <a:cs typeface="Heebo"/>
                <a:sym typeface="Heebo"/>
              </a:rPr>
              <a:t>Develop and execute campaigns across multiple channels</a:t>
            </a:r>
          </a:p>
          <a:p>
            <a:pPr algn="l" marL="337820" indent="-168910" lvl="1">
              <a:lnSpc>
                <a:spcPts val="1780"/>
              </a:lnSpc>
              <a:buFont typeface="Arial"/>
              <a:buChar char="•"/>
            </a:pPr>
            <a:r>
              <a:rPr lang="en-US" sz="1399">
                <a:solidFill>
                  <a:srgbClr val="4C4C4D"/>
                </a:solidFill>
                <a:latin typeface="Heebo"/>
                <a:ea typeface="Heebo"/>
                <a:cs typeface="Heebo"/>
                <a:sym typeface="Heebo"/>
              </a:rPr>
              <a:t>Plan and coordinate promotional activities</a:t>
            </a:r>
          </a:p>
          <a:p>
            <a:pPr algn="l" marL="337820" indent="-168910" lvl="1">
              <a:lnSpc>
                <a:spcPts val="1780"/>
              </a:lnSpc>
              <a:buFont typeface="Arial"/>
              <a:buChar char="•"/>
            </a:pPr>
            <a:r>
              <a:rPr lang="en-US" sz="1399">
                <a:solidFill>
                  <a:srgbClr val="4C4C4D"/>
                </a:solidFill>
                <a:latin typeface="Heebo"/>
                <a:ea typeface="Heebo"/>
                <a:cs typeface="Heebo"/>
                <a:sym typeface="Heebo"/>
              </a:rPr>
              <a:t>Manage marketing budgets and track ROI</a:t>
            </a:r>
          </a:p>
          <a:p>
            <a:pPr algn="l" marL="337820" indent="-168910" lvl="1">
              <a:lnSpc>
                <a:spcPts val="1780"/>
              </a:lnSpc>
              <a:buFont typeface="Arial"/>
              <a:buChar char="•"/>
            </a:pPr>
            <a:r>
              <a:rPr lang="en-US" sz="1399">
                <a:solidFill>
                  <a:srgbClr val="4C4C4D"/>
                </a:solidFill>
                <a:latin typeface="Heebo"/>
                <a:ea typeface="Heebo"/>
                <a:cs typeface="Heebo"/>
                <a:sym typeface="Heebo"/>
              </a:rPr>
              <a:t>Collaborate with sales and product teams on strategy</a:t>
            </a:r>
          </a:p>
        </p:txBody>
      </p:sp>
      <p:grpSp>
        <p:nvGrpSpPr>
          <p:cNvPr name="Group 15" id="15"/>
          <p:cNvGrpSpPr/>
          <p:nvPr/>
        </p:nvGrpSpPr>
        <p:grpSpPr>
          <a:xfrm rot="0">
            <a:off x="9198321" y="2711644"/>
            <a:ext cx="8009630" cy="1765697"/>
            <a:chOff x="0" y="0"/>
            <a:chExt cx="10679506" cy="2354262"/>
          </a:xfrm>
        </p:grpSpPr>
        <p:sp>
          <p:nvSpPr>
            <p:cNvPr name="Freeform 16" id="16"/>
            <p:cNvSpPr/>
            <p:nvPr/>
          </p:nvSpPr>
          <p:spPr>
            <a:xfrm flipH="false" flipV="false" rot="0">
              <a:off x="0" y="0"/>
              <a:ext cx="10679557" cy="2354326"/>
            </a:xfrm>
            <a:custGeom>
              <a:avLst/>
              <a:gdLst/>
              <a:ahLst/>
              <a:cxnLst/>
              <a:rect r="r" b="b" t="t" l="l"/>
              <a:pathLst>
                <a:path h="2354326" w="10679557">
                  <a:moveTo>
                    <a:pt x="0" y="36703"/>
                  </a:moveTo>
                  <a:cubicBezTo>
                    <a:pt x="0" y="16383"/>
                    <a:pt x="16383" y="0"/>
                    <a:pt x="36703" y="0"/>
                  </a:cubicBezTo>
                  <a:lnTo>
                    <a:pt x="10642854" y="0"/>
                  </a:lnTo>
                  <a:cubicBezTo>
                    <a:pt x="10663048" y="0"/>
                    <a:pt x="10679557" y="16383"/>
                    <a:pt x="10679557" y="36703"/>
                  </a:cubicBezTo>
                  <a:lnTo>
                    <a:pt x="10679557" y="2317623"/>
                  </a:lnTo>
                  <a:cubicBezTo>
                    <a:pt x="10679557" y="2337816"/>
                    <a:pt x="10663174" y="2354326"/>
                    <a:pt x="10642854" y="2354326"/>
                  </a:cubicBezTo>
                  <a:lnTo>
                    <a:pt x="36703" y="2354326"/>
                  </a:lnTo>
                  <a:cubicBezTo>
                    <a:pt x="16510" y="2354326"/>
                    <a:pt x="0" y="2337943"/>
                    <a:pt x="0" y="2317623"/>
                  </a:cubicBezTo>
                  <a:close/>
                </a:path>
              </a:pathLst>
            </a:custGeom>
            <a:solidFill>
              <a:srgbClr val="F2EEEE"/>
            </a:solidFill>
          </p:spPr>
        </p:sp>
      </p:grpSp>
      <p:sp>
        <p:nvSpPr>
          <p:cNvPr name="TextBox 17" id="17"/>
          <p:cNvSpPr txBox="true"/>
          <p:nvPr/>
        </p:nvSpPr>
        <p:spPr>
          <a:xfrm rot="0">
            <a:off x="9381534" y="2875807"/>
            <a:ext cx="7643222" cy="305248"/>
          </a:xfrm>
          <a:prstGeom prst="rect">
            <a:avLst/>
          </a:prstGeom>
        </p:spPr>
        <p:txBody>
          <a:bodyPr anchor="t" rtlCol="false" tIns="0" lIns="0" bIns="0" rIns="0">
            <a:spAutoFit/>
          </a:bodyPr>
          <a:lstStyle/>
          <a:p>
            <a:pPr algn="l">
              <a:lnSpc>
                <a:spcPts val="2246"/>
              </a:lnSpc>
            </a:pPr>
            <a:r>
              <a:rPr lang="en-US" sz="1800">
                <a:solidFill>
                  <a:srgbClr val="4C4C4D"/>
                </a:solidFill>
                <a:latin typeface="Crimson Pro"/>
                <a:ea typeface="Crimson Pro"/>
                <a:cs typeface="Crimson Pro"/>
                <a:sym typeface="Crimson Pro"/>
              </a:rPr>
              <a:t>Content Creation</a:t>
            </a:r>
          </a:p>
        </p:txBody>
      </p:sp>
      <p:sp>
        <p:nvSpPr>
          <p:cNvPr name="TextBox 18" id="18"/>
          <p:cNvSpPr txBox="true"/>
          <p:nvPr/>
        </p:nvSpPr>
        <p:spPr>
          <a:xfrm rot="0">
            <a:off x="9381534" y="3236719"/>
            <a:ext cx="7643222" cy="1057427"/>
          </a:xfrm>
          <a:prstGeom prst="rect">
            <a:avLst/>
          </a:prstGeom>
        </p:spPr>
        <p:txBody>
          <a:bodyPr anchor="t" rtlCol="false" tIns="0" lIns="0" bIns="0" rIns="0">
            <a:spAutoFit/>
          </a:bodyPr>
          <a:lstStyle/>
          <a:p>
            <a:pPr algn="l" marL="337820" indent="-168910" lvl="1">
              <a:lnSpc>
                <a:spcPts val="1780"/>
              </a:lnSpc>
              <a:buFont typeface="Arial"/>
              <a:buChar char="•"/>
            </a:pPr>
            <a:r>
              <a:rPr lang="en-US" sz="1399">
                <a:solidFill>
                  <a:srgbClr val="4C4C4D"/>
                </a:solidFill>
                <a:latin typeface="Heebo"/>
                <a:ea typeface="Heebo"/>
                <a:cs typeface="Heebo"/>
                <a:sym typeface="Heebo"/>
              </a:rPr>
              <a:t>Create engaging content — copy, graphics, videos</a:t>
            </a:r>
          </a:p>
          <a:p>
            <a:pPr algn="l" marL="337820" indent="-168910" lvl="1">
              <a:lnSpc>
                <a:spcPts val="1780"/>
              </a:lnSpc>
              <a:buFont typeface="Arial"/>
              <a:buChar char="•"/>
            </a:pPr>
            <a:r>
              <a:rPr lang="en-US" sz="1399">
                <a:solidFill>
                  <a:srgbClr val="4C4C4D"/>
                </a:solidFill>
                <a:latin typeface="Heebo"/>
                <a:ea typeface="Heebo"/>
                <a:cs typeface="Heebo"/>
                <a:sym typeface="Heebo"/>
              </a:rPr>
              <a:t>Manage social media accounts and posting schedules</a:t>
            </a:r>
          </a:p>
          <a:p>
            <a:pPr algn="l" marL="337820" indent="-168910" lvl="1">
              <a:lnSpc>
                <a:spcPts val="1780"/>
              </a:lnSpc>
              <a:buFont typeface="Arial"/>
              <a:buChar char="•"/>
            </a:pPr>
            <a:r>
              <a:rPr lang="en-US" sz="1399">
                <a:solidFill>
                  <a:srgbClr val="4C4C4D"/>
                </a:solidFill>
                <a:latin typeface="Heebo"/>
                <a:ea typeface="Heebo"/>
                <a:cs typeface="Heebo"/>
                <a:sym typeface="Heebo"/>
              </a:rPr>
              <a:t>Develop email marketing campaigns</a:t>
            </a:r>
          </a:p>
          <a:p>
            <a:pPr algn="l" marL="337820" indent="-168910" lvl="1">
              <a:lnSpc>
                <a:spcPts val="1780"/>
              </a:lnSpc>
              <a:buFont typeface="Arial"/>
              <a:buChar char="•"/>
            </a:pPr>
            <a:r>
              <a:rPr lang="en-US" sz="1399">
                <a:solidFill>
                  <a:srgbClr val="4C4C4D"/>
                </a:solidFill>
                <a:latin typeface="Heebo"/>
                <a:ea typeface="Heebo"/>
                <a:cs typeface="Heebo"/>
                <a:sym typeface="Heebo"/>
              </a:rPr>
              <a:t>Write blog posts and website copy</a:t>
            </a:r>
          </a:p>
        </p:txBody>
      </p:sp>
      <p:grpSp>
        <p:nvGrpSpPr>
          <p:cNvPr name="Group 19" id="19"/>
          <p:cNvGrpSpPr/>
          <p:nvPr/>
        </p:nvGrpSpPr>
        <p:grpSpPr>
          <a:xfrm rot="0">
            <a:off x="1080049" y="4586135"/>
            <a:ext cx="8009487" cy="1494234"/>
            <a:chOff x="0" y="0"/>
            <a:chExt cx="10679316" cy="1992312"/>
          </a:xfrm>
        </p:grpSpPr>
        <p:sp>
          <p:nvSpPr>
            <p:cNvPr name="Freeform 20" id="20"/>
            <p:cNvSpPr/>
            <p:nvPr/>
          </p:nvSpPr>
          <p:spPr>
            <a:xfrm flipH="false" flipV="false" rot="0">
              <a:off x="0" y="0"/>
              <a:ext cx="10679303" cy="1992249"/>
            </a:xfrm>
            <a:custGeom>
              <a:avLst/>
              <a:gdLst/>
              <a:ahLst/>
              <a:cxnLst/>
              <a:rect r="r" b="b" t="t" l="l"/>
              <a:pathLst>
                <a:path h="1992249" w="10679303">
                  <a:moveTo>
                    <a:pt x="0" y="36576"/>
                  </a:moveTo>
                  <a:cubicBezTo>
                    <a:pt x="0" y="16383"/>
                    <a:pt x="16383" y="0"/>
                    <a:pt x="36576" y="0"/>
                  </a:cubicBezTo>
                  <a:lnTo>
                    <a:pt x="10642727" y="0"/>
                  </a:lnTo>
                  <a:cubicBezTo>
                    <a:pt x="10662920" y="0"/>
                    <a:pt x="10679303" y="16383"/>
                    <a:pt x="10679303" y="36576"/>
                  </a:cubicBezTo>
                  <a:lnTo>
                    <a:pt x="10679303" y="1955673"/>
                  </a:lnTo>
                  <a:cubicBezTo>
                    <a:pt x="10679303" y="1975866"/>
                    <a:pt x="10662920" y="1992249"/>
                    <a:pt x="10642727" y="1992249"/>
                  </a:cubicBezTo>
                  <a:lnTo>
                    <a:pt x="36576" y="1992249"/>
                  </a:lnTo>
                  <a:cubicBezTo>
                    <a:pt x="16383" y="1992249"/>
                    <a:pt x="0" y="1975866"/>
                    <a:pt x="0" y="1955673"/>
                  </a:cubicBezTo>
                  <a:close/>
                </a:path>
              </a:pathLst>
            </a:custGeom>
            <a:solidFill>
              <a:srgbClr val="F2EEEE"/>
            </a:solidFill>
          </p:spPr>
        </p:sp>
      </p:grpSp>
      <p:sp>
        <p:nvSpPr>
          <p:cNvPr name="TextBox 21" id="21"/>
          <p:cNvSpPr txBox="true"/>
          <p:nvPr/>
        </p:nvSpPr>
        <p:spPr>
          <a:xfrm rot="0">
            <a:off x="1263253" y="4750298"/>
            <a:ext cx="7643070" cy="305248"/>
          </a:xfrm>
          <a:prstGeom prst="rect">
            <a:avLst/>
          </a:prstGeom>
        </p:spPr>
        <p:txBody>
          <a:bodyPr anchor="t" rtlCol="false" tIns="0" lIns="0" bIns="0" rIns="0">
            <a:spAutoFit/>
          </a:bodyPr>
          <a:lstStyle/>
          <a:p>
            <a:pPr algn="l">
              <a:lnSpc>
                <a:spcPts val="2246"/>
              </a:lnSpc>
            </a:pPr>
            <a:r>
              <a:rPr lang="en-US" sz="1800">
                <a:solidFill>
                  <a:srgbClr val="4C4C4D"/>
                </a:solidFill>
                <a:latin typeface="Crimson Pro"/>
                <a:ea typeface="Crimson Pro"/>
                <a:cs typeface="Crimson Pro"/>
                <a:sym typeface="Crimson Pro"/>
              </a:rPr>
              <a:t>Digital Marketing</a:t>
            </a:r>
          </a:p>
        </p:txBody>
      </p:sp>
      <p:sp>
        <p:nvSpPr>
          <p:cNvPr name="TextBox 22" id="22"/>
          <p:cNvSpPr txBox="true"/>
          <p:nvPr/>
        </p:nvSpPr>
        <p:spPr>
          <a:xfrm rot="0">
            <a:off x="1263253" y="5111201"/>
            <a:ext cx="7643070" cy="785965"/>
          </a:xfrm>
          <a:prstGeom prst="rect">
            <a:avLst/>
          </a:prstGeom>
        </p:spPr>
        <p:txBody>
          <a:bodyPr anchor="t" rtlCol="false" tIns="0" lIns="0" bIns="0" rIns="0">
            <a:spAutoFit/>
          </a:bodyPr>
          <a:lstStyle/>
          <a:p>
            <a:pPr algn="l" marL="337820" indent="-168910" lvl="1">
              <a:lnSpc>
                <a:spcPts val="1780"/>
              </a:lnSpc>
              <a:buFont typeface="Arial"/>
              <a:buChar char="•"/>
            </a:pPr>
            <a:r>
              <a:rPr lang="en-US" sz="1399">
                <a:solidFill>
                  <a:srgbClr val="4C4C4D"/>
                </a:solidFill>
                <a:latin typeface="Heebo"/>
                <a:ea typeface="Heebo"/>
                <a:cs typeface="Heebo"/>
                <a:sym typeface="Heebo"/>
              </a:rPr>
              <a:t>Manage paid advertising (Google Ads, social media ads)</a:t>
            </a:r>
          </a:p>
          <a:p>
            <a:pPr algn="l" marL="337820" indent="-168910" lvl="1">
              <a:lnSpc>
                <a:spcPts val="1780"/>
              </a:lnSpc>
              <a:buFont typeface="Arial"/>
              <a:buChar char="•"/>
            </a:pPr>
            <a:r>
              <a:rPr lang="en-US" sz="1399">
                <a:solidFill>
                  <a:srgbClr val="4C4C4D"/>
                </a:solidFill>
                <a:latin typeface="Heebo"/>
                <a:ea typeface="Heebo"/>
                <a:cs typeface="Heebo"/>
                <a:sym typeface="Heebo"/>
              </a:rPr>
              <a:t>Optimize website content for SEO</a:t>
            </a:r>
          </a:p>
          <a:p>
            <a:pPr algn="l" marL="337820" indent="-168910" lvl="1">
              <a:lnSpc>
                <a:spcPts val="1780"/>
              </a:lnSpc>
              <a:buFont typeface="Arial"/>
              <a:buChar char="•"/>
            </a:pPr>
            <a:r>
              <a:rPr lang="en-US" sz="1399">
                <a:solidFill>
                  <a:srgbClr val="4C4C4D"/>
                </a:solidFill>
                <a:latin typeface="Heebo"/>
                <a:ea typeface="Heebo"/>
                <a:cs typeface="Heebo"/>
                <a:sym typeface="Heebo"/>
              </a:rPr>
              <a:t>Monitor and improve digital marketing performance</a:t>
            </a:r>
          </a:p>
        </p:txBody>
      </p:sp>
      <p:grpSp>
        <p:nvGrpSpPr>
          <p:cNvPr name="Group 23" id="23"/>
          <p:cNvGrpSpPr/>
          <p:nvPr/>
        </p:nvGrpSpPr>
        <p:grpSpPr>
          <a:xfrm rot="0">
            <a:off x="9198321" y="4586135"/>
            <a:ext cx="8009630" cy="1494234"/>
            <a:chOff x="0" y="0"/>
            <a:chExt cx="10679506" cy="1992312"/>
          </a:xfrm>
        </p:grpSpPr>
        <p:sp>
          <p:nvSpPr>
            <p:cNvPr name="Freeform 24" id="24"/>
            <p:cNvSpPr/>
            <p:nvPr/>
          </p:nvSpPr>
          <p:spPr>
            <a:xfrm flipH="false" flipV="false" rot="0">
              <a:off x="0" y="0"/>
              <a:ext cx="10679430" cy="1992249"/>
            </a:xfrm>
            <a:custGeom>
              <a:avLst/>
              <a:gdLst/>
              <a:ahLst/>
              <a:cxnLst/>
              <a:rect r="r" b="b" t="t" l="l"/>
              <a:pathLst>
                <a:path h="1992249" w="10679430">
                  <a:moveTo>
                    <a:pt x="0" y="36576"/>
                  </a:moveTo>
                  <a:cubicBezTo>
                    <a:pt x="0" y="16383"/>
                    <a:pt x="16383" y="0"/>
                    <a:pt x="36576" y="0"/>
                  </a:cubicBezTo>
                  <a:lnTo>
                    <a:pt x="10642854" y="0"/>
                  </a:lnTo>
                  <a:cubicBezTo>
                    <a:pt x="10663048" y="0"/>
                    <a:pt x="10679430" y="16383"/>
                    <a:pt x="10679430" y="36576"/>
                  </a:cubicBezTo>
                  <a:lnTo>
                    <a:pt x="10679430" y="1955673"/>
                  </a:lnTo>
                  <a:cubicBezTo>
                    <a:pt x="10679430" y="1975866"/>
                    <a:pt x="10663048" y="1992249"/>
                    <a:pt x="10642854" y="1992249"/>
                  </a:cubicBezTo>
                  <a:lnTo>
                    <a:pt x="36576" y="1992249"/>
                  </a:lnTo>
                  <a:cubicBezTo>
                    <a:pt x="16383" y="1992249"/>
                    <a:pt x="0" y="1975866"/>
                    <a:pt x="0" y="1955673"/>
                  </a:cubicBezTo>
                  <a:close/>
                </a:path>
              </a:pathLst>
            </a:custGeom>
            <a:solidFill>
              <a:srgbClr val="F2EEEE"/>
            </a:solidFill>
          </p:spPr>
        </p:sp>
      </p:grpSp>
      <p:sp>
        <p:nvSpPr>
          <p:cNvPr name="TextBox 25" id="25"/>
          <p:cNvSpPr txBox="true"/>
          <p:nvPr/>
        </p:nvSpPr>
        <p:spPr>
          <a:xfrm rot="0">
            <a:off x="9381534" y="4750298"/>
            <a:ext cx="7643222" cy="305248"/>
          </a:xfrm>
          <a:prstGeom prst="rect">
            <a:avLst/>
          </a:prstGeom>
        </p:spPr>
        <p:txBody>
          <a:bodyPr anchor="t" rtlCol="false" tIns="0" lIns="0" bIns="0" rIns="0">
            <a:spAutoFit/>
          </a:bodyPr>
          <a:lstStyle/>
          <a:p>
            <a:pPr algn="l">
              <a:lnSpc>
                <a:spcPts val="2246"/>
              </a:lnSpc>
            </a:pPr>
            <a:r>
              <a:rPr lang="en-US" sz="1800">
                <a:solidFill>
                  <a:srgbClr val="4C4C4D"/>
                </a:solidFill>
                <a:latin typeface="Crimson Pro"/>
                <a:ea typeface="Crimson Pro"/>
                <a:cs typeface="Crimson Pro"/>
                <a:sym typeface="Crimson Pro"/>
              </a:rPr>
              <a:t>Analytics &amp; Reporting</a:t>
            </a:r>
          </a:p>
        </p:txBody>
      </p:sp>
      <p:sp>
        <p:nvSpPr>
          <p:cNvPr name="TextBox 26" id="26"/>
          <p:cNvSpPr txBox="true"/>
          <p:nvPr/>
        </p:nvSpPr>
        <p:spPr>
          <a:xfrm rot="0">
            <a:off x="9381534" y="5111201"/>
            <a:ext cx="7643222" cy="785965"/>
          </a:xfrm>
          <a:prstGeom prst="rect">
            <a:avLst/>
          </a:prstGeom>
        </p:spPr>
        <p:txBody>
          <a:bodyPr anchor="t" rtlCol="false" tIns="0" lIns="0" bIns="0" rIns="0">
            <a:spAutoFit/>
          </a:bodyPr>
          <a:lstStyle/>
          <a:p>
            <a:pPr algn="l" marL="337820" indent="-168910" lvl="1">
              <a:lnSpc>
                <a:spcPts val="1780"/>
              </a:lnSpc>
              <a:buFont typeface="Arial"/>
              <a:buChar char="•"/>
            </a:pPr>
            <a:r>
              <a:rPr lang="en-US" sz="1399">
                <a:solidFill>
                  <a:srgbClr val="4C4C4D"/>
                </a:solidFill>
                <a:latin typeface="Heebo"/>
                <a:ea typeface="Heebo"/>
                <a:cs typeface="Heebo"/>
                <a:sym typeface="Heebo"/>
              </a:rPr>
              <a:t>Track and analyze campaign metrics and KPIs</a:t>
            </a:r>
          </a:p>
          <a:p>
            <a:pPr algn="l" marL="337820" indent="-168910" lvl="1">
              <a:lnSpc>
                <a:spcPts val="1780"/>
              </a:lnSpc>
              <a:buFont typeface="Arial"/>
              <a:buChar char="•"/>
            </a:pPr>
            <a:r>
              <a:rPr lang="en-US" sz="1399">
                <a:solidFill>
                  <a:srgbClr val="4C4C4D"/>
                </a:solidFill>
                <a:latin typeface="Heebo"/>
                <a:ea typeface="Heebo"/>
                <a:cs typeface="Heebo"/>
                <a:sym typeface="Heebo"/>
              </a:rPr>
              <a:t>Prepare marketing reports and insights</a:t>
            </a:r>
          </a:p>
          <a:p>
            <a:pPr algn="l" marL="337820" indent="-168910" lvl="1">
              <a:lnSpc>
                <a:spcPts val="1780"/>
              </a:lnSpc>
              <a:buFont typeface="Arial"/>
              <a:buChar char="•"/>
            </a:pPr>
            <a:r>
              <a:rPr lang="en-US" sz="1399">
                <a:solidFill>
                  <a:srgbClr val="4C4C4D"/>
                </a:solidFill>
                <a:latin typeface="Heebo"/>
                <a:ea typeface="Heebo"/>
                <a:cs typeface="Heebo"/>
                <a:sym typeface="Heebo"/>
              </a:rPr>
              <a:t>Use data to optimize future campaigns</a:t>
            </a:r>
          </a:p>
        </p:txBody>
      </p:sp>
      <p:sp>
        <p:nvSpPr>
          <p:cNvPr name="TextBox 27" id="27"/>
          <p:cNvSpPr txBox="true"/>
          <p:nvPr/>
        </p:nvSpPr>
        <p:spPr>
          <a:xfrm rot="0">
            <a:off x="1080049" y="6292453"/>
            <a:ext cx="7840418" cy="305248"/>
          </a:xfrm>
          <a:prstGeom prst="rect">
            <a:avLst/>
          </a:prstGeom>
        </p:spPr>
        <p:txBody>
          <a:bodyPr anchor="t" rtlCol="false" tIns="0" lIns="0" bIns="0" rIns="0">
            <a:spAutoFit/>
          </a:bodyPr>
          <a:lstStyle/>
          <a:p>
            <a:pPr algn="l">
              <a:lnSpc>
                <a:spcPts val="2246"/>
              </a:lnSpc>
            </a:pPr>
            <a:r>
              <a:rPr lang="en-US" sz="1800">
                <a:solidFill>
                  <a:srgbClr val="152D47"/>
                </a:solidFill>
                <a:latin typeface="Crimson Pro"/>
                <a:ea typeface="Crimson Pro"/>
                <a:cs typeface="Crimson Pro"/>
                <a:sym typeface="Crimson Pro"/>
              </a:rPr>
              <a:t>Required Skills &amp; Experience</a:t>
            </a:r>
          </a:p>
        </p:txBody>
      </p:sp>
      <p:sp>
        <p:nvSpPr>
          <p:cNvPr name="TextBox 28" id="28"/>
          <p:cNvSpPr txBox="true"/>
          <p:nvPr/>
        </p:nvSpPr>
        <p:spPr>
          <a:xfrm rot="0">
            <a:off x="1080049" y="6696970"/>
            <a:ext cx="7840418" cy="1338415"/>
          </a:xfrm>
          <a:prstGeom prst="rect">
            <a:avLst/>
          </a:prstGeom>
        </p:spPr>
        <p:txBody>
          <a:bodyPr anchor="t" rtlCol="false" tIns="0" lIns="0" bIns="0" rIns="0">
            <a:spAutoFit/>
          </a:bodyPr>
          <a:lstStyle/>
          <a:p>
            <a:pPr algn="l" marL="337820" indent="-168910" lvl="1">
              <a:lnSpc>
                <a:spcPts val="1780"/>
              </a:lnSpc>
              <a:buFont typeface="Arial"/>
              <a:buChar char="•"/>
            </a:pPr>
            <a:r>
              <a:rPr lang="en-US" sz="1399">
                <a:solidFill>
                  <a:srgbClr val="4C4C4D"/>
                </a:solidFill>
                <a:latin typeface="Heebo"/>
                <a:ea typeface="Heebo"/>
                <a:cs typeface="Heebo"/>
                <a:sym typeface="Heebo"/>
              </a:rPr>
              <a:t>Digital marketing expertise and content creation/copywriting</a:t>
            </a:r>
          </a:p>
          <a:p>
            <a:pPr algn="l" marL="337820" indent="-168910" lvl="1">
              <a:lnSpc>
                <a:spcPts val="1780"/>
              </a:lnSpc>
              <a:buFont typeface="Arial"/>
              <a:buChar char="•"/>
            </a:pPr>
            <a:r>
              <a:rPr lang="en-US" sz="1399">
                <a:solidFill>
                  <a:srgbClr val="4C4C4D"/>
                </a:solidFill>
                <a:latin typeface="Heebo"/>
                <a:ea typeface="Heebo"/>
                <a:cs typeface="Heebo"/>
                <a:sym typeface="Heebo"/>
              </a:rPr>
              <a:t>Social media management and analytics/data interpretation</a:t>
            </a:r>
          </a:p>
          <a:p>
            <a:pPr algn="l" marL="337820" indent="-168910" lvl="1">
              <a:lnSpc>
                <a:spcPts val="1780"/>
              </a:lnSpc>
              <a:buFont typeface="Arial"/>
              <a:buChar char="•"/>
            </a:pPr>
            <a:r>
              <a:rPr lang="en-US" sz="1399">
                <a:solidFill>
                  <a:srgbClr val="4C4C4D"/>
                </a:solidFill>
                <a:latin typeface="Heebo"/>
                <a:ea typeface="Heebo"/>
                <a:cs typeface="Heebo"/>
                <a:sym typeface="Heebo"/>
              </a:rPr>
              <a:t>Project management skills</a:t>
            </a:r>
          </a:p>
          <a:p>
            <a:pPr algn="l" marL="337820" indent="-168910" lvl="1">
              <a:lnSpc>
                <a:spcPts val="1780"/>
              </a:lnSpc>
              <a:buFont typeface="Arial"/>
              <a:buChar char="•"/>
            </a:pPr>
            <a:r>
              <a:rPr lang="en-US" sz="1399">
                <a:solidFill>
                  <a:srgbClr val="4C4C4D"/>
                </a:solidFill>
                <a:latin typeface="Heebo"/>
                <a:ea typeface="Heebo"/>
                <a:cs typeface="Heebo"/>
                <a:sym typeface="Heebo"/>
              </a:rPr>
              <a:t>[X] years of marketing experience</a:t>
            </a:r>
          </a:p>
          <a:p>
            <a:pPr algn="l" marL="337820" indent="-168910" lvl="1">
              <a:lnSpc>
                <a:spcPts val="1780"/>
              </a:lnSpc>
              <a:buFont typeface="Arial"/>
              <a:buChar char="•"/>
            </a:pPr>
            <a:r>
              <a:rPr lang="en-US" sz="1399">
                <a:solidFill>
                  <a:srgbClr val="4C4C4D"/>
                </a:solidFill>
                <a:latin typeface="Heebo"/>
                <a:ea typeface="Heebo"/>
                <a:cs typeface="Heebo"/>
                <a:sym typeface="Heebo"/>
              </a:rPr>
              <a:t>Proven success with digital marketing campaigns</a:t>
            </a:r>
          </a:p>
        </p:txBody>
      </p:sp>
      <p:sp>
        <p:nvSpPr>
          <p:cNvPr name="TextBox 29" id="29"/>
          <p:cNvSpPr txBox="true"/>
          <p:nvPr/>
        </p:nvSpPr>
        <p:spPr>
          <a:xfrm rot="0">
            <a:off x="9377067" y="6292453"/>
            <a:ext cx="7840418" cy="305248"/>
          </a:xfrm>
          <a:prstGeom prst="rect">
            <a:avLst/>
          </a:prstGeom>
        </p:spPr>
        <p:txBody>
          <a:bodyPr anchor="t" rtlCol="false" tIns="0" lIns="0" bIns="0" rIns="0">
            <a:spAutoFit/>
          </a:bodyPr>
          <a:lstStyle/>
          <a:p>
            <a:pPr algn="l">
              <a:lnSpc>
                <a:spcPts val="2246"/>
              </a:lnSpc>
            </a:pPr>
            <a:r>
              <a:rPr lang="en-US" sz="1800">
                <a:solidFill>
                  <a:srgbClr val="152D47"/>
                </a:solidFill>
                <a:latin typeface="Crimson Pro"/>
                <a:ea typeface="Crimson Pro"/>
                <a:cs typeface="Crimson Pro"/>
                <a:sym typeface="Crimson Pro"/>
              </a:rPr>
              <a:t>Preferred Skills</a:t>
            </a:r>
          </a:p>
        </p:txBody>
      </p:sp>
      <p:sp>
        <p:nvSpPr>
          <p:cNvPr name="TextBox 30" id="30"/>
          <p:cNvSpPr txBox="true"/>
          <p:nvPr/>
        </p:nvSpPr>
        <p:spPr>
          <a:xfrm rot="0">
            <a:off x="9377067" y="6696970"/>
            <a:ext cx="7840418" cy="795490"/>
          </a:xfrm>
          <a:prstGeom prst="rect">
            <a:avLst/>
          </a:prstGeom>
        </p:spPr>
        <p:txBody>
          <a:bodyPr anchor="t" rtlCol="false" tIns="0" lIns="0" bIns="0" rIns="0">
            <a:spAutoFit/>
          </a:bodyPr>
          <a:lstStyle/>
          <a:p>
            <a:pPr algn="l" marL="337820" indent="-168910" lvl="1">
              <a:lnSpc>
                <a:spcPts val="1780"/>
              </a:lnSpc>
              <a:buFont typeface="Arial"/>
              <a:buChar char="•"/>
            </a:pPr>
            <a:r>
              <a:rPr lang="en-US" sz="1399">
                <a:solidFill>
                  <a:srgbClr val="4C4C4D"/>
                </a:solidFill>
                <a:latin typeface="Heebo"/>
                <a:ea typeface="Heebo"/>
                <a:cs typeface="Heebo"/>
                <a:sym typeface="Heebo"/>
              </a:rPr>
              <a:t>Graphic design or video editing</a:t>
            </a:r>
          </a:p>
          <a:p>
            <a:pPr algn="l" marL="337820" indent="-168910" lvl="1">
              <a:lnSpc>
                <a:spcPts val="1780"/>
              </a:lnSpc>
              <a:buFont typeface="Arial"/>
              <a:buChar char="•"/>
            </a:pPr>
            <a:r>
              <a:rPr lang="en-US" sz="1399">
                <a:solidFill>
                  <a:srgbClr val="4C4C4D"/>
                </a:solidFill>
                <a:latin typeface="Heebo"/>
                <a:ea typeface="Heebo"/>
                <a:cs typeface="Heebo"/>
                <a:sym typeface="Heebo"/>
              </a:rPr>
              <a:t>Marketing automation tools</a:t>
            </a:r>
          </a:p>
          <a:p>
            <a:pPr algn="l" marL="337820" indent="-168910" lvl="1">
              <a:lnSpc>
                <a:spcPts val="1780"/>
              </a:lnSpc>
              <a:buFont typeface="Arial"/>
              <a:buChar char="•"/>
            </a:pPr>
            <a:r>
              <a:rPr lang="en-US" sz="1399">
                <a:solidFill>
                  <a:srgbClr val="4C4C4D"/>
                </a:solidFill>
                <a:latin typeface="Consolas"/>
                <a:ea typeface="Consolas"/>
                <a:cs typeface="Consolas"/>
                <a:sym typeface="Consolas"/>
              </a:rPr>
              <a:t>Experience with [specific industry or platform]</a:t>
            </a:r>
          </a:p>
        </p:txBody>
      </p:sp>
      <p:sp>
        <p:nvSpPr>
          <p:cNvPr name="TextBox 31" id="31"/>
          <p:cNvSpPr txBox="true"/>
          <p:nvPr/>
        </p:nvSpPr>
        <p:spPr>
          <a:xfrm rot="0">
            <a:off x="9377067" y="7582195"/>
            <a:ext cx="7840418" cy="305248"/>
          </a:xfrm>
          <a:prstGeom prst="rect">
            <a:avLst/>
          </a:prstGeom>
        </p:spPr>
        <p:txBody>
          <a:bodyPr anchor="t" rtlCol="false" tIns="0" lIns="0" bIns="0" rIns="0">
            <a:spAutoFit/>
          </a:bodyPr>
          <a:lstStyle/>
          <a:p>
            <a:pPr algn="l">
              <a:lnSpc>
                <a:spcPts val="2246"/>
              </a:lnSpc>
            </a:pPr>
            <a:r>
              <a:rPr lang="en-US" sz="1800">
                <a:solidFill>
                  <a:srgbClr val="152D47"/>
                </a:solidFill>
                <a:latin typeface="Crimson Pro"/>
                <a:ea typeface="Crimson Pro"/>
                <a:cs typeface="Crimson Pro"/>
                <a:sym typeface="Crimson Pro"/>
              </a:rPr>
              <a:t>What We Offer</a:t>
            </a:r>
          </a:p>
        </p:txBody>
      </p:sp>
      <p:sp>
        <p:nvSpPr>
          <p:cNvPr name="TextBox 32" id="32"/>
          <p:cNvSpPr txBox="true"/>
          <p:nvPr/>
        </p:nvSpPr>
        <p:spPr>
          <a:xfrm rot="0">
            <a:off x="9377067" y="7986713"/>
            <a:ext cx="7840418" cy="524027"/>
          </a:xfrm>
          <a:prstGeom prst="rect">
            <a:avLst/>
          </a:prstGeom>
        </p:spPr>
        <p:txBody>
          <a:bodyPr anchor="t" rtlCol="false" tIns="0" lIns="0" bIns="0" rIns="0">
            <a:spAutoFit/>
          </a:bodyPr>
          <a:lstStyle/>
          <a:p>
            <a:pPr algn="l" marL="337820" indent="-168910" lvl="1">
              <a:lnSpc>
                <a:spcPts val="1780"/>
              </a:lnSpc>
              <a:buFont typeface="Arial"/>
              <a:buChar char="•"/>
            </a:pPr>
            <a:r>
              <a:rPr lang="en-US" sz="1399">
                <a:solidFill>
                  <a:srgbClr val="4C4C4D"/>
                </a:solidFill>
                <a:latin typeface="Heebo"/>
                <a:ea typeface="Heebo"/>
                <a:cs typeface="Heebo"/>
                <a:sym typeface="Heebo"/>
              </a:rPr>
              <a:t>Competitive salary and benefits; creative work environment</a:t>
            </a:r>
          </a:p>
          <a:p>
            <a:pPr algn="l" marL="337820" indent="-168910" lvl="1">
              <a:lnSpc>
                <a:spcPts val="1780"/>
              </a:lnSpc>
              <a:buFont typeface="Arial"/>
              <a:buChar char="•"/>
            </a:pPr>
            <a:r>
              <a:rPr lang="en-US" sz="1399">
                <a:solidFill>
                  <a:srgbClr val="4C4C4D"/>
                </a:solidFill>
                <a:latin typeface="Heebo"/>
                <a:ea typeface="Heebo"/>
                <a:cs typeface="Heebo"/>
                <a:sym typeface="Heebo"/>
              </a:rPr>
              <a:t>Professional development opportunities; [additional benefits]</a:t>
            </a:r>
          </a:p>
        </p:txBody>
      </p:sp>
      <p:sp>
        <p:nvSpPr>
          <p:cNvPr name="TextBox 33" id="33"/>
          <p:cNvSpPr txBox="true"/>
          <p:nvPr/>
        </p:nvSpPr>
        <p:spPr>
          <a:xfrm rot="0">
            <a:off x="9377067" y="8600484"/>
            <a:ext cx="7840418" cy="305248"/>
          </a:xfrm>
          <a:prstGeom prst="rect">
            <a:avLst/>
          </a:prstGeom>
        </p:spPr>
        <p:txBody>
          <a:bodyPr anchor="t" rtlCol="false" tIns="0" lIns="0" bIns="0" rIns="0">
            <a:spAutoFit/>
          </a:bodyPr>
          <a:lstStyle/>
          <a:p>
            <a:pPr algn="l">
              <a:lnSpc>
                <a:spcPts val="2246"/>
              </a:lnSpc>
            </a:pPr>
            <a:r>
              <a:rPr lang="en-US" sz="1800">
                <a:solidFill>
                  <a:srgbClr val="152D47"/>
                </a:solidFill>
                <a:latin typeface="Crimson Pro"/>
                <a:ea typeface="Crimson Pro"/>
                <a:cs typeface="Crimson Pro"/>
                <a:sym typeface="Crimson Pro"/>
              </a:rPr>
              <a:t>Application</a:t>
            </a:r>
          </a:p>
        </p:txBody>
      </p:sp>
      <p:sp>
        <p:nvSpPr>
          <p:cNvPr name="TextBox 34" id="34"/>
          <p:cNvSpPr txBox="true"/>
          <p:nvPr/>
        </p:nvSpPr>
        <p:spPr>
          <a:xfrm rot="0">
            <a:off x="9377067" y="9004992"/>
            <a:ext cx="8754818" cy="252565"/>
          </a:xfrm>
          <a:prstGeom prst="rect">
            <a:avLst/>
          </a:prstGeom>
        </p:spPr>
        <p:txBody>
          <a:bodyPr anchor="t" rtlCol="false" tIns="0" lIns="0" bIns="0" rIns="0">
            <a:spAutoFit/>
          </a:bodyPr>
          <a:lstStyle/>
          <a:p>
            <a:pPr algn="l">
              <a:lnSpc>
                <a:spcPts val="1780"/>
              </a:lnSpc>
            </a:pPr>
            <a:r>
              <a:rPr lang="en-US" sz="1399">
                <a:solidFill>
                  <a:srgbClr val="4C4C4D"/>
                </a:solidFill>
                <a:latin typeface="Heebo"/>
                <a:ea typeface="Heebo"/>
                <a:cs typeface="Heebo"/>
                <a:sym typeface="Heebo"/>
              </a:rPr>
              <a:t>Send resume and portfolio to [email] or apply via [link]</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0F0F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1080049" y="869004"/>
            <a:ext cx="16127911" cy="576558"/>
          </a:xfrm>
          <a:prstGeom prst="rect">
            <a:avLst/>
          </a:prstGeom>
        </p:spPr>
        <p:txBody>
          <a:bodyPr anchor="t" rtlCol="false" tIns="0" lIns="0" bIns="0" rIns="0">
            <a:spAutoFit/>
          </a:bodyPr>
          <a:lstStyle/>
          <a:p>
            <a:pPr algn="l">
              <a:lnSpc>
                <a:spcPts val="4368"/>
              </a:lnSpc>
            </a:pPr>
            <a:r>
              <a:rPr lang="en-US" sz="3500">
                <a:solidFill>
                  <a:srgbClr val="152D47"/>
                </a:solidFill>
                <a:latin typeface="Crimson Pro"/>
                <a:ea typeface="Crimson Pro"/>
                <a:cs typeface="Crimson Pro"/>
                <a:sym typeface="Crimson Pro"/>
              </a:rPr>
              <a:t>Accountant / Finance Executive</a:t>
            </a:r>
          </a:p>
        </p:txBody>
      </p:sp>
      <p:grpSp>
        <p:nvGrpSpPr>
          <p:cNvPr name="Group 7" id="7"/>
          <p:cNvGrpSpPr/>
          <p:nvPr/>
        </p:nvGrpSpPr>
        <p:grpSpPr>
          <a:xfrm rot="0">
            <a:off x="1080049" y="1651845"/>
            <a:ext cx="3530356" cy="270872"/>
            <a:chOff x="0" y="0"/>
            <a:chExt cx="4707141" cy="361163"/>
          </a:xfrm>
        </p:grpSpPr>
        <p:sp>
          <p:nvSpPr>
            <p:cNvPr name="Freeform 8" id="8"/>
            <p:cNvSpPr/>
            <p:nvPr/>
          </p:nvSpPr>
          <p:spPr>
            <a:xfrm flipH="false" flipV="false" rot="0">
              <a:off x="0" y="0"/>
              <a:ext cx="4707128" cy="361188"/>
            </a:xfrm>
            <a:custGeom>
              <a:avLst/>
              <a:gdLst/>
              <a:ahLst/>
              <a:cxnLst/>
              <a:rect r="r" b="b" t="t" l="l"/>
              <a:pathLst>
                <a:path h="361188" w="4707128">
                  <a:moveTo>
                    <a:pt x="0" y="28575"/>
                  </a:moveTo>
                  <a:cubicBezTo>
                    <a:pt x="0" y="12827"/>
                    <a:pt x="12827" y="0"/>
                    <a:pt x="28575" y="0"/>
                  </a:cubicBezTo>
                  <a:lnTo>
                    <a:pt x="4678553" y="0"/>
                  </a:lnTo>
                  <a:cubicBezTo>
                    <a:pt x="4694301" y="0"/>
                    <a:pt x="4707128" y="12827"/>
                    <a:pt x="4707128" y="28575"/>
                  </a:cubicBezTo>
                  <a:lnTo>
                    <a:pt x="4707128" y="332613"/>
                  </a:lnTo>
                  <a:cubicBezTo>
                    <a:pt x="4707128" y="348361"/>
                    <a:pt x="4694301" y="361188"/>
                    <a:pt x="4678553" y="361188"/>
                  </a:cubicBezTo>
                  <a:lnTo>
                    <a:pt x="28575" y="361188"/>
                  </a:lnTo>
                  <a:cubicBezTo>
                    <a:pt x="12827" y="361188"/>
                    <a:pt x="0" y="348361"/>
                    <a:pt x="0" y="332613"/>
                  </a:cubicBezTo>
                  <a:close/>
                </a:path>
              </a:pathLst>
            </a:custGeom>
            <a:solidFill>
              <a:srgbClr val="CCD7FF"/>
            </a:solidFill>
          </p:spPr>
        </p:sp>
      </p:grpSp>
      <p:sp>
        <p:nvSpPr>
          <p:cNvPr name="TextBox 9" id="9"/>
          <p:cNvSpPr txBox="true"/>
          <p:nvPr/>
        </p:nvSpPr>
        <p:spPr>
          <a:xfrm rot="0">
            <a:off x="1187053" y="1714795"/>
            <a:ext cx="4230738" cy="154486"/>
          </a:xfrm>
          <a:prstGeom prst="rect">
            <a:avLst/>
          </a:prstGeom>
        </p:spPr>
        <p:txBody>
          <a:bodyPr anchor="t" rtlCol="false" tIns="0" lIns="0" bIns="0" rIns="0">
            <a:spAutoFit/>
          </a:bodyPr>
          <a:lstStyle/>
          <a:p>
            <a:pPr algn="l">
              <a:lnSpc>
                <a:spcPts val="1267"/>
              </a:lnSpc>
            </a:pPr>
            <a:r>
              <a:rPr lang="en-US" sz="1100">
                <a:solidFill>
                  <a:srgbClr val="4C4C4D"/>
                </a:solidFill>
                <a:latin typeface="Heebo"/>
                <a:ea typeface="Heebo"/>
                <a:cs typeface="Heebo"/>
                <a:sym typeface="Heebo"/>
              </a:rPr>
              <a:t>FULL-TIME  |  [CITY, COUNTRY]  |  [COMPANY NAME]</a:t>
            </a:r>
          </a:p>
        </p:txBody>
      </p:sp>
      <p:sp>
        <p:nvSpPr>
          <p:cNvPr name="TextBox 10" id="10"/>
          <p:cNvSpPr txBox="true"/>
          <p:nvPr/>
        </p:nvSpPr>
        <p:spPr>
          <a:xfrm rot="0">
            <a:off x="1080049" y="2029120"/>
            <a:ext cx="16127911" cy="459877"/>
          </a:xfrm>
          <a:prstGeom prst="rect">
            <a:avLst/>
          </a:prstGeom>
        </p:spPr>
        <p:txBody>
          <a:bodyPr anchor="t" rtlCol="false" tIns="0" lIns="0" bIns="0" rIns="0">
            <a:spAutoFit/>
          </a:bodyPr>
          <a:lstStyle/>
          <a:p>
            <a:pPr algn="l">
              <a:lnSpc>
                <a:spcPts val="1763"/>
              </a:lnSpc>
            </a:pPr>
            <a:r>
              <a:rPr lang="en-US" sz="1399">
                <a:solidFill>
                  <a:srgbClr val="4C4C4D"/>
                </a:solidFill>
                <a:latin typeface="Heebo"/>
                <a:ea typeface="Heebo"/>
                <a:cs typeface="Heebo"/>
                <a:sym typeface="Heebo"/>
              </a:rPr>
              <a:t>We are looking for an Accountant / Finance Executive to manage our financial records, prepare reports, and ensure compliance with accounting standards. You will support financial planning and decision-making across the organization.</a:t>
            </a:r>
          </a:p>
        </p:txBody>
      </p:sp>
      <p:grpSp>
        <p:nvGrpSpPr>
          <p:cNvPr name="Group 11" id="11"/>
          <p:cNvGrpSpPr/>
          <p:nvPr/>
        </p:nvGrpSpPr>
        <p:grpSpPr>
          <a:xfrm rot="0">
            <a:off x="1080049" y="2604935"/>
            <a:ext cx="5307206" cy="2156222"/>
            <a:chOff x="0" y="0"/>
            <a:chExt cx="7076275" cy="2874962"/>
          </a:xfrm>
        </p:grpSpPr>
        <p:sp>
          <p:nvSpPr>
            <p:cNvPr name="Freeform 12" id="12"/>
            <p:cNvSpPr/>
            <p:nvPr/>
          </p:nvSpPr>
          <p:spPr>
            <a:xfrm flipH="false" flipV="false" rot="0">
              <a:off x="0" y="0"/>
              <a:ext cx="7076313" cy="2875026"/>
            </a:xfrm>
            <a:custGeom>
              <a:avLst/>
              <a:gdLst/>
              <a:ahLst/>
              <a:cxnLst/>
              <a:rect r="r" b="b" t="t" l="l"/>
              <a:pathLst>
                <a:path h="2875026" w="7076313">
                  <a:moveTo>
                    <a:pt x="0" y="35687"/>
                  </a:moveTo>
                  <a:cubicBezTo>
                    <a:pt x="0" y="16002"/>
                    <a:pt x="16002" y="0"/>
                    <a:pt x="35687" y="0"/>
                  </a:cubicBezTo>
                  <a:lnTo>
                    <a:pt x="7040626" y="0"/>
                  </a:lnTo>
                  <a:cubicBezTo>
                    <a:pt x="7060311" y="0"/>
                    <a:pt x="7076313" y="16002"/>
                    <a:pt x="7076313" y="35687"/>
                  </a:cubicBezTo>
                  <a:lnTo>
                    <a:pt x="7076313" y="2839339"/>
                  </a:lnTo>
                  <a:cubicBezTo>
                    <a:pt x="7076313" y="2859024"/>
                    <a:pt x="7060311" y="2875026"/>
                    <a:pt x="7040626" y="2875026"/>
                  </a:cubicBezTo>
                  <a:lnTo>
                    <a:pt x="35687" y="2875026"/>
                  </a:lnTo>
                  <a:cubicBezTo>
                    <a:pt x="16002" y="2875026"/>
                    <a:pt x="0" y="2859024"/>
                    <a:pt x="0" y="2839339"/>
                  </a:cubicBezTo>
                  <a:close/>
                </a:path>
              </a:pathLst>
            </a:custGeom>
            <a:solidFill>
              <a:srgbClr val="F2EEEE"/>
            </a:solidFill>
          </p:spPr>
        </p:sp>
      </p:grpSp>
      <p:sp>
        <p:nvSpPr>
          <p:cNvPr name="TextBox 13" id="13"/>
          <p:cNvSpPr txBox="true"/>
          <p:nvPr/>
        </p:nvSpPr>
        <p:spPr>
          <a:xfrm rot="0">
            <a:off x="1258338" y="2764184"/>
            <a:ext cx="4950619" cy="297809"/>
          </a:xfrm>
          <a:prstGeom prst="rect">
            <a:avLst/>
          </a:prstGeom>
        </p:spPr>
        <p:txBody>
          <a:bodyPr anchor="t" rtlCol="false" tIns="0" lIns="0" bIns="0" rIns="0">
            <a:spAutoFit/>
          </a:bodyPr>
          <a:lstStyle/>
          <a:p>
            <a:pPr algn="l">
              <a:lnSpc>
                <a:spcPts val="2121"/>
              </a:lnSpc>
            </a:pPr>
            <a:r>
              <a:rPr lang="en-US" sz="1700">
                <a:solidFill>
                  <a:srgbClr val="4C4C4D"/>
                </a:solidFill>
                <a:latin typeface="Crimson Pro"/>
                <a:ea typeface="Crimson Pro"/>
                <a:cs typeface="Crimson Pro"/>
                <a:sym typeface="Crimson Pro"/>
              </a:rPr>
              <a:t>Financial Operations</a:t>
            </a:r>
          </a:p>
        </p:txBody>
      </p:sp>
      <p:sp>
        <p:nvSpPr>
          <p:cNvPr name="TextBox 14" id="14"/>
          <p:cNvSpPr txBox="true"/>
          <p:nvPr/>
        </p:nvSpPr>
        <p:spPr>
          <a:xfrm rot="0">
            <a:off x="1258338" y="3114227"/>
            <a:ext cx="4950619" cy="1018280"/>
          </a:xfrm>
          <a:prstGeom prst="rect">
            <a:avLst/>
          </a:prstGeom>
        </p:spPr>
        <p:txBody>
          <a:bodyPr anchor="t" rtlCol="false" tIns="0" lIns="0" bIns="0" rIns="0">
            <a:spAutoFit/>
          </a:bodyPr>
          <a:lstStyle/>
          <a:p>
            <a:pPr algn="l" marL="337820" indent="-168910" lvl="1">
              <a:lnSpc>
                <a:spcPts val="1763"/>
              </a:lnSpc>
              <a:buFont typeface="Arial"/>
              <a:buChar char="•"/>
            </a:pPr>
            <a:r>
              <a:rPr lang="en-US" sz="1399">
                <a:solidFill>
                  <a:srgbClr val="4C4C4D"/>
                </a:solidFill>
                <a:latin typeface="Heebo"/>
                <a:ea typeface="Heebo"/>
                <a:cs typeface="Heebo"/>
                <a:sym typeface="Heebo"/>
              </a:rPr>
              <a:t>Manage accounts payable and accounts receivable</a:t>
            </a:r>
          </a:p>
          <a:p>
            <a:pPr algn="l" marL="337820" indent="-168910" lvl="1">
              <a:lnSpc>
                <a:spcPts val="1763"/>
              </a:lnSpc>
              <a:buFont typeface="Arial"/>
              <a:buChar char="•"/>
            </a:pPr>
            <a:r>
              <a:rPr lang="en-US" sz="1399">
                <a:solidFill>
                  <a:srgbClr val="4C4C4D"/>
                </a:solidFill>
                <a:latin typeface="Heebo"/>
                <a:ea typeface="Heebo"/>
                <a:cs typeface="Heebo"/>
                <a:sym typeface="Heebo"/>
              </a:rPr>
              <a:t>Process invoices, payments, and expense reports</a:t>
            </a:r>
          </a:p>
          <a:p>
            <a:pPr algn="l" marL="337820" indent="-168910" lvl="1">
              <a:lnSpc>
                <a:spcPts val="1763"/>
              </a:lnSpc>
              <a:buFont typeface="Arial"/>
              <a:buChar char="•"/>
            </a:pPr>
            <a:r>
              <a:rPr lang="en-US" sz="1399">
                <a:solidFill>
                  <a:srgbClr val="4C4C4D"/>
                </a:solidFill>
                <a:latin typeface="Heebo"/>
                <a:ea typeface="Heebo"/>
                <a:cs typeface="Heebo"/>
                <a:sym typeface="Heebo"/>
              </a:rPr>
              <a:t>Reconcile bank statements and general ledger accounts</a:t>
            </a:r>
          </a:p>
          <a:p>
            <a:pPr algn="l" marL="337820" indent="-168910" lvl="1">
              <a:lnSpc>
                <a:spcPts val="1763"/>
              </a:lnSpc>
              <a:buFont typeface="Arial"/>
              <a:buChar char="•"/>
            </a:pPr>
            <a:r>
              <a:rPr lang="en-US" sz="1399">
                <a:solidFill>
                  <a:srgbClr val="4C4C4D"/>
                </a:solidFill>
                <a:latin typeface="Heebo"/>
                <a:ea typeface="Heebo"/>
                <a:cs typeface="Heebo"/>
                <a:sym typeface="Heebo"/>
              </a:rPr>
              <a:t>Prepare journal entries and financial transactions</a:t>
            </a:r>
          </a:p>
        </p:txBody>
      </p:sp>
      <p:grpSp>
        <p:nvGrpSpPr>
          <p:cNvPr name="Group 15" id="15"/>
          <p:cNvGrpSpPr/>
          <p:nvPr/>
        </p:nvGrpSpPr>
        <p:grpSpPr>
          <a:xfrm rot="0">
            <a:off x="6490392" y="2604935"/>
            <a:ext cx="5307206" cy="2156222"/>
            <a:chOff x="0" y="0"/>
            <a:chExt cx="7076275" cy="2874962"/>
          </a:xfrm>
        </p:grpSpPr>
        <p:sp>
          <p:nvSpPr>
            <p:cNvPr name="Freeform 16" id="16"/>
            <p:cNvSpPr/>
            <p:nvPr/>
          </p:nvSpPr>
          <p:spPr>
            <a:xfrm flipH="false" flipV="false" rot="0">
              <a:off x="0" y="0"/>
              <a:ext cx="7076313" cy="2875026"/>
            </a:xfrm>
            <a:custGeom>
              <a:avLst/>
              <a:gdLst/>
              <a:ahLst/>
              <a:cxnLst/>
              <a:rect r="r" b="b" t="t" l="l"/>
              <a:pathLst>
                <a:path h="2875026" w="7076313">
                  <a:moveTo>
                    <a:pt x="0" y="35687"/>
                  </a:moveTo>
                  <a:cubicBezTo>
                    <a:pt x="0" y="16002"/>
                    <a:pt x="16002" y="0"/>
                    <a:pt x="35687" y="0"/>
                  </a:cubicBezTo>
                  <a:lnTo>
                    <a:pt x="7040626" y="0"/>
                  </a:lnTo>
                  <a:cubicBezTo>
                    <a:pt x="7060311" y="0"/>
                    <a:pt x="7076313" y="16002"/>
                    <a:pt x="7076313" y="35687"/>
                  </a:cubicBezTo>
                  <a:lnTo>
                    <a:pt x="7076313" y="2839339"/>
                  </a:lnTo>
                  <a:cubicBezTo>
                    <a:pt x="7076313" y="2859024"/>
                    <a:pt x="7060311" y="2875026"/>
                    <a:pt x="7040626" y="2875026"/>
                  </a:cubicBezTo>
                  <a:lnTo>
                    <a:pt x="35687" y="2875026"/>
                  </a:lnTo>
                  <a:cubicBezTo>
                    <a:pt x="16002" y="2875026"/>
                    <a:pt x="0" y="2859024"/>
                    <a:pt x="0" y="2839339"/>
                  </a:cubicBezTo>
                  <a:close/>
                </a:path>
              </a:pathLst>
            </a:custGeom>
            <a:solidFill>
              <a:srgbClr val="F2EEEE"/>
            </a:solidFill>
          </p:spPr>
        </p:sp>
      </p:grpSp>
      <p:sp>
        <p:nvSpPr>
          <p:cNvPr name="TextBox 17" id="17"/>
          <p:cNvSpPr txBox="true"/>
          <p:nvPr/>
        </p:nvSpPr>
        <p:spPr>
          <a:xfrm rot="0">
            <a:off x="6668691" y="2764184"/>
            <a:ext cx="4950619" cy="297809"/>
          </a:xfrm>
          <a:prstGeom prst="rect">
            <a:avLst/>
          </a:prstGeom>
        </p:spPr>
        <p:txBody>
          <a:bodyPr anchor="t" rtlCol="false" tIns="0" lIns="0" bIns="0" rIns="0">
            <a:spAutoFit/>
          </a:bodyPr>
          <a:lstStyle/>
          <a:p>
            <a:pPr algn="l">
              <a:lnSpc>
                <a:spcPts val="2121"/>
              </a:lnSpc>
            </a:pPr>
            <a:r>
              <a:rPr lang="en-US" sz="1700">
                <a:solidFill>
                  <a:srgbClr val="4C4C4D"/>
                </a:solidFill>
                <a:latin typeface="Crimson Pro"/>
                <a:ea typeface="Crimson Pro"/>
                <a:cs typeface="Crimson Pro"/>
                <a:sym typeface="Crimson Pro"/>
              </a:rPr>
              <a:t>Reporting</a:t>
            </a:r>
          </a:p>
        </p:txBody>
      </p:sp>
      <p:sp>
        <p:nvSpPr>
          <p:cNvPr name="TextBox 18" id="18"/>
          <p:cNvSpPr txBox="true"/>
          <p:nvPr/>
        </p:nvSpPr>
        <p:spPr>
          <a:xfrm rot="0">
            <a:off x="6668691" y="3114227"/>
            <a:ext cx="4950619" cy="1468631"/>
          </a:xfrm>
          <a:prstGeom prst="rect">
            <a:avLst/>
          </a:prstGeom>
        </p:spPr>
        <p:txBody>
          <a:bodyPr anchor="t" rtlCol="false" tIns="0" lIns="0" bIns="0" rIns="0">
            <a:spAutoFit/>
          </a:bodyPr>
          <a:lstStyle/>
          <a:p>
            <a:pPr algn="l" marL="337820" indent="-168910" lvl="1">
              <a:lnSpc>
                <a:spcPts val="1763"/>
              </a:lnSpc>
              <a:buFont typeface="Arial"/>
              <a:buChar char="•"/>
            </a:pPr>
            <a:r>
              <a:rPr lang="en-US" sz="1399">
                <a:solidFill>
                  <a:srgbClr val="4C4C4D"/>
                </a:solidFill>
                <a:latin typeface="Heebo"/>
                <a:ea typeface="Heebo"/>
                <a:cs typeface="Heebo"/>
                <a:sym typeface="Heebo"/>
              </a:rPr>
              <a:t>Prepare monthly, quarterly, and annual financial statements</a:t>
            </a:r>
          </a:p>
          <a:p>
            <a:pPr algn="l" marL="337820" indent="-168910" lvl="1">
              <a:lnSpc>
                <a:spcPts val="1763"/>
              </a:lnSpc>
              <a:buFont typeface="Arial"/>
              <a:buChar char="•"/>
            </a:pPr>
            <a:r>
              <a:rPr lang="en-US" sz="1399">
                <a:solidFill>
                  <a:srgbClr val="4C4C4D"/>
                </a:solidFill>
                <a:latin typeface="Heebo"/>
                <a:ea typeface="Heebo"/>
                <a:cs typeface="Heebo"/>
                <a:sym typeface="Heebo"/>
              </a:rPr>
              <a:t>Generate financial reports for management and stakeholders</a:t>
            </a:r>
          </a:p>
          <a:p>
            <a:pPr algn="l" marL="337820" indent="-168910" lvl="1">
              <a:lnSpc>
                <a:spcPts val="1763"/>
              </a:lnSpc>
              <a:buFont typeface="Arial"/>
              <a:buChar char="•"/>
            </a:pPr>
            <a:r>
              <a:rPr lang="en-US" sz="1399">
                <a:solidFill>
                  <a:srgbClr val="4C4C4D"/>
                </a:solidFill>
                <a:latin typeface="Heebo"/>
                <a:ea typeface="Heebo"/>
                <a:cs typeface="Heebo"/>
                <a:sym typeface="Heebo"/>
              </a:rPr>
              <a:t>Analyze financial data and variances</a:t>
            </a:r>
          </a:p>
          <a:p>
            <a:pPr algn="l" marL="337820" indent="-168910" lvl="1">
              <a:lnSpc>
                <a:spcPts val="1763"/>
              </a:lnSpc>
              <a:buFont typeface="Arial"/>
              <a:buChar char="•"/>
            </a:pPr>
            <a:r>
              <a:rPr lang="en-US" sz="1399">
                <a:solidFill>
                  <a:srgbClr val="4C4C4D"/>
                </a:solidFill>
                <a:latin typeface="Heebo"/>
                <a:ea typeface="Heebo"/>
                <a:cs typeface="Heebo"/>
                <a:sym typeface="Heebo"/>
              </a:rPr>
              <a:t>Support budget preparation and forecasting</a:t>
            </a:r>
          </a:p>
        </p:txBody>
      </p:sp>
      <p:grpSp>
        <p:nvGrpSpPr>
          <p:cNvPr name="Group 19" id="19"/>
          <p:cNvGrpSpPr/>
          <p:nvPr/>
        </p:nvGrpSpPr>
        <p:grpSpPr>
          <a:xfrm rot="0">
            <a:off x="11900745" y="2604935"/>
            <a:ext cx="5307206" cy="2156222"/>
            <a:chOff x="0" y="0"/>
            <a:chExt cx="7076275" cy="2874962"/>
          </a:xfrm>
        </p:grpSpPr>
        <p:sp>
          <p:nvSpPr>
            <p:cNvPr name="Freeform 20" id="20"/>
            <p:cNvSpPr/>
            <p:nvPr/>
          </p:nvSpPr>
          <p:spPr>
            <a:xfrm flipH="false" flipV="false" rot="0">
              <a:off x="0" y="0"/>
              <a:ext cx="7076313" cy="2875026"/>
            </a:xfrm>
            <a:custGeom>
              <a:avLst/>
              <a:gdLst/>
              <a:ahLst/>
              <a:cxnLst/>
              <a:rect r="r" b="b" t="t" l="l"/>
              <a:pathLst>
                <a:path h="2875026" w="7076313">
                  <a:moveTo>
                    <a:pt x="0" y="35687"/>
                  </a:moveTo>
                  <a:cubicBezTo>
                    <a:pt x="0" y="16002"/>
                    <a:pt x="16002" y="0"/>
                    <a:pt x="35687" y="0"/>
                  </a:cubicBezTo>
                  <a:lnTo>
                    <a:pt x="7040626" y="0"/>
                  </a:lnTo>
                  <a:cubicBezTo>
                    <a:pt x="7060311" y="0"/>
                    <a:pt x="7076313" y="16002"/>
                    <a:pt x="7076313" y="35687"/>
                  </a:cubicBezTo>
                  <a:lnTo>
                    <a:pt x="7076313" y="2839339"/>
                  </a:lnTo>
                  <a:cubicBezTo>
                    <a:pt x="7076313" y="2859024"/>
                    <a:pt x="7060311" y="2875026"/>
                    <a:pt x="7040626" y="2875026"/>
                  </a:cubicBezTo>
                  <a:lnTo>
                    <a:pt x="35687" y="2875026"/>
                  </a:lnTo>
                  <a:cubicBezTo>
                    <a:pt x="16002" y="2875026"/>
                    <a:pt x="0" y="2859024"/>
                    <a:pt x="0" y="2839339"/>
                  </a:cubicBezTo>
                  <a:close/>
                </a:path>
              </a:pathLst>
            </a:custGeom>
            <a:solidFill>
              <a:srgbClr val="F2EEEE"/>
            </a:solidFill>
          </p:spPr>
        </p:sp>
      </p:grpSp>
      <p:sp>
        <p:nvSpPr>
          <p:cNvPr name="TextBox 21" id="21"/>
          <p:cNvSpPr txBox="true"/>
          <p:nvPr/>
        </p:nvSpPr>
        <p:spPr>
          <a:xfrm rot="0">
            <a:off x="12079043" y="2764184"/>
            <a:ext cx="4950619" cy="297809"/>
          </a:xfrm>
          <a:prstGeom prst="rect">
            <a:avLst/>
          </a:prstGeom>
        </p:spPr>
        <p:txBody>
          <a:bodyPr anchor="t" rtlCol="false" tIns="0" lIns="0" bIns="0" rIns="0">
            <a:spAutoFit/>
          </a:bodyPr>
          <a:lstStyle/>
          <a:p>
            <a:pPr algn="l">
              <a:lnSpc>
                <a:spcPts val="2121"/>
              </a:lnSpc>
            </a:pPr>
            <a:r>
              <a:rPr lang="en-US" sz="1700">
                <a:solidFill>
                  <a:srgbClr val="4C4C4D"/>
                </a:solidFill>
                <a:latin typeface="Crimson Pro"/>
                <a:ea typeface="Crimson Pro"/>
                <a:cs typeface="Crimson Pro"/>
                <a:sym typeface="Crimson Pro"/>
              </a:rPr>
              <a:t>Compliance &amp; Documentation</a:t>
            </a:r>
          </a:p>
        </p:txBody>
      </p:sp>
      <p:sp>
        <p:nvSpPr>
          <p:cNvPr name="TextBox 22" id="22"/>
          <p:cNvSpPr txBox="true"/>
          <p:nvPr/>
        </p:nvSpPr>
        <p:spPr>
          <a:xfrm rot="0">
            <a:off x="12079043" y="3114227"/>
            <a:ext cx="4950619" cy="1243460"/>
          </a:xfrm>
          <a:prstGeom prst="rect">
            <a:avLst/>
          </a:prstGeom>
        </p:spPr>
        <p:txBody>
          <a:bodyPr anchor="t" rtlCol="false" tIns="0" lIns="0" bIns="0" rIns="0">
            <a:spAutoFit/>
          </a:bodyPr>
          <a:lstStyle/>
          <a:p>
            <a:pPr algn="l" marL="337820" indent="-168910" lvl="1">
              <a:lnSpc>
                <a:spcPts val="1763"/>
              </a:lnSpc>
              <a:buFont typeface="Arial"/>
              <a:buChar char="•"/>
            </a:pPr>
            <a:r>
              <a:rPr lang="en-US" sz="1399">
                <a:solidFill>
                  <a:srgbClr val="4C4C4D"/>
                </a:solidFill>
                <a:latin typeface="Heebo"/>
                <a:ea typeface="Heebo"/>
                <a:cs typeface="Heebo"/>
                <a:sym typeface="Heebo"/>
              </a:rPr>
              <a:t>Ensure compliance with accounting standards and regulations</a:t>
            </a:r>
          </a:p>
          <a:p>
            <a:pPr algn="l" marL="337820" indent="-168910" lvl="1">
              <a:lnSpc>
                <a:spcPts val="1763"/>
              </a:lnSpc>
              <a:buFont typeface="Arial"/>
              <a:buChar char="•"/>
            </a:pPr>
            <a:r>
              <a:rPr lang="en-US" sz="1399">
                <a:solidFill>
                  <a:srgbClr val="4C4C4D"/>
                </a:solidFill>
                <a:latin typeface="Heebo"/>
                <a:ea typeface="Heebo"/>
                <a:cs typeface="Heebo"/>
                <a:sym typeface="Heebo"/>
              </a:rPr>
              <a:t>Maintain accurate financial records and documentation</a:t>
            </a:r>
          </a:p>
          <a:p>
            <a:pPr algn="l" marL="337820" indent="-168910" lvl="1">
              <a:lnSpc>
                <a:spcPts val="1763"/>
              </a:lnSpc>
              <a:buFont typeface="Arial"/>
              <a:buChar char="•"/>
            </a:pPr>
            <a:r>
              <a:rPr lang="en-US" sz="1399">
                <a:solidFill>
                  <a:srgbClr val="4C4C4D"/>
                </a:solidFill>
                <a:latin typeface="Heebo"/>
                <a:ea typeface="Heebo"/>
                <a:cs typeface="Heebo"/>
                <a:sym typeface="Heebo"/>
              </a:rPr>
              <a:t>Support tax preparation and filing</a:t>
            </a:r>
          </a:p>
          <a:p>
            <a:pPr algn="l" marL="337820" indent="-168910" lvl="1">
              <a:lnSpc>
                <a:spcPts val="1763"/>
              </a:lnSpc>
              <a:buFont typeface="Arial"/>
              <a:buChar char="•"/>
            </a:pPr>
            <a:r>
              <a:rPr lang="en-US" sz="1399">
                <a:solidFill>
                  <a:srgbClr val="4C4C4D"/>
                </a:solidFill>
                <a:latin typeface="Heebo"/>
                <a:ea typeface="Heebo"/>
                <a:cs typeface="Heebo"/>
                <a:sym typeface="Heebo"/>
              </a:rPr>
              <a:t>Prepare audit documentation</a:t>
            </a:r>
          </a:p>
        </p:txBody>
      </p:sp>
      <p:sp>
        <p:nvSpPr>
          <p:cNvPr name="TextBox 23" id="23"/>
          <p:cNvSpPr txBox="true"/>
          <p:nvPr/>
        </p:nvSpPr>
        <p:spPr>
          <a:xfrm rot="0">
            <a:off x="1080049" y="4961182"/>
            <a:ext cx="7846371" cy="297809"/>
          </a:xfrm>
          <a:prstGeom prst="rect">
            <a:avLst/>
          </a:prstGeom>
        </p:spPr>
        <p:txBody>
          <a:bodyPr anchor="t" rtlCol="false" tIns="0" lIns="0" bIns="0" rIns="0">
            <a:spAutoFit/>
          </a:bodyPr>
          <a:lstStyle/>
          <a:p>
            <a:pPr algn="l">
              <a:lnSpc>
                <a:spcPts val="2121"/>
              </a:lnSpc>
            </a:pPr>
            <a:r>
              <a:rPr lang="en-US" sz="1700">
                <a:solidFill>
                  <a:srgbClr val="152D47"/>
                </a:solidFill>
                <a:latin typeface="Crimson Pro"/>
                <a:ea typeface="Crimson Pro"/>
                <a:cs typeface="Crimson Pro"/>
                <a:sym typeface="Crimson Pro"/>
              </a:rPr>
              <a:t>Required Qualifications</a:t>
            </a:r>
          </a:p>
        </p:txBody>
      </p:sp>
      <p:sp>
        <p:nvSpPr>
          <p:cNvPr name="TextBox 24" id="24"/>
          <p:cNvSpPr txBox="true"/>
          <p:nvPr/>
        </p:nvSpPr>
        <p:spPr>
          <a:xfrm rot="0">
            <a:off x="1080049" y="5352602"/>
            <a:ext cx="7846371" cy="1075430"/>
          </a:xfrm>
          <a:prstGeom prst="rect">
            <a:avLst/>
          </a:prstGeom>
        </p:spPr>
        <p:txBody>
          <a:bodyPr anchor="t" rtlCol="false" tIns="0" lIns="0" bIns="0" rIns="0">
            <a:spAutoFit/>
          </a:bodyPr>
          <a:lstStyle/>
          <a:p>
            <a:pPr algn="l" marL="337820" indent="-168910" lvl="1">
              <a:lnSpc>
                <a:spcPts val="1763"/>
              </a:lnSpc>
              <a:buFont typeface="Arial"/>
              <a:buChar char="•"/>
            </a:pPr>
            <a:r>
              <a:rPr lang="en-US" sz="1399">
                <a:solidFill>
                  <a:srgbClr val="4C4C4D"/>
                </a:solidFill>
                <a:latin typeface="Heebo"/>
                <a:ea typeface="Heebo"/>
                <a:cs typeface="Heebo"/>
                <a:sym typeface="Heebo"/>
              </a:rPr>
              <a:t>Bachelor's degree in Accounting, Finance, or related field</a:t>
            </a:r>
          </a:p>
          <a:p>
            <a:pPr algn="l" marL="337820" indent="-168910" lvl="1">
              <a:lnSpc>
                <a:spcPts val="1763"/>
              </a:lnSpc>
              <a:buFont typeface="Arial"/>
              <a:buChar char="•"/>
            </a:pPr>
            <a:r>
              <a:rPr lang="en-US" sz="1399">
                <a:solidFill>
                  <a:srgbClr val="4C4C4D"/>
                </a:solidFill>
                <a:latin typeface="Heebo"/>
                <a:ea typeface="Heebo"/>
                <a:cs typeface="Heebo"/>
                <a:sym typeface="Heebo"/>
              </a:rPr>
              <a:t>[X] years of accounting or finance experience</a:t>
            </a:r>
          </a:p>
          <a:p>
            <a:pPr algn="l" marL="337820" indent="-168910" lvl="1">
              <a:lnSpc>
                <a:spcPts val="1763"/>
              </a:lnSpc>
              <a:buFont typeface="Arial"/>
              <a:buChar char="•"/>
            </a:pPr>
            <a:r>
              <a:rPr lang="en-US" sz="1399">
                <a:solidFill>
                  <a:srgbClr val="4C4C4D"/>
                </a:solidFill>
                <a:latin typeface="Consolas"/>
                <a:ea typeface="Consolas"/>
                <a:cs typeface="Consolas"/>
                <a:sym typeface="Consolas"/>
              </a:rPr>
              <a:t>Experience with [relevant accounting software]</a:t>
            </a:r>
          </a:p>
          <a:p>
            <a:pPr algn="l" marL="337820" indent="-168910" lvl="1">
              <a:lnSpc>
                <a:spcPts val="1763"/>
              </a:lnSpc>
              <a:buFont typeface="Arial"/>
              <a:buChar char="•"/>
            </a:pPr>
            <a:r>
              <a:rPr lang="en-US" sz="1399">
                <a:solidFill>
                  <a:srgbClr val="4C4C4D"/>
                </a:solidFill>
                <a:latin typeface="Consolas"/>
                <a:ea typeface="Consolas"/>
                <a:cs typeface="Consolas"/>
                <a:sym typeface="Consolas"/>
              </a:rPr>
              <a:t>Knowledge of [relevant accounting standards or regulations]</a:t>
            </a:r>
          </a:p>
        </p:txBody>
      </p:sp>
      <p:sp>
        <p:nvSpPr>
          <p:cNvPr name="TextBox 25" id="25"/>
          <p:cNvSpPr txBox="true"/>
          <p:nvPr/>
        </p:nvSpPr>
        <p:spPr>
          <a:xfrm rot="0">
            <a:off x="9371114" y="4961182"/>
            <a:ext cx="7846371" cy="297809"/>
          </a:xfrm>
          <a:prstGeom prst="rect">
            <a:avLst/>
          </a:prstGeom>
        </p:spPr>
        <p:txBody>
          <a:bodyPr anchor="t" rtlCol="false" tIns="0" lIns="0" bIns="0" rIns="0">
            <a:spAutoFit/>
          </a:bodyPr>
          <a:lstStyle/>
          <a:p>
            <a:pPr algn="l">
              <a:lnSpc>
                <a:spcPts val="2121"/>
              </a:lnSpc>
            </a:pPr>
            <a:r>
              <a:rPr lang="en-US" sz="1700">
                <a:solidFill>
                  <a:srgbClr val="152D47"/>
                </a:solidFill>
                <a:latin typeface="Crimson Pro"/>
                <a:ea typeface="Crimson Pro"/>
                <a:cs typeface="Crimson Pro"/>
                <a:sym typeface="Crimson Pro"/>
              </a:rPr>
              <a:t>Technical Skills</a:t>
            </a:r>
          </a:p>
        </p:txBody>
      </p:sp>
      <p:sp>
        <p:nvSpPr>
          <p:cNvPr name="TextBox 26" id="26"/>
          <p:cNvSpPr txBox="true"/>
          <p:nvPr/>
        </p:nvSpPr>
        <p:spPr>
          <a:xfrm rot="0">
            <a:off x="9371114" y="5352602"/>
            <a:ext cx="7846371" cy="1018280"/>
          </a:xfrm>
          <a:prstGeom prst="rect">
            <a:avLst/>
          </a:prstGeom>
        </p:spPr>
        <p:txBody>
          <a:bodyPr anchor="t" rtlCol="false" tIns="0" lIns="0" bIns="0" rIns="0">
            <a:spAutoFit/>
          </a:bodyPr>
          <a:lstStyle/>
          <a:p>
            <a:pPr algn="l" marL="337820" indent="-168910" lvl="1">
              <a:lnSpc>
                <a:spcPts val="1763"/>
              </a:lnSpc>
              <a:buFont typeface="Arial"/>
              <a:buChar char="•"/>
            </a:pPr>
            <a:r>
              <a:rPr lang="en-US" sz="1399">
                <a:solidFill>
                  <a:srgbClr val="4C4C4D"/>
                </a:solidFill>
                <a:latin typeface="Heebo"/>
                <a:ea typeface="Heebo"/>
                <a:cs typeface="Heebo"/>
                <a:sym typeface="Heebo"/>
              </a:rPr>
              <a:t>Proficiency in accounting software (QuickBooks, SAP, etc.)</a:t>
            </a:r>
          </a:p>
          <a:p>
            <a:pPr algn="l" marL="337820" indent="-168910" lvl="1">
              <a:lnSpc>
                <a:spcPts val="1763"/>
              </a:lnSpc>
              <a:buFont typeface="Arial"/>
              <a:buChar char="•"/>
            </a:pPr>
            <a:r>
              <a:rPr lang="en-US" sz="1399">
                <a:solidFill>
                  <a:srgbClr val="4C4C4D"/>
                </a:solidFill>
                <a:latin typeface="Heebo"/>
                <a:ea typeface="Heebo"/>
                <a:cs typeface="Heebo"/>
                <a:sym typeface="Heebo"/>
              </a:rPr>
              <a:t>Advanced Excel skills</a:t>
            </a:r>
          </a:p>
          <a:p>
            <a:pPr algn="l" marL="337820" indent="-168910" lvl="1">
              <a:lnSpc>
                <a:spcPts val="1763"/>
              </a:lnSpc>
              <a:buFont typeface="Arial"/>
              <a:buChar char="•"/>
            </a:pPr>
            <a:r>
              <a:rPr lang="en-US" sz="1399">
                <a:solidFill>
                  <a:srgbClr val="4C4C4D"/>
                </a:solidFill>
                <a:latin typeface="Heebo"/>
                <a:ea typeface="Heebo"/>
                <a:cs typeface="Heebo"/>
                <a:sym typeface="Heebo"/>
              </a:rPr>
              <a:t>Strong attention to detail and accuracy</a:t>
            </a:r>
          </a:p>
          <a:p>
            <a:pPr algn="l" marL="337820" indent="-168910" lvl="1">
              <a:lnSpc>
                <a:spcPts val="1763"/>
              </a:lnSpc>
              <a:buFont typeface="Arial"/>
              <a:buChar char="•"/>
            </a:pPr>
            <a:r>
              <a:rPr lang="en-US" sz="1399">
                <a:solidFill>
                  <a:srgbClr val="4C4C4D"/>
                </a:solidFill>
                <a:latin typeface="Heebo"/>
                <a:ea typeface="Heebo"/>
                <a:cs typeface="Heebo"/>
                <a:sym typeface="Heebo"/>
              </a:rPr>
              <a:t>Analytical and problem-solving abilities</a:t>
            </a:r>
          </a:p>
        </p:txBody>
      </p:sp>
      <p:sp>
        <p:nvSpPr>
          <p:cNvPr name="TextBox 27" id="27"/>
          <p:cNvSpPr txBox="true"/>
          <p:nvPr/>
        </p:nvSpPr>
        <p:spPr>
          <a:xfrm rot="0">
            <a:off x="9371114" y="6454978"/>
            <a:ext cx="7846371" cy="297809"/>
          </a:xfrm>
          <a:prstGeom prst="rect">
            <a:avLst/>
          </a:prstGeom>
        </p:spPr>
        <p:txBody>
          <a:bodyPr anchor="t" rtlCol="false" tIns="0" lIns="0" bIns="0" rIns="0">
            <a:spAutoFit/>
          </a:bodyPr>
          <a:lstStyle/>
          <a:p>
            <a:pPr algn="l">
              <a:lnSpc>
                <a:spcPts val="2121"/>
              </a:lnSpc>
            </a:pPr>
            <a:r>
              <a:rPr lang="en-US" sz="1700">
                <a:solidFill>
                  <a:srgbClr val="152D47"/>
                </a:solidFill>
                <a:latin typeface="Crimson Pro"/>
                <a:ea typeface="Crimson Pro"/>
                <a:cs typeface="Crimson Pro"/>
                <a:sym typeface="Crimson Pro"/>
              </a:rPr>
              <a:t>Preferred Skills</a:t>
            </a:r>
          </a:p>
        </p:txBody>
      </p:sp>
      <p:sp>
        <p:nvSpPr>
          <p:cNvPr name="TextBox 28" id="28"/>
          <p:cNvSpPr txBox="true"/>
          <p:nvPr/>
        </p:nvSpPr>
        <p:spPr>
          <a:xfrm rot="0">
            <a:off x="9371114" y="6846389"/>
            <a:ext cx="7846371" cy="776135"/>
          </a:xfrm>
          <a:prstGeom prst="rect">
            <a:avLst/>
          </a:prstGeom>
        </p:spPr>
        <p:txBody>
          <a:bodyPr anchor="t" rtlCol="false" tIns="0" lIns="0" bIns="0" rIns="0">
            <a:spAutoFit/>
          </a:bodyPr>
          <a:lstStyle/>
          <a:p>
            <a:pPr algn="l" marL="337820" indent="-168910" lvl="1">
              <a:lnSpc>
                <a:spcPts val="1763"/>
              </a:lnSpc>
              <a:buFont typeface="Arial"/>
              <a:buChar char="•"/>
            </a:pPr>
            <a:r>
              <a:rPr lang="en-US" sz="1399">
                <a:solidFill>
                  <a:srgbClr val="4C4C4D"/>
                </a:solidFill>
                <a:latin typeface="Heebo"/>
                <a:ea typeface="Heebo"/>
                <a:cs typeface="Heebo"/>
                <a:sym typeface="Heebo"/>
              </a:rPr>
              <a:t>Professional accounting certification (CPA, ACCA, or equivalent)</a:t>
            </a:r>
          </a:p>
          <a:p>
            <a:pPr algn="l" marL="337820" indent="-168910" lvl="1">
              <a:lnSpc>
                <a:spcPts val="1763"/>
              </a:lnSpc>
              <a:buFont typeface="Arial"/>
              <a:buChar char="•"/>
            </a:pPr>
            <a:r>
              <a:rPr lang="en-US" sz="1399">
                <a:solidFill>
                  <a:srgbClr val="4C4C4D"/>
                </a:solidFill>
                <a:latin typeface="Heebo"/>
                <a:ea typeface="Heebo"/>
                <a:cs typeface="Heebo"/>
                <a:sym typeface="Heebo"/>
              </a:rPr>
              <a:t>Experience with financial analysis and forecasting</a:t>
            </a:r>
          </a:p>
          <a:p>
            <a:pPr algn="l" marL="337820" indent="-168910" lvl="1">
              <a:lnSpc>
                <a:spcPts val="1763"/>
              </a:lnSpc>
              <a:buFont typeface="Arial"/>
              <a:buChar char="•"/>
            </a:pPr>
            <a:r>
              <a:rPr lang="en-US" sz="1399">
                <a:solidFill>
                  <a:srgbClr val="4C4C4D"/>
                </a:solidFill>
                <a:latin typeface="Heebo"/>
                <a:ea typeface="Heebo"/>
                <a:cs typeface="Heebo"/>
                <a:sym typeface="Heebo"/>
              </a:rPr>
              <a:t>Knowledge of [specific industry] accounting practices</a:t>
            </a:r>
          </a:p>
        </p:txBody>
      </p:sp>
      <p:sp>
        <p:nvSpPr>
          <p:cNvPr name="TextBox 29" id="29"/>
          <p:cNvSpPr txBox="true"/>
          <p:nvPr/>
        </p:nvSpPr>
        <p:spPr>
          <a:xfrm rot="0">
            <a:off x="9371114" y="7706620"/>
            <a:ext cx="7846371" cy="297809"/>
          </a:xfrm>
          <a:prstGeom prst="rect">
            <a:avLst/>
          </a:prstGeom>
        </p:spPr>
        <p:txBody>
          <a:bodyPr anchor="t" rtlCol="false" tIns="0" lIns="0" bIns="0" rIns="0">
            <a:spAutoFit/>
          </a:bodyPr>
          <a:lstStyle/>
          <a:p>
            <a:pPr algn="l">
              <a:lnSpc>
                <a:spcPts val="2121"/>
              </a:lnSpc>
            </a:pPr>
            <a:r>
              <a:rPr lang="en-US" sz="1700">
                <a:solidFill>
                  <a:srgbClr val="152D47"/>
                </a:solidFill>
                <a:latin typeface="Crimson Pro"/>
                <a:ea typeface="Crimson Pro"/>
                <a:cs typeface="Crimson Pro"/>
                <a:sym typeface="Crimson Pro"/>
              </a:rPr>
              <a:t>What We Offer</a:t>
            </a:r>
          </a:p>
        </p:txBody>
      </p:sp>
      <p:sp>
        <p:nvSpPr>
          <p:cNvPr name="TextBox 30" id="30"/>
          <p:cNvSpPr txBox="true"/>
          <p:nvPr/>
        </p:nvSpPr>
        <p:spPr>
          <a:xfrm rot="0">
            <a:off x="9371114" y="8098031"/>
            <a:ext cx="7846371" cy="478927"/>
          </a:xfrm>
          <a:prstGeom prst="rect">
            <a:avLst/>
          </a:prstGeom>
        </p:spPr>
        <p:txBody>
          <a:bodyPr anchor="t" rtlCol="false" tIns="0" lIns="0" bIns="0" rIns="0">
            <a:spAutoFit/>
          </a:bodyPr>
          <a:lstStyle/>
          <a:p>
            <a:pPr algn="l">
              <a:lnSpc>
                <a:spcPts val="1763"/>
              </a:lnSpc>
            </a:pPr>
            <a:r>
              <a:rPr lang="en-US" sz="1399">
                <a:solidFill>
                  <a:srgbClr val="4C4C4D"/>
                </a:solidFill>
                <a:latin typeface="Heebo"/>
                <a:ea typeface="Heebo"/>
                <a:cs typeface="Heebo"/>
                <a:sym typeface="Heebo"/>
              </a:rPr>
              <a:t>Competitive salary and benefits, professional development and certification support, stable growing organization, [additional benefits]</a:t>
            </a:r>
          </a:p>
        </p:txBody>
      </p:sp>
      <p:sp>
        <p:nvSpPr>
          <p:cNvPr name="TextBox 31" id="31"/>
          <p:cNvSpPr txBox="true"/>
          <p:nvPr/>
        </p:nvSpPr>
        <p:spPr>
          <a:xfrm rot="0">
            <a:off x="9371114" y="8661054"/>
            <a:ext cx="7846371" cy="297809"/>
          </a:xfrm>
          <a:prstGeom prst="rect">
            <a:avLst/>
          </a:prstGeom>
        </p:spPr>
        <p:txBody>
          <a:bodyPr anchor="t" rtlCol="false" tIns="0" lIns="0" bIns="0" rIns="0">
            <a:spAutoFit/>
          </a:bodyPr>
          <a:lstStyle/>
          <a:p>
            <a:pPr algn="l">
              <a:lnSpc>
                <a:spcPts val="2121"/>
              </a:lnSpc>
            </a:pPr>
            <a:r>
              <a:rPr lang="en-US" sz="1700">
                <a:solidFill>
                  <a:srgbClr val="152D47"/>
                </a:solidFill>
                <a:latin typeface="Crimson Pro"/>
                <a:ea typeface="Crimson Pro"/>
                <a:cs typeface="Crimson Pro"/>
                <a:sym typeface="Crimson Pro"/>
              </a:rPr>
              <a:t>Application</a:t>
            </a:r>
          </a:p>
        </p:txBody>
      </p:sp>
      <p:sp>
        <p:nvSpPr>
          <p:cNvPr name="TextBox 32" id="32"/>
          <p:cNvSpPr txBox="true"/>
          <p:nvPr/>
        </p:nvSpPr>
        <p:spPr>
          <a:xfrm rot="0">
            <a:off x="9371114" y="9052474"/>
            <a:ext cx="8760771" cy="253756"/>
          </a:xfrm>
          <a:prstGeom prst="rect">
            <a:avLst/>
          </a:prstGeom>
        </p:spPr>
        <p:txBody>
          <a:bodyPr anchor="t" rtlCol="false" tIns="0" lIns="0" bIns="0" rIns="0">
            <a:spAutoFit/>
          </a:bodyPr>
          <a:lstStyle/>
          <a:p>
            <a:pPr algn="l">
              <a:lnSpc>
                <a:spcPts val="1763"/>
              </a:lnSpc>
            </a:pPr>
            <a:r>
              <a:rPr lang="en-US" sz="1399">
                <a:solidFill>
                  <a:srgbClr val="4C4C4D"/>
                </a:solidFill>
                <a:latin typeface="Heebo"/>
                <a:ea typeface="Heebo"/>
                <a:cs typeface="Heebo"/>
                <a:sym typeface="Heebo"/>
              </a:rPr>
              <a:t>Send resume to [email] or apply via [link]</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0F0F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1080049" y="929430"/>
            <a:ext cx="16127911" cy="616153"/>
          </a:xfrm>
          <a:prstGeom prst="rect">
            <a:avLst/>
          </a:prstGeom>
        </p:spPr>
        <p:txBody>
          <a:bodyPr anchor="t" rtlCol="false" tIns="0" lIns="0" bIns="0" rIns="0">
            <a:spAutoFit/>
          </a:bodyPr>
          <a:lstStyle/>
          <a:p>
            <a:pPr algn="l">
              <a:lnSpc>
                <a:spcPts val="4617"/>
              </a:lnSpc>
            </a:pPr>
            <a:r>
              <a:rPr lang="en-US" sz="3700">
                <a:solidFill>
                  <a:srgbClr val="152D47"/>
                </a:solidFill>
                <a:latin typeface="Crimson Pro"/>
                <a:ea typeface="Crimson Pro"/>
                <a:cs typeface="Crimson Pro"/>
                <a:sym typeface="Crimson Pro"/>
              </a:rPr>
              <a:t>Customer Service Representative</a:t>
            </a:r>
          </a:p>
        </p:txBody>
      </p:sp>
      <p:grpSp>
        <p:nvGrpSpPr>
          <p:cNvPr name="Group 7" id="7"/>
          <p:cNvGrpSpPr/>
          <p:nvPr/>
        </p:nvGrpSpPr>
        <p:grpSpPr>
          <a:xfrm rot="0">
            <a:off x="1080049" y="1774774"/>
            <a:ext cx="4586440" cy="285750"/>
            <a:chOff x="0" y="0"/>
            <a:chExt cx="6115253" cy="381000"/>
          </a:xfrm>
        </p:grpSpPr>
        <p:sp>
          <p:nvSpPr>
            <p:cNvPr name="Freeform 8" id="8"/>
            <p:cNvSpPr/>
            <p:nvPr/>
          </p:nvSpPr>
          <p:spPr>
            <a:xfrm flipH="false" flipV="false" rot="0">
              <a:off x="0" y="0"/>
              <a:ext cx="6115304" cy="381000"/>
            </a:xfrm>
            <a:custGeom>
              <a:avLst/>
              <a:gdLst/>
              <a:ahLst/>
              <a:cxnLst/>
              <a:rect r="r" b="b" t="t" l="l"/>
              <a:pathLst>
                <a:path h="381000" w="6115304">
                  <a:moveTo>
                    <a:pt x="0" y="30099"/>
                  </a:moveTo>
                  <a:cubicBezTo>
                    <a:pt x="0" y="13462"/>
                    <a:pt x="13462" y="0"/>
                    <a:pt x="30099" y="0"/>
                  </a:cubicBezTo>
                  <a:lnTo>
                    <a:pt x="6085205" y="0"/>
                  </a:lnTo>
                  <a:cubicBezTo>
                    <a:pt x="6101842" y="0"/>
                    <a:pt x="6115304" y="13462"/>
                    <a:pt x="6115304" y="30099"/>
                  </a:cubicBezTo>
                  <a:lnTo>
                    <a:pt x="6115304" y="350901"/>
                  </a:lnTo>
                  <a:cubicBezTo>
                    <a:pt x="6115304" y="367538"/>
                    <a:pt x="6101842" y="381000"/>
                    <a:pt x="6085205" y="381000"/>
                  </a:cubicBezTo>
                  <a:lnTo>
                    <a:pt x="30099" y="381000"/>
                  </a:lnTo>
                  <a:cubicBezTo>
                    <a:pt x="13462" y="381000"/>
                    <a:pt x="0" y="367538"/>
                    <a:pt x="0" y="350901"/>
                  </a:cubicBezTo>
                  <a:close/>
                </a:path>
              </a:pathLst>
            </a:custGeom>
            <a:solidFill>
              <a:srgbClr val="CCD7FF"/>
            </a:solidFill>
          </p:spPr>
        </p:sp>
      </p:grpSp>
      <p:sp>
        <p:nvSpPr>
          <p:cNvPr name="TextBox 9" id="9"/>
          <p:cNvSpPr txBox="true"/>
          <p:nvPr/>
        </p:nvSpPr>
        <p:spPr>
          <a:xfrm rot="0">
            <a:off x="1192854" y="1840706"/>
            <a:ext cx="5275212" cy="163411"/>
          </a:xfrm>
          <a:prstGeom prst="rect">
            <a:avLst/>
          </a:prstGeom>
        </p:spPr>
        <p:txBody>
          <a:bodyPr anchor="t" rtlCol="false" tIns="0" lIns="0" bIns="0" rIns="0">
            <a:spAutoFit/>
          </a:bodyPr>
          <a:lstStyle/>
          <a:p>
            <a:pPr algn="l">
              <a:lnSpc>
                <a:spcPts val="1267"/>
              </a:lnSpc>
            </a:pPr>
            <a:r>
              <a:rPr lang="en-US" sz="1100">
                <a:solidFill>
                  <a:srgbClr val="4C4C4D"/>
                </a:solidFill>
                <a:latin typeface="Heebo"/>
                <a:ea typeface="Heebo"/>
                <a:cs typeface="Heebo"/>
                <a:sym typeface="Heebo"/>
              </a:rPr>
              <a:t>FULL-TIME / PART-TIME  |  [CITY, COUNTRY]  |  [COMPANY NAME]</a:t>
            </a:r>
          </a:p>
        </p:txBody>
      </p:sp>
      <p:sp>
        <p:nvSpPr>
          <p:cNvPr name="TextBox 10" id="10"/>
          <p:cNvSpPr txBox="true"/>
          <p:nvPr/>
        </p:nvSpPr>
        <p:spPr>
          <a:xfrm rot="0">
            <a:off x="1080049" y="2179882"/>
            <a:ext cx="16127911" cy="493814"/>
          </a:xfrm>
          <a:prstGeom prst="rect">
            <a:avLst/>
          </a:prstGeom>
        </p:spPr>
        <p:txBody>
          <a:bodyPr anchor="t" rtlCol="false" tIns="0" lIns="0" bIns="0" rIns="0">
            <a:spAutoFit/>
          </a:bodyPr>
          <a:lstStyle/>
          <a:p>
            <a:pPr algn="l">
              <a:lnSpc>
                <a:spcPts val="1797"/>
              </a:lnSpc>
            </a:pPr>
            <a:r>
              <a:rPr lang="en-US" sz="1399">
                <a:solidFill>
                  <a:srgbClr val="4C4C4D"/>
                </a:solidFill>
                <a:latin typeface="Heebo"/>
                <a:ea typeface="Heebo"/>
                <a:cs typeface="Heebo"/>
                <a:sym typeface="Heebo"/>
              </a:rPr>
              <a:t>We are seeking a Customer Service Representative to provide excellent support to our customers. You will handle inquiries, resolve issues, and ensure customer satisfaction through professional and friendly service.</a:t>
            </a:r>
          </a:p>
        </p:txBody>
      </p:sp>
      <p:sp>
        <p:nvSpPr>
          <p:cNvPr name="Freeform 11" id="11" descr="preencoded.png"/>
          <p:cNvSpPr/>
          <p:nvPr/>
        </p:nvSpPr>
        <p:spPr>
          <a:xfrm flipH="false" flipV="false" rot="0">
            <a:off x="1080049" y="2931471"/>
            <a:ext cx="3860006" cy="3370507"/>
          </a:xfrm>
          <a:custGeom>
            <a:avLst/>
            <a:gdLst/>
            <a:ahLst/>
            <a:cxnLst/>
            <a:rect r="r" b="b" t="t" l="l"/>
            <a:pathLst>
              <a:path h="3370507" w="3860006">
                <a:moveTo>
                  <a:pt x="0" y="0"/>
                </a:moveTo>
                <a:lnTo>
                  <a:pt x="3860007" y="0"/>
                </a:lnTo>
                <a:lnTo>
                  <a:pt x="3860007" y="3370507"/>
                </a:lnTo>
                <a:lnTo>
                  <a:pt x="0" y="3370507"/>
                </a:lnTo>
                <a:lnTo>
                  <a:pt x="0" y="0"/>
                </a:lnTo>
                <a:close/>
              </a:path>
            </a:pathLst>
          </a:custGeom>
          <a:blipFill>
            <a:blip r:embed="rId3">
              <a:extLst>
                <a:ext uri="{96DAC541-7B7A-43D3-8B79-37D633B846F1}">
                  <asvg:svgBlip xmlns:asvg="http://schemas.microsoft.com/office/drawing/2016/SVG/main" r:embed="rId4"/>
                </a:ext>
              </a:extLst>
            </a:blip>
            <a:stretch>
              <a:fillRect l="-72" t="0" r="-72" b="0"/>
            </a:stretch>
          </a:blipFill>
        </p:spPr>
      </p:sp>
      <p:grpSp>
        <p:nvGrpSpPr>
          <p:cNvPr name="Group 12" id="12"/>
          <p:cNvGrpSpPr/>
          <p:nvPr/>
        </p:nvGrpSpPr>
        <p:grpSpPr>
          <a:xfrm rot="0">
            <a:off x="2868959" y="3056182"/>
            <a:ext cx="282026" cy="352577"/>
            <a:chOff x="0" y="0"/>
            <a:chExt cx="376034" cy="470103"/>
          </a:xfrm>
        </p:grpSpPr>
        <p:sp>
          <p:nvSpPr>
            <p:cNvPr name="Freeform 13" id="13"/>
            <p:cNvSpPr/>
            <p:nvPr/>
          </p:nvSpPr>
          <p:spPr>
            <a:xfrm flipH="false" flipV="false" rot="0">
              <a:off x="0" y="0"/>
              <a:ext cx="376040" cy="470099"/>
            </a:xfrm>
            <a:custGeom>
              <a:avLst/>
              <a:gdLst/>
              <a:ahLst/>
              <a:cxnLst/>
              <a:rect r="r" b="b" t="t" l="l"/>
              <a:pathLst>
                <a:path h="470099" w="376040">
                  <a:moveTo>
                    <a:pt x="0" y="0"/>
                  </a:moveTo>
                  <a:lnTo>
                    <a:pt x="376040" y="0"/>
                  </a:lnTo>
                  <a:lnTo>
                    <a:pt x="376040" y="470099"/>
                  </a:lnTo>
                  <a:lnTo>
                    <a:pt x="0" y="470099"/>
                  </a:lnTo>
                  <a:close/>
                </a:path>
              </a:pathLst>
            </a:custGeom>
            <a:blipFill>
              <a:blip r:embed="rId5">
                <a:alphaModFix amt="0"/>
              </a:blip>
              <a:stretch>
                <a:fillRect l="-110398" t="0" r="-110396" b="0"/>
              </a:stretch>
            </a:blipFill>
          </p:spPr>
        </p:sp>
        <p:sp>
          <p:nvSpPr>
            <p:cNvPr name="TextBox 14" id="14"/>
            <p:cNvSpPr txBox="true"/>
            <p:nvPr/>
          </p:nvSpPr>
          <p:spPr>
            <a:xfrm>
              <a:off x="0" y="-19050"/>
              <a:ext cx="376034" cy="489153"/>
            </a:xfrm>
            <a:prstGeom prst="rect">
              <a:avLst/>
            </a:prstGeom>
          </p:spPr>
          <p:txBody>
            <a:bodyPr anchor="ctr" rtlCol="false" tIns="0" lIns="0" bIns="0" rIns="0"/>
            <a:lstStyle/>
            <a:p>
              <a:pPr algn="ctr">
                <a:lnSpc>
                  <a:spcPts val="2640"/>
                </a:lnSpc>
              </a:pPr>
              <a:r>
                <a:rPr lang="en-US" sz="2200">
                  <a:solidFill>
                    <a:srgbClr val="4C4C4D"/>
                  </a:solidFill>
                  <a:latin typeface="Crimson Pro"/>
                  <a:ea typeface="Crimson Pro"/>
                  <a:cs typeface="Crimson Pro"/>
                  <a:sym typeface="Crimson Pro"/>
                </a:rPr>
                <a:t>1</a:t>
              </a:r>
            </a:p>
          </p:txBody>
        </p:sp>
      </p:grpSp>
      <p:sp>
        <p:nvSpPr>
          <p:cNvPr name="TextBox 15" id="15"/>
          <p:cNvSpPr txBox="true"/>
          <p:nvPr/>
        </p:nvSpPr>
        <p:spPr>
          <a:xfrm rot="0">
            <a:off x="1287066" y="3610127"/>
            <a:ext cx="3445964" cy="312982"/>
          </a:xfrm>
          <a:prstGeom prst="rect">
            <a:avLst/>
          </a:prstGeom>
        </p:spPr>
        <p:txBody>
          <a:bodyPr anchor="t" rtlCol="false" tIns="0" lIns="0" bIns="0" rIns="0">
            <a:spAutoFit/>
          </a:bodyPr>
          <a:lstStyle/>
          <a:p>
            <a:pPr algn="l">
              <a:lnSpc>
                <a:spcPts val="2246"/>
              </a:lnSpc>
            </a:pPr>
            <a:r>
              <a:rPr lang="en-US" sz="1800">
                <a:solidFill>
                  <a:srgbClr val="4C4C4D"/>
                </a:solidFill>
                <a:latin typeface="Crimson Pro"/>
                <a:ea typeface="Crimson Pro"/>
                <a:cs typeface="Crimson Pro"/>
                <a:sym typeface="Crimson Pro"/>
              </a:rPr>
              <a:t>Customer Support</a:t>
            </a:r>
          </a:p>
        </p:txBody>
      </p:sp>
      <p:sp>
        <p:nvSpPr>
          <p:cNvPr name="TextBox 16" id="16"/>
          <p:cNvSpPr txBox="true"/>
          <p:nvPr/>
        </p:nvSpPr>
        <p:spPr>
          <a:xfrm rot="0">
            <a:off x="1287066" y="4028180"/>
            <a:ext cx="3445964" cy="2066773"/>
          </a:xfrm>
          <a:prstGeom prst="rect">
            <a:avLst/>
          </a:prstGeom>
        </p:spPr>
        <p:txBody>
          <a:bodyPr anchor="t" rtlCol="false" tIns="0" lIns="0" bIns="0" rIns="0">
            <a:spAutoFit/>
          </a:bodyPr>
          <a:lstStyle/>
          <a:p>
            <a:pPr algn="l" marL="337820" indent="-168910" lvl="1">
              <a:lnSpc>
                <a:spcPts val="1797"/>
              </a:lnSpc>
              <a:buFont typeface="Arial"/>
              <a:buChar char="•"/>
            </a:pPr>
            <a:r>
              <a:rPr lang="en-US" sz="1399">
                <a:solidFill>
                  <a:srgbClr val="4C4C4D"/>
                </a:solidFill>
                <a:latin typeface="Heebo"/>
                <a:ea typeface="Heebo"/>
                <a:cs typeface="Heebo"/>
                <a:sym typeface="Heebo"/>
              </a:rPr>
              <a:t>Respond to customer inquiries via phone, email, and chat</a:t>
            </a:r>
          </a:p>
          <a:p>
            <a:pPr algn="l" marL="337820" indent="-168910" lvl="1">
              <a:lnSpc>
                <a:spcPts val="1797"/>
              </a:lnSpc>
              <a:buFont typeface="Arial"/>
              <a:buChar char="•"/>
            </a:pPr>
            <a:r>
              <a:rPr lang="en-US" sz="1399">
                <a:solidFill>
                  <a:srgbClr val="4C4C4D"/>
                </a:solidFill>
                <a:latin typeface="Heebo"/>
                <a:ea typeface="Heebo"/>
                <a:cs typeface="Heebo"/>
                <a:sym typeface="Heebo"/>
              </a:rPr>
              <a:t>Provide product and service information</a:t>
            </a:r>
          </a:p>
          <a:p>
            <a:pPr algn="l" marL="337820" indent="-168910" lvl="1">
              <a:lnSpc>
                <a:spcPts val="1797"/>
              </a:lnSpc>
              <a:buFont typeface="Arial"/>
              <a:buChar char="•"/>
            </a:pPr>
            <a:r>
              <a:rPr lang="en-US" sz="1399">
                <a:solidFill>
                  <a:srgbClr val="4C4C4D"/>
                </a:solidFill>
                <a:latin typeface="Heebo"/>
                <a:ea typeface="Heebo"/>
                <a:cs typeface="Heebo"/>
                <a:sym typeface="Heebo"/>
              </a:rPr>
              <a:t>Process customer requests and orders</a:t>
            </a:r>
          </a:p>
          <a:p>
            <a:pPr algn="l" marL="337820" indent="-168910" lvl="1">
              <a:lnSpc>
                <a:spcPts val="1797"/>
              </a:lnSpc>
              <a:buFont typeface="Arial"/>
              <a:buChar char="•"/>
            </a:pPr>
            <a:r>
              <a:rPr lang="en-US" sz="1399">
                <a:solidFill>
                  <a:srgbClr val="4C4C4D"/>
                </a:solidFill>
                <a:latin typeface="Heebo"/>
                <a:ea typeface="Heebo"/>
                <a:cs typeface="Heebo"/>
                <a:sym typeface="Heebo"/>
              </a:rPr>
              <a:t>Troubleshoot and resolve customer issues</a:t>
            </a:r>
          </a:p>
        </p:txBody>
      </p:sp>
      <p:sp>
        <p:nvSpPr>
          <p:cNvPr name="Freeform 17" id="17" descr="preencoded.png"/>
          <p:cNvSpPr/>
          <p:nvPr/>
        </p:nvSpPr>
        <p:spPr>
          <a:xfrm flipH="false" flipV="false" rot="0">
            <a:off x="5054651" y="2931471"/>
            <a:ext cx="3860006" cy="3370507"/>
          </a:xfrm>
          <a:custGeom>
            <a:avLst/>
            <a:gdLst/>
            <a:ahLst/>
            <a:cxnLst/>
            <a:rect r="r" b="b" t="t" l="l"/>
            <a:pathLst>
              <a:path h="3370507" w="3860006">
                <a:moveTo>
                  <a:pt x="0" y="0"/>
                </a:moveTo>
                <a:lnTo>
                  <a:pt x="3860006" y="0"/>
                </a:lnTo>
                <a:lnTo>
                  <a:pt x="3860006" y="3370507"/>
                </a:lnTo>
                <a:lnTo>
                  <a:pt x="0" y="3370507"/>
                </a:lnTo>
                <a:lnTo>
                  <a:pt x="0" y="0"/>
                </a:lnTo>
                <a:close/>
              </a:path>
            </a:pathLst>
          </a:custGeom>
          <a:blipFill>
            <a:blip r:embed="rId3">
              <a:extLst>
                <a:ext uri="{96DAC541-7B7A-43D3-8B79-37D633B846F1}">
                  <asvg:svgBlip xmlns:asvg="http://schemas.microsoft.com/office/drawing/2016/SVG/main" r:embed="rId4"/>
                </a:ext>
              </a:extLst>
            </a:blip>
            <a:stretch>
              <a:fillRect l="-72" t="0" r="-72" b="0"/>
            </a:stretch>
          </a:blipFill>
        </p:spPr>
      </p:sp>
      <p:grpSp>
        <p:nvGrpSpPr>
          <p:cNvPr name="Group 18" id="18"/>
          <p:cNvGrpSpPr/>
          <p:nvPr/>
        </p:nvGrpSpPr>
        <p:grpSpPr>
          <a:xfrm rot="0">
            <a:off x="6843560" y="3056182"/>
            <a:ext cx="282026" cy="352577"/>
            <a:chOff x="0" y="0"/>
            <a:chExt cx="376034" cy="470103"/>
          </a:xfrm>
        </p:grpSpPr>
        <p:sp>
          <p:nvSpPr>
            <p:cNvPr name="Freeform 19" id="19"/>
            <p:cNvSpPr/>
            <p:nvPr/>
          </p:nvSpPr>
          <p:spPr>
            <a:xfrm flipH="false" flipV="false" rot="0">
              <a:off x="0" y="0"/>
              <a:ext cx="376040" cy="470099"/>
            </a:xfrm>
            <a:custGeom>
              <a:avLst/>
              <a:gdLst/>
              <a:ahLst/>
              <a:cxnLst/>
              <a:rect r="r" b="b" t="t" l="l"/>
              <a:pathLst>
                <a:path h="470099" w="376040">
                  <a:moveTo>
                    <a:pt x="0" y="0"/>
                  </a:moveTo>
                  <a:lnTo>
                    <a:pt x="376040" y="0"/>
                  </a:lnTo>
                  <a:lnTo>
                    <a:pt x="376040" y="470099"/>
                  </a:lnTo>
                  <a:lnTo>
                    <a:pt x="0" y="470099"/>
                  </a:lnTo>
                  <a:close/>
                </a:path>
              </a:pathLst>
            </a:custGeom>
            <a:blipFill>
              <a:blip r:embed="rId5">
                <a:alphaModFix amt="0"/>
              </a:blip>
              <a:stretch>
                <a:fillRect l="-110398" t="0" r="-110396" b="0"/>
              </a:stretch>
            </a:blipFill>
          </p:spPr>
        </p:sp>
        <p:sp>
          <p:nvSpPr>
            <p:cNvPr name="TextBox 20" id="20"/>
            <p:cNvSpPr txBox="true"/>
            <p:nvPr/>
          </p:nvSpPr>
          <p:spPr>
            <a:xfrm>
              <a:off x="0" y="-19050"/>
              <a:ext cx="376034" cy="489153"/>
            </a:xfrm>
            <a:prstGeom prst="rect">
              <a:avLst/>
            </a:prstGeom>
          </p:spPr>
          <p:txBody>
            <a:bodyPr anchor="ctr" rtlCol="false" tIns="0" lIns="0" bIns="0" rIns="0"/>
            <a:lstStyle/>
            <a:p>
              <a:pPr algn="ctr">
                <a:lnSpc>
                  <a:spcPts val="2640"/>
                </a:lnSpc>
              </a:pPr>
              <a:r>
                <a:rPr lang="en-US" sz="2200">
                  <a:solidFill>
                    <a:srgbClr val="4C4C4D"/>
                  </a:solidFill>
                  <a:latin typeface="Crimson Pro"/>
                  <a:ea typeface="Crimson Pro"/>
                  <a:cs typeface="Crimson Pro"/>
                  <a:sym typeface="Crimson Pro"/>
                </a:rPr>
                <a:t>2</a:t>
              </a:r>
            </a:p>
          </p:txBody>
        </p:sp>
      </p:grpSp>
      <p:sp>
        <p:nvSpPr>
          <p:cNvPr name="TextBox 21" id="21"/>
          <p:cNvSpPr txBox="true"/>
          <p:nvPr/>
        </p:nvSpPr>
        <p:spPr>
          <a:xfrm rot="0">
            <a:off x="5261667" y="3610127"/>
            <a:ext cx="3445964" cy="312982"/>
          </a:xfrm>
          <a:prstGeom prst="rect">
            <a:avLst/>
          </a:prstGeom>
        </p:spPr>
        <p:txBody>
          <a:bodyPr anchor="t" rtlCol="false" tIns="0" lIns="0" bIns="0" rIns="0">
            <a:spAutoFit/>
          </a:bodyPr>
          <a:lstStyle/>
          <a:p>
            <a:pPr algn="l">
              <a:lnSpc>
                <a:spcPts val="2246"/>
              </a:lnSpc>
            </a:pPr>
            <a:r>
              <a:rPr lang="en-US" sz="1800">
                <a:solidFill>
                  <a:srgbClr val="4C4C4D"/>
                </a:solidFill>
                <a:latin typeface="Crimson Pro"/>
                <a:ea typeface="Crimson Pro"/>
                <a:cs typeface="Crimson Pro"/>
                <a:sym typeface="Crimson Pro"/>
              </a:rPr>
              <a:t>Communication</a:t>
            </a:r>
          </a:p>
        </p:txBody>
      </p:sp>
      <p:sp>
        <p:nvSpPr>
          <p:cNvPr name="TextBox 22" id="22"/>
          <p:cNvSpPr txBox="true"/>
          <p:nvPr/>
        </p:nvSpPr>
        <p:spPr>
          <a:xfrm rot="0">
            <a:off x="5261667" y="4028180"/>
            <a:ext cx="3445964" cy="2066773"/>
          </a:xfrm>
          <a:prstGeom prst="rect">
            <a:avLst/>
          </a:prstGeom>
        </p:spPr>
        <p:txBody>
          <a:bodyPr anchor="t" rtlCol="false" tIns="0" lIns="0" bIns="0" rIns="0">
            <a:spAutoFit/>
          </a:bodyPr>
          <a:lstStyle/>
          <a:p>
            <a:pPr algn="l" marL="337820" indent="-168910" lvl="1">
              <a:lnSpc>
                <a:spcPts val="1797"/>
              </a:lnSpc>
              <a:buFont typeface="Arial"/>
              <a:buChar char="•"/>
            </a:pPr>
            <a:r>
              <a:rPr lang="en-US" sz="1399">
                <a:solidFill>
                  <a:srgbClr val="4C4C4D"/>
                </a:solidFill>
                <a:latin typeface="Heebo"/>
                <a:ea typeface="Heebo"/>
                <a:cs typeface="Heebo"/>
                <a:sym typeface="Heebo"/>
              </a:rPr>
              <a:t>Communicate clearly and professionally with customers</a:t>
            </a:r>
          </a:p>
          <a:p>
            <a:pPr algn="l" marL="337820" indent="-168910" lvl="1">
              <a:lnSpc>
                <a:spcPts val="1797"/>
              </a:lnSpc>
              <a:buFont typeface="Arial"/>
              <a:buChar char="•"/>
            </a:pPr>
            <a:r>
              <a:rPr lang="en-US" sz="1399">
                <a:solidFill>
                  <a:srgbClr val="4C4C4D"/>
                </a:solidFill>
                <a:latin typeface="Heebo"/>
                <a:ea typeface="Heebo"/>
                <a:cs typeface="Heebo"/>
                <a:sym typeface="Heebo"/>
              </a:rPr>
              <a:t>Listen actively to understand customer needs</a:t>
            </a:r>
          </a:p>
          <a:p>
            <a:pPr algn="l" marL="337820" indent="-168910" lvl="1">
              <a:lnSpc>
                <a:spcPts val="1797"/>
              </a:lnSpc>
              <a:buFont typeface="Arial"/>
              <a:buChar char="•"/>
            </a:pPr>
            <a:r>
              <a:rPr lang="en-US" sz="1399">
                <a:solidFill>
                  <a:srgbClr val="4C4C4D"/>
                </a:solidFill>
                <a:latin typeface="Heebo"/>
                <a:ea typeface="Heebo"/>
                <a:cs typeface="Heebo"/>
                <a:sym typeface="Heebo"/>
              </a:rPr>
              <a:t>Explain solutions in a way customers understand</a:t>
            </a:r>
          </a:p>
          <a:p>
            <a:pPr algn="l" marL="337820" indent="-168910" lvl="1">
              <a:lnSpc>
                <a:spcPts val="1797"/>
              </a:lnSpc>
              <a:buFont typeface="Arial"/>
              <a:buChar char="•"/>
            </a:pPr>
            <a:r>
              <a:rPr lang="en-US" sz="1399">
                <a:solidFill>
                  <a:srgbClr val="4C4C4D"/>
                </a:solidFill>
                <a:latin typeface="Heebo"/>
                <a:ea typeface="Heebo"/>
                <a:cs typeface="Heebo"/>
                <a:sym typeface="Heebo"/>
              </a:rPr>
              <a:t>Follow up with customers to ensure satisfaction</a:t>
            </a:r>
          </a:p>
        </p:txBody>
      </p:sp>
      <p:sp>
        <p:nvSpPr>
          <p:cNvPr name="Freeform 23" id="23" descr="preencoded.png"/>
          <p:cNvSpPr/>
          <p:nvPr/>
        </p:nvSpPr>
        <p:spPr>
          <a:xfrm flipH="false" flipV="false" rot="0">
            <a:off x="1080049" y="6416573"/>
            <a:ext cx="3860006" cy="2604049"/>
          </a:xfrm>
          <a:custGeom>
            <a:avLst/>
            <a:gdLst/>
            <a:ahLst/>
            <a:cxnLst/>
            <a:rect r="r" b="b" t="t" l="l"/>
            <a:pathLst>
              <a:path h="2604049" w="3860006">
                <a:moveTo>
                  <a:pt x="0" y="0"/>
                </a:moveTo>
                <a:lnTo>
                  <a:pt x="3860007" y="0"/>
                </a:lnTo>
                <a:lnTo>
                  <a:pt x="3860007" y="2604050"/>
                </a:lnTo>
                <a:lnTo>
                  <a:pt x="0" y="2604050"/>
                </a:lnTo>
                <a:lnTo>
                  <a:pt x="0" y="0"/>
                </a:lnTo>
                <a:close/>
              </a:path>
            </a:pathLst>
          </a:custGeom>
          <a:blipFill>
            <a:blip r:embed="rId6">
              <a:extLst>
                <a:ext uri="{96DAC541-7B7A-43D3-8B79-37D633B846F1}">
                  <asvg:svgBlip xmlns:asvg="http://schemas.microsoft.com/office/drawing/2016/SVG/main" r:embed="rId7"/>
                </a:ext>
              </a:extLst>
            </a:blip>
            <a:stretch>
              <a:fillRect l="0" t="-19" r="0" b="-18"/>
            </a:stretch>
          </a:blipFill>
        </p:spPr>
      </p:sp>
      <p:grpSp>
        <p:nvGrpSpPr>
          <p:cNvPr name="Group 24" id="24"/>
          <p:cNvGrpSpPr/>
          <p:nvPr/>
        </p:nvGrpSpPr>
        <p:grpSpPr>
          <a:xfrm rot="0">
            <a:off x="2868959" y="6541294"/>
            <a:ext cx="282026" cy="352577"/>
            <a:chOff x="0" y="0"/>
            <a:chExt cx="376034" cy="470103"/>
          </a:xfrm>
        </p:grpSpPr>
        <p:sp>
          <p:nvSpPr>
            <p:cNvPr name="Freeform 25" id="25"/>
            <p:cNvSpPr/>
            <p:nvPr/>
          </p:nvSpPr>
          <p:spPr>
            <a:xfrm flipH="false" flipV="false" rot="0">
              <a:off x="0" y="0"/>
              <a:ext cx="376040" cy="470099"/>
            </a:xfrm>
            <a:custGeom>
              <a:avLst/>
              <a:gdLst/>
              <a:ahLst/>
              <a:cxnLst/>
              <a:rect r="r" b="b" t="t" l="l"/>
              <a:pathLst>
                <a:path h="470099" w="376040">
                  <a:moveTo>
                    <a:pt x="0" y="0"/>
                  </a:moveTo>
                  <a:lnTo>
                    <a:pt x="376040" y="0"/>
                  </a:lnTo>
                  <a:lnTo>
                    <a:pt x="376040" y="470099"/>
                  </a:lnTo>
                  <a:lnTo>
                    <a:pt x="0" y="470099"/>
                  </a:lnTo>
                  <a:close/>
                </a:path>
              </a:pathLst>
            </a:custGeom>
            <a:blipFill>
              <a:blip r:embed="rId5">
                <a:alphaModFix amt="0"/>
              </a:blip>
              <a:stretch>
                <a:fillRect l="-110398" t="0" r="-110396" b="0"/>
              </a:stretch>
            </a:blipFill>
          </p:spPr>
        </p:sp>
        <p:sp>
          <p:nvSpPr>
            <p:cNvPr name="TextBox 26" id="26"/>
            <p:cNvSpPr txBox="true"/>
            <p:nvPr/>
          </p:nvSpPr>
          <p:spPr>
            <a:xfrm>
              <a:off x="0" y="-19050"/>
              <a:ext cx="376034" cy="489153"/>
            </a:xfrm>
            <a:prstGeom prst="rect">
              <a:avLst/>
            </a:prstGeom>
          </p:spPr>
          <p:txBody>
            <a:bodyPr anchor="ctr" rtlCol="false" tIns="0" lIns="0" bIns="0" rIns="0"/>
            <a:lstStyle/>
            <a:p>
              <a:pPr algn="ctr">
                <a:lnSpc>
                  <a:spcPts val="2640"/>
                </a:lnSpc>
              </a:pPr>
              <a:r>
                <a:rPr lang="en-US" sz="2200">
                  <a:solidFill>
                    <a:srgbClr val="4C4C4D"/>
                  </a:solidFill>
                  <a:latin typeface="Crimson Pro"/>
                  <a:ea typeface="Crimson Pro"/>
                  <a:cs typeface="Crimson Pro"/>
                  <a:sym typeface="Crimson Pro"/>
                </a:rPr>
                <a:t>3</a:t>
              </a:r>
            </a:p>
          </p:txBody>
        </p:sp>
      </p:grpSp>
      <p:sp>
        <p:nvSpPr>
          <p:cNvPr name="TextBox 27" id="27"/>
          <p:cNvSpPr txBox="true"/>
          <p:nvPr/>
        </p:nvSpPr>
        <p:spPr>
          <a:xfrm rot="0">
            <a:off x="1287066" y="7095230"/>
            <a:ext cx="3445964" cy="312982"/>
          </a:xfrm>
          <a:prstGeom prst="rect">
            <a:avLst/>
          </a:prstGeom>
        </p:spPr>
        <p:txBody>
          <a:bodyPr anchor="t" rtlCol="false" tIns="0" lIns="0" bIns="0" rIns="0">
            <a:spAutoFit/>
          </a:bodyPr>
          <a:lstStyle/>
          <a:p>
            <a:pPr algn="l">
              <a:lnSpc>
                <a:spcPts val="2246"/>
              </a:lnSpc>
            </a:pPr>
            <a:r>
              <a:rPr lang="en-US" sz="1800">
                <a:solidFill>
                  <a:srgbClr val="4C4C4D"/>
                </a:solidFill>
                <a:latin typeface="Crimson Pro"/>
                <a:ea typeface="Crimson Pro"/>
                <a:cs typeface="Crimson Pro"/>
                <a:sym typeface="Crimson Pro"/>
              </a:rPr>
              <a:t>Complaint Handling</a:t>
            </a:r>
          </a:p>
        </p:txBody>
      </p:sp>
      <p:sp>
        <p:nvSpPr>
          <p:cNvPr name="TextBox 28" id="28"/>
          <p:cNvSpPr txBox="true"/>
          <p:nvPr/>
        </p:nvSpPr>
        <p:spPr>
          <a:xfrm rot="0">
            <a:off x="1287066" y="7513291"/>
            <a:ext cx="3445964" cy="1300315"/>
          </a:xfrm>
          <a:prstGeom prst="rect">
            <a:avLst/>
          </a:prstGeom>
        </p:spPr>
        <p:txBody>
          <a:bodyPr anchor="t" rtlCol="false" tIns="0" lIns="0" bIns="0" rIns="0">
            <a:spAutoFit/>
          </a:bodyPr>
          <a:lstStyle/>
          <a:p>
            <a:pPr algn="l" marL="337820" indent="-168910" lvl="1">
              <a:lnSpc>
                <a:spcPts val="1797"/>
              </a:lnSpc>
              <a:buFont typeface="Arial"/>
              <a:buChar char="•"/>
            </a:pPr>
            <a:r>
              <a:rPr lang="en-US" sz="1399">
                <a:solidFill>
                  <a:srgbClr val="4C4C4D"/>
                </a:solidFill>
                <a:latin typeface="Heebo"/>
                <a:ea typeface="Heebo"/>
                <a:cs typeface="Heebo"/>
                <a:sym typeface="Heebo"/>
              </a:rPr>
              <a:t>Handle customer complaints with empathy and professionalism</a:t>
            </a:r>
          </a:p>
          <a:p>
            <a:pPr algn="l" marL="337820" indent="-168910" lvl="1">
              <a:lnSpc>
                <a:spcPts val="1797"/>
              </a:lnSpc>
              <a:buFont typeface="Arial"/>
              <a:buChar char="•"/>
            </a:pPr>
            <a:r>
              <a:rPr lang="en-US" sz="1399">
                <a:solidFill>
                  <a:srgbClr val="4C4C4D"/>
                </a:solidFill>
                <a:latin typeface="Heebo"/>
                <a:ea typeface="Heebo"/>
                <a:cs typeface="Heebo"/>
                <a:sym typeface="Heebo"/>
              </a:rPr>
              <a:t>Escalate issues when necessary</a:t>
            </a:r>
          </a:p>
          <a:p>
            <a:pPr algn="l" marL="337820" indent="-168910" lvl="1">
              <a:lnSpc>
                <a:spcPts val="1797"/>
              </a:lnSpc>
              <a:buFont typeface="Arial"/>
              <a:buChar char="•"/>
            </a:pPr>
            <a:r>
              <a:rPr lang="en-US" sz="1399">
                <a:solidFill>
                  <a:srgbClr val="4C4C4D"/>
                </a:solidFill>
                <a:latin typeface="Heebo"/>
                <a:ea typeface="Heebo"/>
                <a:cs typeface="Heebo"/>
                <a:sym typeface="Heebo"/>
              </a:rPr>
              <a:t>Work toward resolution and customer satisfaction</a:t>
            </a:r>
          </a:p>
        </p:txBody>
      </p:sp>
      <p:sp>
        <p:nvSpPr>
          <p:cNvPr name="Freeform 29" id="29" descr="preencoded.png"/>
          <p:cNvSpPr/>
          <p:nvPr/>
        </p:nvSpPr>
        <p:spPr>
          <a:xfrm flipH="false" flipV="false" rot="0">
            <a:off x="5054651" y="6416573"/>
            <a:ext cx="3860006" cy="2604049"/>
          </a:xfrm>
          <a:custGeom>
            <a:avLst/>
            <a:gdLst/>
            <a:ahLst/>
            <a:cxnLst/>
            <a:rect r="r" b="b" t="t" l="l"/>
            <a:pathLst>
              <a:path h="2604049" w="3860006">
                <a:moveTo>
                  <a:pt x="0" y="0"/>
                </a:moveTo>
                <a:lnTo>
                  <a:pt x="3860006" y="0"/>
                </a:lnTo>
                <a:lnTo>
                  <a:pt x="3860006" y="2604050"/>
                </a:lnTo>
                <a:lnTo>
                  <a:pt x="0" y="2604050"/>
                </a:lnTo>
                <a:lnTo>
                  <a:pt x="0" y="0"/>
                </a:lnTo>
                <a:close/>
              </a:path>
            </a:pathLst>
          </a:custGeom>
          <a:blipFill>
            <a:blip r:embed="rId6">
              <a:extLst>
                <a:ext uri="{96DAC541-7B7A-43D3-8B79-37D633B846F1}">
                  <asvg:svgBlip xmlns:asvg="http://schemas.microsoft.com/office/drawing/2016/SVG/main" r:embed="rId7"/>
                </a:ext>
              </a:extLst>
            </a:blip>
            <a:stretch>
              <a:fillRect l="0" t="-19" r="0" b="-18"/>
            </a:stretch>
          </a:blipFill>
        </p:spPr>
      </p:sp>
      <p:grpSp>
        <p:nvGrpSpPr>
          <p:cNvPr name="Group 30" id="30"/>
          <p:cNvGrpSpPr/>
          <p:nvPr/>
        </p:nvGrpSpPr>
        <p:grpSpPr>
          <a:xfrm rot="0">
            <a:off x="6843560" y="6541294"/>
            <a:ext cx="282026" cy="352577"/>
            <a:chOff x="0" y="0"/>
            <a:chExt cx="376034" cy="470103"/>
          </a:xfrm>
        </p:grpSpPr>
        <p:sp>
          <p:nvSpPr>
            <p:cNvPr name="Freeform 31" id="31"/>
            <p:cNvSpPr/>
            <p:nvPr/>
          </p:nvSpPr>
          <p:spPr>
            <a:xfrm flipH="false" flipV="false" rot="0">
              <a:off x="0" y="0"/>
              <a:ext cx="376040" cy="470099"/>
            </a:xfrm>
            <a:custGeom>
              <a:avLst/>
              <a:gdLst/>
              <a:ahLst/>
              <a:cxnLst/>
              <a:rect r="r" b="b" t="t" l="l"/>
              <a:pathLst>
                <a:path h="470099" w="376040">
                  <a:moveTo>
                    <a:pt x="0" y="0"/>
                  </a:moveTo>
                  <a:lnTo>
                    <a:pt x="376040" y="0"/>
                  </a:lnTo>
                  <a:lnTo>
                    <a:pt x="376040" y="470099"/>
                  </a:lnTo>
                  <a:lnTo>
                    <a:pt x="0" y="470099"/>
                  </a:lnTo>
                  <a:close/>
                </a:path>
              </a:pathLst>
            </a:custGeom>
            <a:blipFill>
              <a:blip r:embed="rId5">
                <a:alphaModFix amt="0"/>
              </a:blip>
              <a:stretch>
                <a:fillRect l="-110398" t="0" r="-110396" b="0"/>
              </a:stretch>
            </a:blipFill>
          </p:spPr>
        </p:sp>
        <p:sp>
          <p:nvSpPr>
            <p:cNvPr name="TextBox 32" id="32"/>
            <p:cNvSpPr txBox="true"/>
            <p:nvPr/>
          </p:nvSpPr>
          <p:spPr>
            <a:xfrm>
              <a:off x="0" y="-19050"/>
              <a:ext cx="376034" cy="489153"/>
            </a:xfrm>
            <a:prstGeom prst="rect">
              <a:avLst/>
            </a:prstGeom>
          </p:spPr>
          <p:txBody>
            <a:bodyPr anchor="ctr" rtlCol="false" tIns="0" lIns="0" bIns="0" rIns="0"/>
            <a:lstStyle/>
            <a:p>
              <a:pPr algn="ctr">
                <a:lnSpc>
                  <a:spcPts val="2640"/>
                </a:lnSpc>
              </a:pPr>
              <a:r>
                <a:rPr lang="en-US" sz="2200">
                  <a:solidFill>
                    <a:srgbClr val="4C4C4D"/>
                  </a:solidFill>
                  <a:latin typeface="Crimson Pro"/>
                  <a:ea typeface="Crimson Pro"/>
                  <a:cs typeface="Crimson Pro"/>
                  <a:sym typeface="Crimson Pro"/>
                </a:rPr>
                <a:t>4</a:t>
              </a:r>
            </a:p>
          </p:txBody>
        </p:sp>
      </p:grpSp>
      <p:sp>
        <p:nvSpPr>
          <p:cNvPr name="TextBox 33" id="33"/>
          <p:cNvSpPr txBox="true"/>
          <p:nvPr/>
        </p:nvSpPr>
        <p:spPr>
          <a:xfrm rot="0">
            <a:off x="5261667" y="7095230"/>
            <a:ext cx="3445964" cy="312982"/>
          </a:xfrm>
          <a:prstGeom prst="rect">
            <a:avLst/>
          </a:prstGeom>
        </p:spPr>
        <p:txBody>
          <a:bodyPr anchor="t" rtlCol="false" tIns="0" lIns="0" bIns="0" rIns="0">
            <a:spAutoFit/>
          </a:bodyPr>
          <a:lstStyle/>
          <a:p>
            <a:pPr algn="l">
              <a:lnSpc>
                <a:spcPts val="2246"/>
              </a:lnSpc>
            </a:pPr>
            <a:r>
              <a:rPr lang="en-US" sz="1800">
                <a:solidFill>
                  <a:srgbClr val="4C4C4D"/>
                </a:solidFill>
                <a:latin typeface="Crimson Pro"/>
                <a:ea typeface="Crimson Pro"/>
                <a:cs typeface="Crimson Pro"/>
                <a:sym typeface="Crimson Pro"/>
              </a:rPr>
              <a:t>CRM &amp; Documentation</a:t>
            </a:r>
          </a:p>
        </p:txBody>
      </p:sp>
      <p:sp>
        <p:nvSpPr>
          <p:cNvPr name="TextBox 34" id="34"/>
          <p:cNvSpPr txBox="true"/>
          <p:nvPr/>
        </p:nvSpPr>
        <p:spPr>
          <a:xfrm rot="0">
            <a:off x="5261667" y="7513291"/>
            <a:ext cx="3445964" cy="1300315"/>
          </a:xfrm>
          <a:prstGeom prst="rect">
            <a:avLst/>
          </a:prstGeom>
        </p:spPr>
        <p:txBody>
          <a:bodyPr anchor="t" rtlCol="false" tIns="0" lIns="0" bIns="0" rIns="0">
            <a:spAutoFit/>
          </a:bodyPr>
          <a:lstStyle/>
          <a:p>
            <a:pPr algn="l" marL="337820" indent="-168910" lvl="1">
              <a:lnSpc>
                <a:spcPts val="1797"/>
              </a:lnSpc>
              <a:buFont typeface="Arial"/>
              <a:buChar char="•"/>
            </a:pPr>
            <a:r>
              <a:rPr lang="en-US" sz="1399">
                <a:solidFill>
                  <a:srgbClr val="4C4C4D"/>
                </a:solidFill>
                <a:latin typeface="Heebo"/>
                <a:ea typeface="Heebo"/>
                <a:cs typeface="Heebo"/>
                <a:sym typeface="Heebo"/>
              </a:rPr>
              <a:t>Use CRM software to log interactions and track issues</a:t>
            </a:r>
          </a:p>
          <a:p>
            <a:pPr algn="l" marL="337820" indent="-168910" lvl="1">
              <a:lnSpc>
                <a:spcPts val="1797"/>
              </a:lnSpc>
              <a:buFont typeface="Arial"/>
              <a:buChar char="•"/>
            </a:pPr>
            <a:r>
              <a:rPr lang="en-US" sz="1399">
                <a:solidFill>
                  <a:srgbClr val="4C4C4D"/>
                </a:solidFill>
                <a:latin typeface="Heebo"/>
                <a:ea typeface="Heebo"/>
                <a:cs typeface="Heebo"/>
                <a:sym typeface="Heebo"/>
              </a:rPr>
              <a:t>Maintain accurate customer records</a:t>
            </a:r>
          </a:p>
          <a:p>
            <a:pPr algn="l" marL="337820" indent="-168910" lvl="1">
              <a:lnSpc>
                <a:spcPts val="1797"/>
              </a:lnSpc>
              <a:buFont typeface="Arial"/>
              <a:buChar char="•"/>
            </a:pPr>
            <a:r>
              <a:rPr lang="en-US" sz="1399">
                <a:solidFill>
                  <a:srgbClr val="4C4C4D"/>
                </a:solidFill>
                <a:latin typeface="Heebo"/>
                <a:ea typeface="Heebo"/>
                <a:cs typeface="Heebo"/>
                <a:sym typeface="Heebo"/>
              </a:rPr>
              <a:t>Document solutions for future reference</a:t>
            </a:r>
          </a:p>
        </p:txBody>
      </p:sp>
      <p:sp>
        <p:nvSpPr>
          <p:cNvPr name="TextBox 35" id="35"/>
          <p:cNvSpPr txBox="true"/>
          <p:nvPr/>
        </p:nvSpPr>
        <p:spPr>
          <a:xfrm rot="0">
            <a:off x="9382868" y="2898134"/>
            <a:ext cx="7834608" cy="312982"/>
          </a:xfrm>
          <a:prstGeom prst="rect">
            <a:avLst/>
          </a:prstGeom>
        </p:spPr>
        <p:txBody>
          <a:bodyPr anchor="t" rtlCol="false" tIns="0" lIns="0" bIns="0" rIns="0">
            <a:spAutoFit/>
          </a:bodyPr>
          <a:lstStyle/>
          <a:p>
            <a:pPr algn="l">
              <a:lnSpc>
                <a:spcPts val="2246"/>
              </a:lnSpc>
            </a:pPr>
            <a:r>
              <a:rPr lang="en-US" sz="1800">
                <a:solidFill>
                  <a:srgbClr val="152D47"/>
                </a:solidFill>
                <a:latin typeface="Crimson Pro"/>
                <a:ea typeface="Crimson Pro"/>
                <a:cs typeface="Crimson Pro"/>
                <a:sym typeface="Crimson Pro"/>
              </a:rPr>
              <a:t>Required Skills</a:t>
            </a:r>
          </a:p>
        </p:txBody>
      </p:sp>
      <p:sp>
        <p:nvSpPr>
          <p:cNvPr name="TextBox 36" id="36"/>
          <p:cNvSpPr txBox="true"/>
          <p:nvPr/>
        </p:nvSpPr>
        <p:spPr>
          <a:xfrm rot="0">
            <a:off x="9382868" y="3316186"/>
            <a:ext cx="7834608" cy="1380382"/>
          </a:xfrm>
          <a:prstGeom prst="rect">
            <a:avLst/>
          </a:prstGeom>
        </p:spPr>
        <p:txBody>
          <a:bodyPr anchor="t" rtlCol="false" tIns="0" lIns="0" bIns="0" rIns="0">
            <a:spAutoFit/>
          </a:bodyPr>
          <a:lstStyle/>
          <a:p>
            <a:pPr algn="l" marL="337820" indent="-168910" lvl="1">
              <a:lnSpc>
                <a:spcPts val="1797"/>
              </a:lnSpc>
              <a:buFont typeface="Arial"/>
              <a:buChar char="•"/>
            </a:pPr>
            <a:r>
              <a:rPr lang="en-US" sz="1399">
                <a:solidFill>
                  <a:srgbClr val="4C4C4D"/>
                </a:solidFill>
                <a:latin typeface="Heebo"/>
                <a:ea typeface="Heebo"/>
                <a:cs typeface="Heebo"/>
                <a:sym typeface="Heebo"/>
              </a:rPr>
              <a:t>Excellent communication skills (verbal and written)</a:t>
            </a:r>
          </a:p>
          <a:p>
            <a:pPr algn="l" marL="337820" indent="-168910" lvl="1">
              <a:lnSpc>
                <a:spcPts val="1797"/>
              </a:lnSpc>
              <a:buFont typeface="Arial"/>
              <a:buChar char="•"/>
            </a:pPr>
            <a:r>
              <a:rPr lang="en-US" sz="1399">
                <a:solidFill>
                  <a:srgbClr val="4C4C4D"/>
                </a:solidFill>
                <a:latin typeface="Heebo"/>
                <a:ea typeface="Heebo"/>
                <a:cs typeface="Heebo"/>
                <a:sym typeface="Heebo"/>
              </a:rPr>
              <a:t>Customer service orientation and patience</a:t>
            </a:r>
          </a:p>
          <a:p>
            <a:pPr algn="l" marL="337820" indent="-168910" lvl="1">
              <a:lnSpc>
                <a:spcPts val="1797"/>
              </a:lnSpc>
              <a:buFont typeface="Arial"/>
              <a:buChar char="•"/>
            </a:pPr>
            <a:r>
              <a:rPr lang="en-US" sz="1399">
                <a:solidFill>
                  <a:srgbClr val="4C4C4D"/>
                </a:solidFill>
                <a:latin typeface="Heebo"/>
                <a:ea typeface="Heebo"/>
                <a:cs typeface="Heebo"/>
                <a:sym typeface="Heebo"/>
              </a:rPr>
              <a:t>Problem-solving abilities</a:t>
            </a:r>
          </a:p>
          <a:p>
            <a:pPr algn="l" marL="337820" indent="-168910" lvl="1">
              <a:lnSpc>
                <a:spcPts val="1797"/>
              </a:lnSpc>
              <a:buFont typeface="Arial"/>
              <a:buChar char="•"/>
            </a:pPr>
            <a:r>
              <a:rPr lang="en-US" sz="1399">
                <a:solidFill>
                  <a:srgbClr val="4C4C4D"/>
                </a:solidFill>
                <a:latin typeface="Heebo"/>
                <a:ea typeface="Heebo"/>
                <a:cs typeface="Heebo"/>
                <a:sym typeface="Heebo"/>
              </a:rPr>
              <a:t>Ability to multitask and manage time effectively</a:t>
            </a:r>
          </a:p>
          <a:p>
            <a:pPr algn="l" marL="337820" indent="-168910" lvl="1">
              <a:lnSpc>
                <a:spcPts val="1797"/>
              </a:lnSpc>
              <a:buFont typeface="Arial"/>
              <a:buChar char="•"/>
            </a:pPr>
            <a:r>
              <a:rPr lang="en-US" sz="1399">
                <a:solidFill>
                  <a:srgbClr val="4C4C4D"/>
                </a:solidFill>
                <a:latin typeface="Heebo"/>
                <a:ea typeface="Heebo"/>
                <a:cs typeface="Heebo"/>
                <a:sym typeface="Heebo"/>
              </a:rPr>
              <a:t>Proficiency with computer systems and software</a:t>
            </a:r>
          </a:p>
        </p:txBody>
      </p:sp>
      <p:sp>
        <p:nvSpPr>
          <p:cNvPr name="TextBox 37" id="37"/>
          <p:cNvSpPr txBox="true"/>
          <p:nvPr/>
        </p:nvSpPr>
        <p:spPr>
          <a:xfrm rot="0">
            <a:off x="9382868" y="4792113"/>
            <a:ext cx="7834608" cy="312982"/>
          </a:xfrm>
          <a:prstGeom prst="rect">
            <a:avLst/>
          </a:prstGeom>
        </p:spPr>
        <p:txBody>
          <a:bodyPr anchor="t" rtlCol="false" tIns="0" lIns="0" bIns="0" rIns="0">
            <a:spAutoFit/>
          </a:bodyPr>
          <a:lstStyle/>
          <a:p>
            <a:pPr algn="l">
              <a:lnSpc>
                <a:spcPts val="2246"/>
              </a:lnSpc>
            </a:pPr>
            <a:r>
              <a:rPr lang="en-US" sz="1800">
                <a:solidFill>
                  <a:srgbClr val="152D47"/>
                </a:solidFill>
                <a:latin typeface="Crimson Pro"/>
                <a:ea typeface="Crimson Pro"/>
                <a:cs typeface="Crimson Pro"/>
                <a:sym typeface="Crimson Pro"/>
              </a:rPr>
              <a:t>Required Experience</a:t>
            </a:r>
          </a:p>
        </p:txBody>
      </p:sp>
      <p:sp>
        <p:nvSpPr>
          <p:cNvPr name="TextBox 38" id="38"/>
          <p:cNvSpPr txBox="true"/>
          <p:nvPr/>
        </p:nvSpPr>
        <p:spPr>
          <a:xfrm rot="0">
            <a:off x="9382868" y="5210175"/>
            <a:ext cx="7834608" cy="552898"/>
          </a:xfrm>
          <a:prstGeom prst="rect">
            <a:avLst/>
          </a:prstGeom>
        </p:spPr>
        <p:txBody>
          <a:bodyPr anchor="t" rtlCol="false" tIns="0" lIns="0" bIns="0" rIns="0">
            <a:spAutoFit/>
          </a:bodyPr>
          <a:lstStyle/>
          <a:p>
            <a:pPr algn="l" marL="337820" indent="-168910" lvl="1">
              <a:lnSpc>
                <a:spcPts val="1797"/>
              </a:lnSpc>
              <a:buFont typeface="Arial"/>
              <a:buChar char="•"/>
            </a:pPr>
            <a:r>
              <a:rPr lang="en-US" sz="1399">
                <a:solidFill>
                  <a:srgbClr val="4C4C4D"/>
                </a:solidFill>
                <a:latin typeface="Heebo"/>
                <a:ea typeface="Heebo"/>
                <a:cs typeface="Heebo"/>
                <a:sym typeface="Heebo"/>
              </a:rPr>
              <a:t>[X] years of customer service experience</a:t>
            </a:r>
          </a:p>
          <a:p>
            <a:pPr algn="l" marL="337820" indent="-168910" lvl="1">
              <a:lnSpc>
                <a:spcPts val="1797"/>
              </a:lnSpc>
              <a:buFont typeface="Arial"/>
              <a:buChar char="•"/>
            </a:pPr>
            <a:r>
              <a:rPr lang="en-US" sz="1399">
                <a:solidFill>
                  <a:srgbClr val="4C4C4D"/>
                </a:solidFill>
                <a:latin typeface="Consolas"/>
                <a:ea typeface="Consolas"/>
                <a:cs typeface="Consolas"/>
                <a:sym typeface="Consolas"/>
              </a:rPr>
              <a:t>Experience with [relevant CRM or support software]</a:t>
            </a:r>
          </a:p>
        </p:txBody>
      </p:sp>
      <p:sp>
        <p:nvSpPr>
          <p:cNvPr name="TextBox 39" id="39"/>
          <p:cNvSpPr txBox="true"/>
          <p:nvPr/>
        </p:nvSpPr>
        <p:spPr>
          <a:xfrm rot="0">
            <a:off x="9382868" y="5858618"/>
            <a:ext cx="7834608" cy="312982"/>
          </a:xfrm>
          <a:prstGeom prst="rect">
            <a:avLst/>
          </a:prstGeom>
        </p:spPr>
        <p:txBody>
          <a:bodyPr anchor="t" rtlCol="false" tIns="0" lIns="0" bIns="0" rIns="0">
            <a:spAutoFit/>
          </a:bodyPr>
          <a:lstStyle/>
          <a:p>
            <a:pPr algn="l">
              <a:lnSpc>
                <a:spcPts val="2246"/>
              </a:lnSpc>
            </a:pPr>
            <a:r>
              <a:rPr lang="en-US" sz="1800">
                <a:solidFill>
                  <a:srgbClr val="152D47"/>
                </a:solidFill>
                <a:latin typeface="Crimson Pro"/>
                <a:ea typeface="Crimson Pro"/>
                <a:cs typeface="Crimson Pro"/>
                <a:sym typeface="Crimson Pro"/>
              </a:rPr>
              <a:t>Language Requirements</a:t>
            </a:r>
          </a:p>
        </p:txBody>
      </p:sp>
      <p:sp>
        <p:nvSpPr>
          <p:cNvPr name="TextBox 40" id="40"/>
          <p:cNvSpPr txBox="true"/>
          <p:nvPr/>
        </p:nvSpPr>
        <p:spPr>
          <a:xfrm rot="0">
            <a:off x="9382868" y="6248105"/>
            <a:ext cx="7834608" cy="581473"/>
          </a:xfrm>
          <a:prstGeom prst="rect">
            <a:avLst/>
          </a:prstGeom>
        </p:spPr>
        <p:txBody>
          <a:bodyPr anchor="t" rtlCol="false" tIns="0" lIns="0" bIns="0" rIns="0">
            <a:spAutoFit/>
          </a:bodyPr>
          <a:lstStyle/>
          <a:p>
            <a:pPr algn="l" marL="337820" indent="-168910" lvl="1">
              <a:lnSpc>
                <a:spcPts val="1797"/>
              </a:lnSpc>
              <a:buFont typeface="Arial"/>
              <a:buChar char="•"/>
            </a:pPr>
            <a:r>
              <a:rPr lang="en-US" sz="1399">
                <a:solidFill>
                  <a:srgbClr val="4C4C4D"/>
                </a:solidFill>
                <a:latin typeface="Consolas"/>
                <a:ea typeface="Consolas"/>
                <a:cs typeface="Consolas"/>
                <a:sym typeface="Consolas"/>
              </a:rPr>
              <a:t>Fluent in [language(s)]</a:t>
            </a:r>
          </a:p>
          <a:p>
            <a:pPr algn="l" marL="337820" indent="-168910" lvl="1">
              <a:lnSpc>
                <a:spcPts val="1797"/>
              </a:lnSpc>
              <a:buFont typeface="Arial"/>
              <a:buChar char="•"/>
            </a:pPr>
            <a:r>
              <a:rPr lang="en-US" sz="1399">
                <a:solidFill>
                  <a:srgbClr val="4C4C4D"/>
                </a:solidFill>
                <a:latin typeface="Consolas"/>
                <a:ea typeface="Consolas"/>
                <a:cs typeface="Consolas"/>
                <a:sym typeface="Consolas"/>
              </a:rPr>
              <a:t>[Additional language proficiency preferred]</a:t>
            </a:r>
          </a:p>
        </p:txBody>
      </p:sp>
      <p:sp>
        <p:nvSpPr>
          <p:cNvPr name="TextBox 41" id="41"/>
          <p:cNvSpPr txBox="true"/>
          <p:nvPr/>
        </p:nvSpPr>
        <p:spPr>
          <a:xfrm rot="0">
            <a:off x="9382868" y="6925123"/>
            <a:ext cx="7834608" cy="312982"/>
          </a:xfrm>
          <a:prstGeom prst="rect">
            <a:avLst/>
          </a:prstGeom>
        </p:spPr>
        <p:txBody>
          <a:bodyPr anchor="t" rtlCol="false" tIns="0" lIns="0" bIns="0" rIns="0">
            <a:spAutoFit/>
          </a:bodyPr>
          <a:lstStyle/>
          <a:p>
            <a:pPr algn="l">
              <a:lnSpc>
                <a:spcPts val="2246"/>
              </a:lnSpc>
            </a:pPr>
            <a:r>
              <a:rPr lang="en-US" sz="1800">
                <a:solidFill>
                  <a:srgbClr val="152D47"/>
                </a:solidFill>
                <a:latin typeface="Crimson Pro"/>
                <a:ea typeface="Crimson Pro"/>
                <a:cs typeface="Crimson Pro"/>
                <a:sym typeface="Crimson Pro"/>
              </a:rPr>
              <a:t>What We Offer</a:t>
            </a:r>
          </a:p>
        </p:txBody>
      </p:sp>
      <p:sp>
        <p:nvSpPr>
          <p:cNvPr name="TextBox 42" id="42"/>
          <p:cNvSpPr txBox="true"/>
          <p:nvPr/>
        </p:nvSpPr>
        <p:spPr>
          <a:xfrm rot="0">
            <a:off x="9382868" y="7343175"/>
            <a:ext cx="7834608" cy="1107729"/>
          </a:xfrm>
          <a:prstGeom prst="rect">
            <a:avLst/>
          </a:prstGeom>
        </p:spPr>
        <p:txBody>
          <a:bodyPr anchor="t" rtlCol="false" tIns="0" lIns="0" bIns="0" rIns="0">
            <a:spAutoFit/>
          </a:bodyPr>
          <a:lstStyle/>
          <a:p>
            <a:pPr algn="l" marL="337820" indent="-168910" lvl="1">
              <a:lnSpc>
                <a:spcPts val="1797"/>
              </a:lnSpc>
              <a:buFont typeface="Arial"/>
              <a:buChar char="•"/>
            </a:pPr>
            <a:r>
              <a:rPr lang="en-US" sz="1399">
                <a:solidFill>
                  <a:srgbClr val="4C4C4D"/>
                </a:solidFill>
                <a:latin typeface="Heebo"/>
                <a:ea typeface="Heebo"/>
                <a:cs typeface="Heebo"/>
                <a:sym typeface="Heebo"/>
              </a:rPr>
              <a:t>Competitive salary and benefits</a:t>
            </a:r>
          </a:p>
          <a:p>
            <a:pPr algn="l" marL="337820" indent="-168910" lvl="1">
              <a:lnSpc>
                <a:spcPts val="1797"/>
              </a:lnSpc>
              <a:buFont typeface="Arial"/>
              <a:buChar char="•"/>
            </a:pPr>
            <a:r>
              <a:rPr lang="en-US" sz="1399">
                <a:solidFill>
                  <a:srgbClr val="4C4C4D"/>
                </a:solidFill>
                <a:latin typeface="Heebo"/>
                <a:ea typeface="Heebo"/>
                <a:cs typeface="Heebo"/>
                <a:sym typeface="Heebo"/>
              </a:rPr>
              <a:t>Training and development opportunities</a:t>
            </a:r>
          </a:p>
          <a:p>
            <a:pPr algn="l" marL="337820" indent="-168910" lvl="1">
              <a:lnSpc>
                <a:spcPts val="1797"/>
              </a:lnSpc>
              <a:buFont typeface="Arial"/>
              <a:buChar char="•"/>
            </a:pPr>
            <a:r>
              <a:rPr lang="en-US" sz="1399">
                <a:solidFill>
                  <a:srgbClr val="4C4C4D"/>
                </a:solidFill>
                <a:latin typeface="Heebo"/>
                <a:ea typeface="Heebo"/>
                <a:cs typeface="Heebo"/>
                <a:sym typeface="Heebo"/>
              </a:rPr>
              <a:t>Supportive team environment</a:t>
            </a:r>
          </a:p>
          <a:p>
            <a:pPr algn="l" marL="337820" indent="-168910" lvl="1">
              <a:lnSpc>
                <a:spcPts val="1797"/>
              </a:lnSpc>
              <a:buFont typeface="Arial"/>
              <a:buChar char="•"/>
            </a:pPr>
            <a:r>
              <a:rPr lang="en-US" sz="1399">
                <a:solidFill>
                  <a:srgbClr val="4C4C4D"/>
                </a:solidFill>
                <a:latin typeface="Consolas"/>
                <a:ea typeface="Consolas"/>
                <a:cs typeface="Consolas"/>
                <a:sym typeface="Consolas"/>
              </a:rPr>
              <a:t>[Additional benefits]</a:t>
            </a:r>
          </a:p>
        </p:txBody>
      </p:sp>
      <p:sp>
        <p:nvSpPr>
          <p:cNvPr name="TextBox 43" id="43"/>
          <p:cNvSpPr txBox="true"/>
          <p:nvPr/>
        </p:nvSpPr>
        <p:spPr>
          <a:xfrm rot="0">
            <a:off x="9382868" y="8546459"/>
            <a:ext cx="7834608" cy="312982"/>
          </a:xfrm>
          <a:prstGeom prst="rect">
            <a:avLst/>
          </a:prstGeom>
        </p:spPr>
        <p:txBody>
          <a:bodyPr anchor="t" rtlCol="false" tIns="0" lIns="0" bIns="0" rIns="0">
            <a:spAutoFit/>
          </a:bodyPr>
          <a:lstStyle/>
          <a:p>
            <a:pPr algn="l">
              <a:lnSpc>
                <a:spcPts val="2246"/>
              </a:lnSpc>
            </a:pPr>
            <a:r>
              <a:rPr lang="en-US" sz="1800">
                <a:solidFill>
                  <a:srgbClr val="152D47"/>
                </a:solidFill>
                <a:latin typeface="Crimson Pro"/>
                <a:ea typeface="Crimson Pro"/>
                <a:cs typeface="Crimson Pro"/>
                <a:sym typeface="Crimson Pro"/>
              </a:rPr>
              <a:t>Application</a:t>
            </a:r>
          </a:p>
        </p:txBody>
      </p:sp>
      <p:sp>
        <p:nvSpPr>
          <p:cNvPr name="TextBox 44" id="44"/>
          <p:cNvSpPr txBox="true"/>
          <p:nvPr/>
        </p:nvSpPr>
        <p:spPr>
          <a:xfrm rot="0">
            <a:off x="9382868" y="8964511"/>
            <a:ext cx="8749008" cy="261195"/>
          </a:xfrm>
          <a:prstGeom prst="rect">
            <a:avLst/>
          </a:prstGeom>
        </p:spPr>
        <p:txBody>
          <a:bodyPr anchor="t" rtlCol="false" tIns="0" lIns="0" bIns="0" rIns="0">
            <a:spAutoFit/>
          </a:bodyPr>
          <a:lstStyle/>
          <a:p>
            <a:pPr algn="l">
              <a:lnSpc>
                <a:spcPts val="1797"/>
              </a:lnSpc>
            </a:pPr>
            <a:r>
              <a:rPr lang="en-US" sz="1399">
                <a:solidFill>
                  <a:srgbClr val="4C4C4D"/>
                </a:solidFill>
                <a:latin typeface="Heebo"/>
                <a:ea typeface="Heebo"/>
                <a:cs typeface="Heebo"/>
                <a:sym typeface="Heebo"/>
              </a:rPr>
              <a:t>Send resume to [email] or apply via [link]</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0F0F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1080049" y="947890"/>
            <a:ext cx="16127911" cy="561527"/>
          </a:xfrm>
          <a:prstGeom prst="rect">
            <a:avLst/>
          </a:prstGeom>
        </p:spPr>
        <p:txBody>
          <a:bodyPr anchor="t" rtlCol="false" tIns="0" lIns="0" bIns="0" rIns="0">
            <a:spAutoFit/>
          </a:bodyPr>
          <a:lstStyle/>
          <a:p>
            <a:pPr algn="l">
              <a:lnSpc>
                <a:spcPts val="4243"/>
              </a:lnSpc>
            </a:pPr>
            <a:r>
              <a:rPr lang="en-US" sz="3400">
                <a:solidFill>
                  <a:srgbClr val="152D47"/>
                </a:solidFill>
                <a:latin typeface="Crimson Pro"/>
                <a:ea typeface="Crimson Pro"/>
                <a:cs typeface="Crimson Pro"/>
                <a:sym typeface="Crimson Pro"/>
              </a:rPr>
              <a:t>Operations Executive / Coordinator</a:t>
            </a:r>
          </a:p>
        </p:txBody>
      </p:sp>
      <p:grpSp>
        <p:nvGrpSpPr>
          <p:cNvPr name="Group 7" id="7"/>
          <p:cNvGrpSpPr/>
          <p:nvPr/>
        </p:nvGrpSpPr>
        <p:grpSpPr>
          <a:xfrm rot="0">
            <a:off x="1080049" y="1704680"/>
            <a:ext cx="3437782" cy="263423"/>
            <a:chOff x="0" y="0"/>
            <a:chExt cx="4583709" cy="351231"/>
          </a:xfrm>
        </p:grpSpPr>
        <p:sp>
          <p:nvSpPr>
            <p:cNvPr name="Freeform 8" id="8"/>
            <p:cNvSpPr/>
            <p:nvPr/>
          </p:nvSpPr>
          <p:spPr>
            <a:xfrm flipH="false" flipV="false" rot="0">
              <a:off x="0" y="0"/>
              <a:ext cx="4583684" cy="351282"/>
            </a:xfrm>
            <a:custGeom>
              <a:avLst/>
              <a:gdLst/>
              <a:ahLst/>
              <a:cxnLst/>
              <a:rect r="r" b="b" t="t" l="l"/>
              <a:pathLst>
                <a:path h="351282" w="4583684">
                  <a:moveTo>
                    <a:pt x="0" y="27813"/>
                  </a:moveTo>
                  <a:cubicBezTo>
                    <a:pt x="0" y="12446"/>
                    <a:pt x="12446" y="0"/>
                    <a:pt x="27813" y="0"/>
                  </a:cubicBezTo>
                  <a:lnTo>
                    <a:pt x="4555871" y="0"/>
                  </a:lnTo>
                  <a:cubicBezTo>
                    <a:pt x="4571238" y="0"/>
                    <a:pt x="4583684" y="12446"/>
                    <a:pt x="4583684" y="27813"/>
                  </a:cubicBezTo>
                  <a:lnTo>
                    <a:pt x="4583684" y="323469"/>
                  </a:lnTo>
                  <a:cubicBezTo>
                    <a:pt x="4583684" y="338836"/>
                    <a:pt x="4571238" y="351282"/>
                    <a:pt x="4555871" y="351282"/>
                  </a:cubicBezTo>
                  <a:lnTo>
                    <a:pt x="27813" y="351282"/>
                  </a:lnTo>
                  <a:cubicBezTo>
                    <a:pt x="12446" y="351282"/>
                    <a:pt x="0" y="338836"/>
                    <a:pt x="0" y="323469"/>
                  </a:cubicBezTo>
                  <a:close/>
                </a:path>
              </a:pathLst>
            </a:custGeom>
            <a:solidFill>
              <a:srgbClr val="CCD7FF"/>
            </a:solidFill>
          </p:spPr>
        </p:sp>
      </p:grpSp>
      <p:sp>
        <p:nvSpPr>
          <p:cNvPr name="TextBox 9" id="9"/>
          <p:cNvSpPr txBox="true"/>
          <p:nvPr/>
        </p:nvSpPr>
        <p:spPr>
          <a:xfrm rot="0">
            <a:off x="1184072" y="1766145"/>
            <a:ext cx="4144118" cy="150019"/>
          </a:xfrm>
          <a:prstGeom prst="rect">
            <a:avLst/>
          </a:prstGeom>
        </p:spPr>
        <p:txBody>
          <a:bodyPr anchor="t" rtlCol="false" tIns="0" lIns="0" bIns="0" rIns="0">
            <a:spAutoFit/>
          </a:bodyPr>
          <a:lstStyle/>
          <a:p>
            <a:pPr algn="l">
              <a:lnSpc>
                <a:spcPts val="1152"/>
              </a:lnSpc>
            </a:pPr>
            <a:r>
              <a:rPr lang="en-US" sz="1000">
                <a:solidFill>
                  <a:srgbClr val="4C4C4D"/>
                </a:solidFill>
                <a:latin typeface="Heebo"/>
                <a:ea typeface="Heebo"/>
                <a:cs typeface="Heebo"/>
                <a:sym typeface="Heebo"/>
              </a:rPr>
              <a:t>FULL-TIME  |  [CITY, COUNTRY]  |  [COMPANY NAME]</a:t>
            </a:r>
          </a:p>
        </p:txBody>
      </p:sp>
      <p:sp>
        <p:nvSpPr>
          <p:cNvPr name="TextBox 10" id="10"/>
          <p:cNvSpPr txBox="true"/>
          <p:nvPr/>
        </p:nvSpPr>
        <p:spPr>
          <a:xfrm rot="0">
            <a:off x="1080049" y="2068411"/>
            <a:ext cx="16127911" cy="443208"/>
          </a:xfrm>
          <a:prstGeom prst="rect">
            <a:avLst/>
          </a:prstGeom>
        </p:spPr>
        <p:txBody>
          <a:bodyPr anchor="t" rtlCol="false" tIns="0" lIns="0" bIns="0" rIns="0">
            <a:spAutoFit/>
          </a:bodyPr>
          <a:lstStyle/>
          <a:p>
            <a:pPr algn="l">
              <a:lnSpc>
                <a:spcPts val="1622"/>
              </a:lnSpc>
            </a:pPr>
            <a:r>
              <a:rPr lang="en-US" sz="1300">
                <a:solidFill>
                  <a:srgbClr val="4C4C4D"/>
                </a:solidFill>
                <a:latin typeface="Heebo"/>
                <a:ea typeface="Heebo"/>
                <a:cs typeface="Heebo"/>
                <a:sym typeface="Heebo"/>
              </a:rPr>
              <a:t>We are looking for an Operations Executive / Coordinator to support the smooth running of our daily operations. You will coordinate activities, manage processes, and ensure efficient workflow across departments.</a:t>
            </a:r>
          </a:p>
        </p:txBody>
      </p:sp>
      <p:grpSp>
        <p:nvGrpSpPr>
          <p:cNvPr name="Group 11" id="11"/>
          <p:cNvGrpSpPr/>
          <p:nvPr/>
        </p:nvGrpSpPr>
        <p:grpSpPr>
          <a:xfrm rot="0">
            <a:off x="1080049" y="2621461"/>
            <a:ext cx="8015135" cy="1646339"/>
            <a:chOff x="0" y="0"/>
            <a:chExt cx="10686847" cy="2195119"/>
          </a:xfrm>
        </p:grpSpPr>
        <p:sp>
          <p:nvSpPr>
            <p:cNvPr name="Freeform 12" id="12"/>
            <p:cNvSpPr/>
            <p:nvPr/>
          </p:nvSpPr>
          <p:spPr>
            <a:xfrm flipH="false" flipV="false" rot="0">
              <a:off x="0" y="0"/>
              <a:ext cx="10686796" cy="2195068"/>
            </a:xfrm>
            <a:custGeom>
              <a:avLst/>
              <a:gdLst/>
              <a:ahLst/>
              <a:cxnLst/>
              <a:rect r="r" b="b" t="t" l="l"/>
              <a:pathLst>
                <a:path h="2195068" w="10686796">
                  <a:moveTo>
                    <a:pt x="0" y="34671"/>
                  </a:moveTo>
                  <a:cubicBezTo>
                    <a:pt x="0" y="15494"/>
                    <a:pt x="15494" y="0"/>
                    <a:pt x="34671" y="0"/>
                  </a:cubicBezTo>
                  <a:lnTo>
                    <a:pt x="10652125" y="0"/>
                  </a:lnTo>
                  <a:cubicBezTo>
                    <a:pt x="10671302" y="0"/>
                    <a:pt x="10686796" y="15494"/>
                    <a:pt x="10686796" y="34671"/>
                  </a:cubicBezTo>
                  <a:lnTo>
                    <a:pt x="10686796" y="2160397"/>
                  </a:lnTo>
                  <a:cubicBezTo>
                    <a:pt x="10686796" y="2179574"/>
                    <a:pt x="10671302" y="2195068"/>
                    <a:pt x="10652125" y="2195068"/>
                  </a:cubicBezTo>
                  <a:lnTo>
                    <a:pt x="34671" y="2195068"/>
                  </a:lnTo>
                  <a:cubicBezTo>
                    <a:pt x="15494" y="2195068"/>
                    <a:pt x="0" y="2179574"/>
                    <a:pt x="0" y="2160397"/>
                  </a:cubicBezTo>
                  <a:close/>
                </a:path>
              </a:pathLst>
            </a:custGeom>
            <a:solidFill>
              <a:srgbClr val="F2EEEE"/>
            </a:solidFill>
          </p:spPr>
        </p:sp>
      </p:grpSp>
      <p:sp>
        <p:nvSpPr>
          <p:cNvPr name="TextBox 13" id="13"/>
          <p:cNvSpPr txBox="true"/>
          <p:nvPr/>
        </p:nvSpPr>
        <p:spPr>
          <a:xfrm rot="0">
            <a:off x="1253576" y="2775937"/>
            <a:ext cx="7668073" cy="290217"/>
          </a:xfrm>
          <a:prstGeom prst="rect">
            <a:avLst/>
          </a:prstGeom>
        </p:spPr>
        <p:txBody>
          <a:bodyPr anchor="t" rtlCol="false" tIns="0" lIns="0" bIns="0" rIns="0">
            <a:spAutoFit/>
          </a:bodyPr>
          <a:lstStyle/>
          <a:p>
            <a:pPr algn="l">
              <a:lnSpc>
                <a:spcPts val="2121"/>
              </a:lnSpc>
            </a:pPr>
            <a:r>
              <a:rPr lang="en-US" sz="1700">
                <a:solidFill>
                  <a:srgbClr val="4C4C4D"/>
                </a:solidFill>
                <a:latin typeface="Crimson Pro"/>
                <a:ea typeface="Crimson Pro"/>
                <a:cs typeface="Crimson Pro"/>
                <a:sym typeface="Crimson Pro"/>
              </a:rPr>
              <a:t>Daily Operations</a:t>
            </a:r>
          </a:p>
        </p:txBody>
      </p:sp>
      <p:sp>
        <p:nvSpPr>
          <p:cNvPr name="TextBox 14" id="14"/>
          <p:cNvSpPr txBox="true"/>
          <p:nvPr/>
        </p:nvSpPr>
        <p:spPr>
          <a:xfrm rot="0">
            <a:off x="1253576" y="3115123"/>
            <a:ext cx="7668073" cy="728215"/>
          </a:xfrm>
          <a:prstGeom prst="rect">
            <a:avLst/>
          </a:prstGeom>
        </p:spPr>
        <p:txBody>
          <a:bodyPr anchor="t" rtlCol="false" tIns="0" lIns="0" bIns="0" rIns="0">
            <a:spAutoFit/>
          </a:bodyPr>
          <a:lstStyle/>
          <a:p>
            <a:pPr algn="l" marL="313690" indent="-156845" lvl="1">
              <a:lnSpc>
                <a:spcPts val="1622"/>
              </a:lnSpc>
              <a:buFont typeface="Arial"/>
              <a:buChar char="•"/>
            </a:pPr>
            <a:r>
              <a:rPr lang="en-US" sz="1300">
                <a:solidFill>
                  <a:srgbClr val="4C4C4D"/>
                </a:solidFill>
                <a:latin typeface="Heebo"/>
                <a:ea typeface="Heebo"/>
                <a:cs typeface="Heebo"/>
                <a:sym typeface="Heebo"/>
              </a:rPr>
              <a:t>Manage day-to-day operational activities</a:t>
            </a:r>
          </a:p>
          <a:p>
            <a:pPr algn="l" marL="313690" indent="-156845" lvl="1">
              <a:lnSpc>
                <a:spcPts val="1622"/>
              </a:lnSpc>
              <a:buFont typeface="Arial"/>
              <a:buChar char="•"/>
            </a:pPr>
            <a:r>
              <a:rPr lang="en-US" sz="1300">
                <a:solidFill>
                  <a:srgbClr val="4C4C4D"/>
                </a:solidFill>
                <a:latin typeface="Heebo"/>
                <a:ea typeface="Heebo"/>
                <a:cs typeface="Heebo"/>
                <a:sym typeface="Heebo"/>
              </a:rPr>
              <a:t>Coordinate between departments and teams</a:t>
            </a:r>
          </a:p>
          <a:p>
            <a:pPr algn="l" marL="313690" indent="-156845" lvl="1">
              <a:lnSpc>
                <a:spcPts val="1622"/>
              </a:lnSpc>
              <a:buFont typeface="Arial"/>
              <a:buChar char="•"/>
            </a:pPr>
            <a:r>
              <a:rPr lang="en-US" sz="1300">
                <a:solidFill>
                  <a:srgbClr val="4C4C4D"/>
                </a:solidFill>
                <a:latin typeface="Heebo"/>
                <a:ea typeface="Heebo"/>
                <a:cs typeface="Heebo"/>
                <a:sym typeface="Heebo"/>
              </a:rPr>
              <a:t>Ensure timely completion of tasks and projects</a:t>
            </a:r>
          </a:p>
        </p:txBody>
      </p:sp>
      <p:grpSp>
        <p:nvGrpSpPr>
          <p:cNvPr name="Group 15" id="15"/>
          <p:cNvGrpSpPr/>
          <p:nvPr/>
        </p:nvGrpSpPr>
        <p:grpSpPr>
          <a:xfrm rot="0">
            <a:off x="9192816" y="2621461"/>
            <a:ext cx="8015135" cy="1646339"/>
            <a:chOff x="0" y="0"/>
            <a:chExt cx="10686847" cy="2195119"/>
          </a:xfrm>
        </p:grpSpPr>
        <p:sp>
          <p:nvSpPr>
            <p:cNvPr name="Freeform 16" id="16"/>
            <p:cNvSpPr/>
            <p:nvPr/>
          </p:nvSpPr>
          <p:spPr>
            <a:xfrm flipH="false" flipV="false" rot="0">
              <a:off x="0" y="0"/>
              <a:ext cx="10686796" cy="2195068"/>
            </a:xfrm>
            <a:custGeom>
              <a:avLst/>
              <a:gdLst/>
              <a:ahLst/>
              <a:cxnLst/>
              <a:rect r="r" b="b" t="t" l="l"/>
              <a:pathLst>
                <a:path h="2195068" w="10686796">
                  <a:moveTo>
                    <a:pt x="0" y="34671"/>
                  </a:moveTo>
                  <a:cubicBezTo>
                    <a:pt x="0" y="15494"/>
                    <a:pt x="15494" y="0"/>
                    <a:pt x="34671" y="0"/>
                  </a:cubicBezTo>
                  <a:lnTo>
                    <a:pt x="10652125" y="0"/>
                  </a:lnTo>
                  <a:cubicBezTo>
                    <a:pt x="10671302" y="0"/>
                    <a:pt x="10686796" y="15494"/>
                    <a:pt x="10686796" y="34671"/>
                  </a:cubicBezTo>
                  <a:lnTo>
                    <a:pt x="10686796" y="2160397"/>
                  </a:lnTo>
                  <a:cubicBezTo>
                    <a:pt x="10686796" y="2179574"/>
                    <a:pt x="10671302" y="2195068"/>
                    <a:pt x="10652125" y="2195068"/>
                  </a:cubicBezTo>
                  <a:lnTo>
                    <a:pt x="34671" y="2195068"/>
                  </a:lnTo>
                  <a:cubicBezTo>
                    <a:pt x="15494" y="2195068"/>
                    <a:pt x="0" y="2179574"/>
                    <a:pt x="0" y="2160397"/>
                  </a:cubicBezTo>
                  <a:close/>
                </a:path>
              </a:pathLst>
            </a:custGeom>
            <a:solidFill>
              <a:srgbClr val="F2EEEE"/>
            </a:solidFill>
          </p:spPr>
        </p:sp>
      </p:grpSp>
      <p:sp>
        <p:nvSpPr>
          <p:cNvPr name="TextBox 17" id="17"/>
          <p:cNvSpPr txBox="true"/>
          <p:nvPr/>
        </p:nvSpPr>
        <p:spPr>
          <a:xfrm rot="0">
            <a:off x="9366352" y="2775937"/>
            <a:ext cx="7668073" cy="290217"/>
          </a:xfrm>
          <a:prstGeom prst="rect">
            <a:avLst/>
          </a:prstGeom>
        </p:spPr>
        <p:txBody>
          <a:bodyPr anchor="t" rtlCol="false" tIns="0" lIns="0" bIns="0" rIns="0">
            <a:spAutoFit/>
          </a:bodyPr>
          <a:lstStyle/>
          <a:p>
            <a:pPr algn="l">
              <a:lnSpc>
                <a:spcPts val="2121"/>
              </a:lnSpc>
            </a:pPr>
            <a:r>
              <a:rPr lang="en-US" sz="1700">
                <a:solidFill>
                  <a:srgbClr val="4C4C4D"/>
                </a:solidFill>
                <a:latin typeface="Crimson Pro"/>
                <a:ea typeface="Crimson Pro"/>
                <a:cs typeface="Crimson Pro"/>
                <a:sym typeface="Crimson Pro"/>
              </a:rPr>
              <a:t>Coordination &amp; Logistics</a:t>
            </a:r>
          </a:p>
        </p:txBody>
      </p:sp>
      <p:sp>
        <p:nvSpPr>
          <p:cNvPr name="TextBox 18" id="18"/>
          <p:cNvSpPr txBox="true"/>
          <p:nvPr/>
        </p:nvSpPr>
        <p:spPr>
          <a:xfrm rot="0">
            <a:off x="9366352" y="3115123"/>
            <a:ext cx="7668073" cy="979141"/>
          </a:xfrm>
          <a:prstGeom prst="rect">
            <a:avLst/>
          </a:prstGeom>
        </p:spPr>
        <p:txBody>
          <a:bodyPr anchor="t" rtlCol="false" tIns="0" lIns="0" bIns="0" rIns="0">
            <a:spAutoFit/>
          </a:bodyPr>
          <a:lstStyle/>
          <a:p>
            <a:pPr algn="l" marL="313690" indent="-156845" lvl="1">
              <a:lnSpc>
                <a:spcPts val="1622"/>
              </a:lnSpc>
              <a:buFont typeface="Arial"/>
              <a:buChar char="•"/>
            </a:pPr>
            <a:r>
              <a:rPr lang="en-US" sz="1300">
                <a:solidFill>
                  <a:srgbClr val="4C4C4D"/>
                </a:solidFill>
                <a:latin typeface="Heebo"/>
                <a:ea typeface="Heebo"/>
                <a:cs typeface="Heebo"/>
                <a:sym typeface="Heebo"/>
              </a:rPr>
              <a:t>Schedule meetings and coordinate logistics</a:t>
            </a:r>
          </a:p>
          <a:p>
            <a:pPr algn="l" marL="313690" indent="-156845" lvl="1">
              <a:lnSpc>
                <a:spcPts val="1622"/>
              </a:lnSpc>
              <a:buFont typeface="Arial"/>
              <a:buChar char="•"/>
            </a:pPr>
            <a:r>
              <a:rPr lang="en-US" sz="1300">
                <a:solidFill>
                  <a:srgbClr val="4C4C4D"/>
                </a:solidFill>
                <a:latin typeface="Heebo"/>
                <a:ea typeface="Heebo"/>
                <a:cs typeface="Heebo"/>
                <a:sym typeface="Heebo"/>
              </a:rPr>
              <a:t>Manage office supplies and resources</a:t>
            </a:r>
          </a:p>
          <a:p>
            <a:pPr algn="l" marL="313690" indent="-156845" lvl="1">
              <a:lnSpc>
                <a:spcPts val="1622"/>
              </a:lnSpc>
              <a:buFont typeface="Arial"/>
              <a:buChar char="•"/>
            </a:pPr>
            <a:r>
              <a:rPr lang="en-US" sz="1300">
                <a:solidFill>
                  <a:srgbClr val="4C4C4D"/>
                </a:solidFill>
                <a:latin typeface="Heebo"/>
                <a:ea typeface="Heebo"/>
                <a:cs typeface="Heebo"/>
                <a:sym typeface="Heebo"/>
              </a:rPr>
              <a:t>Support event planning and coordination</a:t>
            </a:r>
          </a:p>
          <a:p>
            <a:pPr algn="l" marL="313690" indent="-156845" lvl="1">
              <a:lnSpc>
                <a:spcPts val="1622"/>
              </a:lnSpc>
              <a:buFont typeface="Arial"/>
              <a:buChar char="•"/>
            </a:pPr>
            <a:r>
              <a:rPr lang="en-US" sz="1300">
                <a:solidFill>
                  <a:srgbClr val="4C4C4D"/>
                </a:solidFill>
                <a:latin typeface="Heebo"/>
                <a:ea typeface="Heebo"/>
                <a:cs typeface="Heebo"/>
                <a:sym typeface="Heebo"/>
              </a:rPr>
              <a:t>Liaise with internal and external stakeholders</a:t>
            </a:r>
          </a:p>
        </p:txBody>
      </p:sp>
      <p:grpSp>
        <p:nvGrpSpPr>
          <p:cNvPr name="Group 19" id="19"/>
          <p:cNvGrpSpPr/>
          <p:nvPr/>
        </p:nvGrpSpPr>
        <p:grpSpPr>
          <a:xfrm rot="0">
            <a:off x="1080049" y="4365422"/>
            <a:ext cx="8015135" cy="1646339"/>
            <a:chOff x="0" y="0"/>
            <a:chExt cx="10686847" cy="2195119"/>
          </a:xfrm>
        </p:grpSpPr>
        <p:sp>
          <p:nvSpPr>
            <p:cNvPr name="Freeform 20" id="20"/>
            <p:cNvSpPr/>
            <p:nvPr/>
          </p:nvSpPr>
          <p:spPr>
            <a:xfrm flipH="false" flipV="false" rot="0">
              <a:off x="0" y="0"/>
              <a:ext cx="10686796" cy="2195068"/>
            </a:xfrm>
            <a:custGeom>
              <a:avLst/>
              <a:gdLst/>
              <a:ahLst/>
              <a:cxnLst/>
              <a:rect r="r" b="b" t="t" l="l"/>
              <a:pathLst>
                <a:path h="2195068" w="10686796">
                  <a:moveTo>
                    <a:pt x="0" y="34671"/>
                  </a:moveTo>
                  <a:cubicBezTo>
                    <a:pt x="0" y="15494"/>
                    <a:pt x="15494" y="0"/>
                    <a:pt x="34671" y="0"/>
                  </a:cubicBezTo>
                  <a:lnTo>
                    <a:pt x="10652125" y="0"/>
                  </a:lnTo>
                  <a:cubicBezTo>
                    <a:pt x="10671302" y="0"/>
                    <a:pt x="10686796" y="15494"/>
                    <a:pt x="10686796" y="34671"/>
                  </a:cubicBezTo>
                  <a:lnTo>
                    <a:pt x="10686796" y="2160397"/>
                  </a:lnTo>
                  <a:cubicBezTo>
                    <a:pt x="10686796" y="2179574"/>
                    <a:pt x="10671302" y="2195068"/>
                    <a:pt x="10652125" y="2195068"/>
                  </a:cubicBezTo>
                  <a:lnTo>
                    <a:pt x="34671" y="2195068"/>
                  </a:lnTo>
                  <a:cubicBezTo>
                    <a:pt x="15494" y="2195068"/>
                    <a:pt x="0" y="2179574"/>
                    <a:pt x="0" y="2160397"/>
                  </a:cubicBezTo>
                  <a:close/>
                </a:path>
              </a:pathLst>
            </a:custGeom>
            <a:solidFill>
              <a:srgbClr val="F2EEEE"/>
            </a:solidFill>
          </p:spPr>
        </p:sp>
      </p:grpSp>
      <p:sp>
        <p:nvSpPr>
          <p:cNvPr name="TextBox 21" id="21"/>
          <p:cNvSpPr txBox="true"/>
          <p:nvPr/>
        </p:nvSpPr>
        <p:spPr>
          <a:xfrm rot="0">
            <a:off x="1253576" y="4519908"/>
            <a:ext cx="7668073" cy="290217"/>
          </a:xfrm>
          <a:prstGeom prst="rect">
            <a:avLst/>
          </a:prstGeom>
        </p:spPr>
        <p:txBody>
          <a:bodyPr anchor="t" rtlCol="false" tIns="0" lIns="0" bIns="0" rIns="0">
            <a:spAutoFit/>
          </a:bodyPr>
          <a:lstStyle/>
          <a:p>
            <a:pPr algn="l">
              <a:lnSpc>
                <a:spcPts val="2121"/>
              </a:lnSpc>
            </a:pPr>
            <a:r>
              <a:rPr lang="en-US" sz="1700">
                <a:solidFill>
                  <a:srgbClr val="4C4C4D"/>
                </a:solidFill>
                <a:latin typeface="Crimson Pro"/>
                <a:ea typeface="Crimson Pro"/>
                <a:cs typeface="Crimson Pro"/>
                <a:sym typeface="Crimson Pro"/>
              </a:rPr>
              <a:t>Documentation &amp; Process</a:t>
            </a:r>
          </a:p>
        </p:txBody>
      </p:sp>
      <p:sp>
        <p:nvSpPr>
          <p:cNvPr name="TextBox 22" id="22"/>
          <p:cNvSpPr txBox="true"/>
          <p:nvPr/>
        </p:nvSpPr>
        <p:spPr>
          <a:xfrm rot="0">
            <a:off x="1253576" y="4859093"/>
            <a:ext cx="7668073" cy="979141"/>
          </a:xfrm>
          <a:prstGeom prst="rect">
            <a:avLst/>
          </a:prstGeom>
        </p:spPr>
        <p:txBody>
          <a:bodyPr anchor="t" rtlCol="false" tIns="0" lIns="0" bIns="0" rIns="0">
            <a:spAutoFit/>
          </a:bodyPr>
          <a:lstStyle/>
          <a:p>
            <a:pPr algn="l" marL="313690" indent="-156845" lvl="1">
              <a:lnSpc>
                <a:spcPts val="1622"/>
              </a:lnSpc>
              <a:buFont typeface="Arial"/>
              <a:buChar char="•"/>
            </a:pPr>
            <a:r>
              <a:rPr lang="en-US" sz="1300">
                <a:solidFill>
                  <a:srgbClr val="4C4C4D"/>
                </a:solidFill>
                <a:latin typeface="Heebo"/>
                <a:ea typeface="Heebo"/>
                <a:cs typeface="Heebo"/>
                <a:sym typeface="Heebo"/>
              </a:rPr>
              <a:t>Maintain operational records and documentation</a:t>
            </a:r>
          </a:p>
          <a:p>
            <a:pPr algn="l" marL="313690" indent="-156845" lvl="1">
              <a:lnSpc>
                <a:spcPts val="1622"/>
              </a:lnSpc>
              <a:buFont typeface="Arial"/>
              <a:buChar char="•"/>
            </a:pPr>
            <a:r>
              <a:rPr lang="en-US" sz="1300">
                <a:solidFill>
                  <a:srgbClr val="4C4C4D"/>
                </a:solidFill>
                <a:latin typeface="Heebo"/>
                <a:ea typeface="Heebo"/>
                <a:cs typeface="Heebo"/>
                <a:sym typeface="Heebo"/>
              </a:rPr>
              <a:t>Create and update process documentation</a:t>
            </a:r>
          </a:p>
          <a:p>
            <a:pPr algn="l" marL="313690" indent="-156845" lvl="1">
              <a:lnSpc>
                <a:spcPts val="1622"/>
              </a:lnSpc>
              <a:buFont typeface="Arial"/>
              <a:buChar char="•"/>
            </a:pPr>
            <a:r>
              <a:rPr lang="en-US" sz="1300">
                <a:solidFill>
                  <a:srgbClr val="4C4C4D"/>
                </a:solidFill>
                <a:latin typeface="Heebo"/>
                <a:ea typeface="Heebo"/>
                <a:cs typeface="Heebo"/>
                <a:sym typeface="Heebo"/>
              </a:rPr>
              <a:t>Identify opportunities for process improvement</a:t>
            </a:r>
          </a:p>
          <a:p>
            <a:pPr algn="l" marL="313690" indent="-156845" lvl="1">
              <a:lnSpc>
                <a:spcPts val="1622"/>
              </a:lnSpc>
              <a:buFont typeface="Arial"/>
              <a:buChar char="•"/>
            </a:pPr>
            <a:r>
              <a:rPr lang="en-US" sz="1300">
                <a:solidFill>
                  <a:srgbClr val="4C4C4D"/>
                </a:solidFill>
                <a:latin typeface="Heebo"/>
                <a:ea typeface="Heebo"/>
                <a:cs typeface="Heebo"/>
                <a:sym typeface="Heebo"/>
              </a:rPr>
              <a:t>Implement and monitor operational procedures</a:t>
            </a:r>
          </a:p>
        </p:txBody>
      </p:sp>
      <p:grpSp>
        <p:nvGrpSpPr>
          <p:cNvPr name="Group 23" id="23"/>
          <p:cNvGrpSpPr/>
          <p:nvPr/>
        </p:nvGrpSpPr>
        <p:grpSpPr>
          <a:xfrm rot="0">
            <a:off x="9192816" y="4365422"/>
            <a:ext cx="8015135" cy="1646339"/>
            <a:chOff x="0" y="0"/>
            <a:chExt cx="10686847" cy="2195119"/>
          </a:xfrm>
        </p:grpSpPr>
        <p:sp>
          <p:nvSpPr>
            <p:cNvPr name="Freeform 24" id="24"/>
            <p:cNvSpPr/>
            <p:nvPr/>
          </p:nvSpPr>
          <p:spPr>
            <a:xfrm flipH="false" flipV="false" rot="0">
              <a:off x="0" y="0"/>
              <a:ext cx="10686796" cy="2195068"/>
            </a:xfrm>
            <a:custGeom>
              <a:avLst/>
              <a:gdLst/>
              <a:ahLst/>
              <a:cxnLst/>
              <a:rect r="r" b="b" t="t" l="l"/>
              <a:pathLst>
                <a:path h="2195068" w="10686796">
                  <a:moveTo>
                    <a:pt x="0" y="34671"/>
                  </a:moveTo>
                  <a:cubicBezTo>
                    <a:pt x="0" y="15494"/>
                    <a:pt x="15494" y="0"/>
                    <a:pt x="34671" y="0"/>
                  </a:cubicBezTo>
                  <a:lnTo>
                    <a:pt x="10652125" y="0"/>
                  </a:lnTo>
                  <a:cubicBezTo>
                    <a:pt x="10671302" y="0"/>
                    <a:pt x="10686796" y="15494"/>
                    <a:pt x="10686796" y="34671"/>
                  </a:cubicBezTo>
                  <a:lnTo>
                    <a:pt x="10686796" y="2160397"/>
                  </a:lnTo>
                  <a:cubicBezTo>
                    <a:pt x="10686796" y="2179574"/>
                    <a:pt x="10671302" y="2195068"/>
                    <a:pt x="10652125" y="2195068"/>
                  </a:cubicBezTo>
                  <a:lnTo>
                    <a:pt x="34671" y="2195068"/>
                  </a:lnTo>
                  <a:cubicBezTo>
                    <a:pt x="15494" y="2195068"/>
                    <a:pt x="0" y="2179574"/>
                    <a:pt x="0" y="2160397"/>
                  </a:cubicBezTo>
                  <a:close/>
                </a:path>
              </a:pathLst>
            </a:custGeom>
            <a:solidFill>
              <a:srgbClr val="F2EEEE"/>
            </a:solidFill>
          </p:spPr>
        </p:sp>
      </p:grpSp>
      <p:sp>
        <p:nvSpPr>
          <p:cNvPr name="TextBox 25" id="25"/>
          <p:cNvSpPr txBox="true"/>
          <p:nvPr/>
        </p:nvSpPr>
        <p:spPr>
          <a:xfrm rot="0">
            <a:off x="9366352" y="4519908"/>
            <a:ext cx="7668073" cy="290217"/>
          </a:xfrm>
          <a:prstGeom prst="rect">
            <a:avLst/>
          </a:prstGeom>
        </p:spPr>
        <p:txBody>
          <a:bodyPr anchor="t" rtlCol="false" tIns="0" lIns="0" bIns="0" rIns="0">
            <a:spAutoFit/>
          </a:bodyPr>
          <a:lstStyle/>
          <a:p>
            <a:pPr algn="l">
              <a:lnSpc>
                <a:spcPts val="2121"/>
              </a:lnSpc>
            </a:pPr>
            <a:r>
              <a:rPr lang="en-US" sz="1700">
                <a:solidFill>
                  <a:srgbClr val="4C4C4D"/>
                </a:solidFill>
                <a:latin typeface="Crimson Pro"/>
                <a:ea typeface="Crimson Pro"/>
                <a:cs typeface="Crimson Pro"/>
                <a:sym typeface="Crimson Pro"/>
              </a:rPr>
              <a:t>Reporting</a:t>
            </a:r>
          </a:p>
        </p:txBody>
      </p:sp>
      <p:sp>
        <p:nvSpPr>
          <p:cNvPr name="TextBox 26" id="26"/>
          <p:cNvSpPr txBox="true"/>
          <p:nvPr/>
        </p:nvSpPr>
        <p:spPr>
          <a:xfrm rot="0">
            <a:off x="9366352" y="4859093"/>
            <a:ext cx="7668073" cy="728215"/>
          </a:xfrm>
          <a:prstGeom prst="rect">
            <a:avLst/>
          </a:prstGeom>
        </p:spPr>
        <p:txBody>
          <a:bodyPr anchor="t" rtlCol="false" tIns="0" lIns="0" bIns="0" rIns="0">
            <a:spAutoFit/>
          </a:bodyPr>
          <a:lstStyle/>
          <a:p>
            <a:pPr algn="l" marL="313690" indent="-156845" lvl="1">
              <a:lnSpc>
                <a:spcPts val="1622"/>
              </a:lnSpc>
              <a:buFont typeface="Arial"/>
              <a:buChar char="•"/>
            </a:pPr>
            <a:r>
              <a:rPr lang="en-US" sz="1300">
                <a:solidFill>
                  <a:srgbClr val="4C4C4D"/>
                </a:solidFill>
                <a:latin typeface="Heebo"/>
                <a:ea typeface="Heebo"/>
                <a:cs typeface="Heebo"/>
                <a:sym typeface="Heebo"/>
              </a:rPr>
              <a:t>Prepare operational reports and metrics</a:t>
            </a:r>
          </a:p>
          <a:p>
            <a:pPr algn="l" marL="313690" indent="-156845" lvl="1">
              <a:lnSpc>
                <a:spcPts val="1622"/>
              </a:lnSpc>
              <a:buFont typeface="Arial"/>
              <a:buChar char="•"/>
            </a:pPr>
            <a:r>
              <a:rPr lang="en-US" sz="1300">
                <a:solidFill>
                  <a:srgbClr val="4C4C4D"/>
                </a:solidFill>
                <a:latin typeface="Heebo"/>
                <a:ea typeface="Heebo"/>
                <a:cs typeface="Heebo"/>
                <a:sym typeface="Heebo"/>
              </a:rPr>
              <a:t>Track key performance indicators</a:t>
            </a:r>
          </a:p>
          <a:p>
            <a:pPr algn="l" marL="313690" indent="-156845" lvl="1">
              <a:lnSpc>
                <a:spcPts val="1622"/>
              </a:lnSpc>
              <a:buFont typeface="Arial"/>
              <a:buChar char="•"/>
            </a:pPr>
            <a:r>
              <a:rPr lang="en-US" sz="1300">
                <a:solidFill>
                  <a:srgbClr val="4C4C4D"/>
                </a:solidFill>
                <a:latin typeface="Heebo"/>
                <a:ea typeface="Heebo"/>
                <a:cs typeface="Heebo"/>
                <a:sym typeface="Heebo"/>
              </a:rPr>
              <a:t>Report on operational efficiency and issues</a:t>
            </a:r>
          </a:p>
        </p:txBody>
      </p:sp>
      <p:sp>
        <p:nvSpPr>
          <p:cNvPr name="TextBox 27" id="27"/>
          <p:cNvSpPr txBox="true"/>
          <p:nvPr/>
        </p:nvSpPr>
        <p:spPr>
          <a:xfrm rot="0">
            <a:off x="1080049" y="6200184"/>
            <a:ext cx="7852172" cy="290217"/>
          </a:xfrm>
          <a:prstGeom prst="rect">
            <a:avLst/>
          </a:prstGeom>
        </p:spPr>
        <p:txBody>
          <a:bodyPr anchor="t" rtlCol="false" tIns="0" lIns="0" bIns="0" rIns="0">
            <a:spAutoFit/>
          </a:bodyPr>
          <a:lstStyle/>
          <a:p>
            <a:pPr algn="l">
              <a:lnSpc>
                <a:spcPts val="2121"/>
              </a:lnSpc>
            </a:pPr>
            <a:r>
              <a:rPr lang="en-US" sz="1700">
                <a:solidFill>
                  <a:srgbClr val="152D47"/>
                </a:solidFill>
                <a:latin typeface="Crimson Pro"/>
                <a:ea typeface="Crimson Pro"/>
                <a:cs typeface="Crimson Pro"/>
                <a:sym typeface="Crimson Pro"/>
              </a:rPr>
              <a:t>Required Skills</a:t>
            </a:r>
          </a:p>
        </p:txBody>
      </p:sp>
      <p:sp>
        <p:nvSpPr>
          <p:cNvPr name="TextBox 28" id="28"/>
          <p:cNvSpPr txBox="true"/>
          <p:nvPr/>
        </p:nvSpPr>
        <p:spPr>
          <a:xfrm rot="0">
            <a:off x="1080049" y="6578498"/>
            <a:ext cx="7852172" cy="1230068"/>
          </a:xfrm>
          <a:prstGeom prst="rect">
            <a:avLst/>
          </a:prstGeom>
        </p:spPr>
        <p:txBody>
          <a:bodyPr anchor="t" rtlCol="false" tIns="0" lIns="0" bIns="0" rIns="0">
            <a:spAutoFit/>
          </a:bodyPr>
          <a:lstStyle/>
          <a:p>
            <a:pPr algn="l" marL="313690" indent="-156845" lvl="1">
              <a:lnSpc>
                <a:spcPts val="1622"/>
              </a:lnSpc>
              <a:buFont typeface="Arial"/>
              <a:buChar char="•"/>
            </a:pPr>
            <a:r>
              <a:rPr lang="en-US" sz="1300">
                <a:solidFill>
                  <a:srgbClr val="4C4C4D"/>
                </a:solidFill>
                <a:latin typeface="Heebo"/>
                <a:ea typeface="Heebo"/>
                <a:cs typeface="Heebo"/>
                <a:sym typeface="Heebo"/>
              </a:rPr>
              <a:t>Organizational and time management skills</a:t>
            </a:r>
          </a:p>
          <a:p>
            <a:pPr algn="l" marL="313690" indent="-156845" lvl="1">
              <a:lnSpc>
                <a:spcPts val="1622"/>
              </a:lnSpc>
              <a:buFont typeface="Arial"/>
              <a:buChar char="•"/>
            </a:pPr>
            <a:r>
              <a:rPr lang="en-US" sz="1300">
                <a:solidFill>
                  <a:srgbClr val="4C4C4D"/>
                </a:solidFill>
                <a:latin typeface="Heebo"/>
                <a:ea typeface="Heebo"/>
                <a:cs typeface="Heebo"/>
                <a:sym typeface="Heebo"/>
              </a:rPr>
              <a:t>Attention to detail and accuracy</a:t>
            </a:r>
          </a:p>
          <a:p>
            <a:pPr algn="l" marL="313690" indent="-156845" lvl="1">
              <a:lnSpc>
                <a:spcPts val="1622"/>
              </a:lnSpc>
              <a:buFont typeface="Arial"/>
              <a:buChar char="•"/>
            </a:pPr>
            <a:r>
              <a:rPr lang="en-US" sz="1300">
                <a:solidFill>
                  <a:srgbClr val="4C4C4D"/>
                </a:solidFill>
                <a:latin typeface="Heebo"/>
                <a:ea typeface="Heebo"/>
                <a:cs typeface="Heebo"/>
                <a:sym typeface="Heebo"/>
              </a:rPr>
              <a:t>Communication and coordination abilities</a:t>
            </a:r>
          </a:p>
          <a:p>
            <a:pPr algn="l" marL="313690" indent="-156845" lvl="1">
              <a:lnSpc>
                <a:spcPts val="1622"/>
              </a:lnSpc>
              <a:buFont typeface="Arial"/>
              <a:buChar char="•"/>
            </a:pPr>
            <a:r>
              <a:rPr lang="en-US" sz="1300">
                <a:solidFill>
                  <a:srgbClr val="4C4C4D"/>
                </a:solidFill>
                <a:latin typeface="Heebo"/>
                <a:ea typeface="Heebo"/>
                <a:cs typeface="Heebo"/>
                <a:sym typeface="Heebo"/>
              </a:rPr>
              <a:t>Problem-solving skills</a:t>
            </a:r>
          </a:p>
          <a:p>
            <a:pPr algn="l" marL="313690" indent="-156845" lvl="1">
              <a:lnSpc>
                <a:spcPts val="1622"/>
              </a:lnSpc>
              <a:buFont typeface="Arial"/>
              <a:buChar char="•"/>
            </a:pPr>
            <a:r>
              <a:rPr lang="en-US" sz="1300">
                <a:solidFill>
                  <a:srgbClr val="4C4C4D"/>
                </a:solidFill>
                <a:latin typeface="Heebo"/>
                <a:ea typeface="Heebo"/>
                <a:cs typeface="Heebo"/>
                <a:sym typeface="Heebo"/>
              </a:rPr>
              <a:t>Proficiency with office software and systems</a:t>
            </a:r>
          </a:p>
        </p:txBody>
      </p:sp>
      <p:sp>
        <p:nvSpPr>
          <p:cNvPr name="TextBox 29" id="29"/>
          <p:cNvSpPr txBox="true"/>
          <p:nvPr/>
        </p:nvSpPr>
        <p:spPr>
          <a:xfrm rot="0">
            <a:off x="9365304" y="6200184"/>
            <a:ext cx="7852172" cy="290217"/>
          </a:xfrm>
          <a:prstGeom prst="rect">
            <a:avLst/>
          </a:prstGeom>
        </p:spPr>
        <p:txBody>
          <a:bodyPr anchor="t" rtlCol="false" tIns="0" lIns="0" bIns="0" rIns="0">
            <a:spAutoFit/>
          </a:bodyPr>
          <a:lstStyle/>
          <a:p>
            <a:pPr algn="l">
              <a:lnSpc>
                <a:spcPts val="2121"/>
              </a:lnSpc>
            </a:pPr>
            <a:r>
              <a:rPr lang="en-US" sz="1700">
                <a:solidFill>
                  <a:srgbClr val="152D47"/>
                </a:solidFill>
                <a:latin typeface="Crimson Pro"/>
                <a:ea typeface="Crimson Pro"/>
                <a:cs typeface="Crimson Pro"/>
                <a:sym typeface="Crimson Pro"/>
              </a:rPr>
              <a:t>Required Experience</a:t>
            </a:r>
          </a:p>
        </p:txBody>
      </p:sp>
      <p:sp>
        <p:nvSpPr>
          <p:cNvPr name="TextBox 30" id="30"/>
          <p:cNvSpPr txBox="true"/>
          <p:nvPr/>
        </p:nvSpPr>
        <p:spPr>
          <a:xfrm rot="0">
            <a:off x="9365304" y="6578498"/>
            <a:ext cx="7852172" cy="496338"/>
          </a:xfrm>
          <a:prstGeom prst="rect">
            <a:avLst/>
          </a:prstGeom>
        </p:spPr>
        <p:txBody>
          <a:bodyPr anchor="t" rtlCol="false" tIns="0" lIns="0" bIns="0" rIns="0">
            <a:spAutoFit/>
          </a:bodyPr>
          <a:lstStyle/>
          <a:p>
            <a:pPr algn="l" marL="313690" indent="-156845" lvl="1">
              <a:lnSpc>
                <a:spcPts val="1622"/>
              </a:lnSpc>
              <a:buFont typeface="Arial"/>
              <a:buChar char="•"/>
            </a:pPr>
            <a:r>
              <a:rPr lang="en-US" sz="1300">
                <a:solidFill>
                  <a:srgbClr val="4C4C4D"/>
                </a:solidFill>
                <a:latin typeface="Heebo"/>
                <a:ea typeface="Heebo"/>
                <a:cs typeface="Heebo"/>
                <a:sym typeface="Heebo"/>
              </a:rPr>
              <a:t>[X] years of operations or administrative experience</a:t>
            </a:r>
          </a:p>
          <a:p>
            <a:pPr algn="l" marL="313690" indent="-156845" lvl="1">
              <a:lnSpc>
                <a:spcPts val="1622"/>
              </a:lnSpc>
              <a:buFont typeface="Arial"/>
              <a:buChar char="•"/>
            </a:pPr>
            <a:r>
              <a:rPr lang="en-US" sz="1300">
                <a:solidFill>
                  <a:srgbClr val="4C4C4D"/>
                </a:solidFill>
                <a:latin typeface="Heebo"/>
                <a:ea typeface="Heebo"/>
                <a:cs typeface="Heebo"/>
                <a:sym typeface="Heebo"/>
              </a:rPr>
              <a:t>Experience coordinating multiple projects or activities simultaneously</a:t>
            </a:r>
          </a:p>
        </p:txBody>
      </p:sp>
      <p:sp>
        <p:nvSpPr>
          <p:cNvPr name="TextBox 31" id="31"/>
          <p:cNvSpPr txBox="true"/>
          <p:nvPr/>
        </p:nvSpPr>
        <p:spPr>
          <a:xfrm rot="0">
            <a:off x="9365304" y="7153427"/>
            <a:ext cx="7852172" cy="290217"/>
          </a:xfrm>
          <a:prstGeom prst="rect">
            <a:avLst/>
          </a:prstGeom>
        </p:spPr>
        <p:txBody>
          <a:bodyPr anchor="t" rtlCol="false" tIns="0" lIns="0" bIns="0" rIns="0">
            <a:spAutoFit/>
          </a:bodyPr>
          <a:lstStyle/>
          <a:p>
            <a:pPr algn="l">
              <a:lnSpc>
                <a:spcPts val="2121"/>
              </a:lnSpc>
            </a:pPr>
            <a:r>
              <a:rPr lang="en-US" sz="1700">
                <a:solidFill>
                  <a:srgbClr val="152D47"/>
                </a:solidFill>
                <a:latin typeface="Crimson Pro"/>
                <a:ea typeface="Crimson Pro"/>
                <a:cs typeface="Crimson Pro"/>
                <a:sym typeface="Crimson Pro"/>
              </a:rPr>
              <a:t>What We Offer</a:t>
            </a:r>
          </a:p>
        </p:txBody>
      </p:sp>
      <p:sp>
        <p:nvSpPr>
          <p:cNvPr name="TextBox 32" id="32"/>
          <p:cNvSpPr txBox="true"/>
          <p:nvPr/>
        </p:nvSpPr>
        <p:spPr>
          <a:xfrm rot="0">
            <a:off x="9365304" y="7531741"/>
            <a:ext cx="7852172" cy="998191"/>
          </a:xfrm>
          <a:prstGeom prst="rect">
            <a:avLst/>
          </a:prstGeom>
        </p:spPr>
        <p:txBody>
          <a:bodyPr anchor="t" rtlCol="false" tIns="0" lIns="0" bIns="0" rIns="0">
            <a:spAutoFit/>
          </a:bodyPr>
          <a:lstStyle/>
          <a:p>
            <a:pPr algn="l" marL="313690" indent="-156845" lvl="1">
              <a:lnSpc>
                <a:spcPts val="1622"/>
              </a:lnSpc>
              <a:buFont typeface="Arial"/>
              <a:buChar char="•"/>
            </a:pPr>
            <a:r>
              <a:rPr lang="en-US" sz="1300">
                <a:solidFill>
                  <a:srgbClr val="4C4C4D"/>
                </a:solidFill>
                <a:latin typeface="Heebo"/>
                <a:ea typeface="Heebo"/>
                <a:cs typeface="Heebo"/>
                <a:sym typeface="Heebo"/>
              </a:rPr>
              <a:t>Competitive salary and benefits</a:t>
            </a:r>
          </a:p>
          <a:p>
            <a:pPr algn="l" marL="313690" indent="-156845" lvl="1">
              <a:lnSpc>
                <a:spcPts val="1622"/>
              </a:lnSpc>
              <a:buFont typeface="Arial"/>
              <a:buChar char="•"/>
            </a:pPr>
            <a:r>
              <a:rPr lang="en-US" sz="1300">
                <a:solidFill>
                  <a:srgbClr val="4C4C4D"/>
                </a:solidFill>
                <a:latin typeface="Heebo"/>
                <a:ea typeface="Heebo"/>
                <a:cs typeface="Heebo"/>
                <a:sym typeface="Heebo"/>
              </a:rPr>
              <a:t>Opportunity to improve operational efficiency</a:t>
            </a:r>
          </a:p>
          <a:p>
            <a:pPr algn="l" marL="313690" indent="-156845" lvl="1">
              <a:lnSpc>
                <a:spcPts val="1622"/>
              </a:lnSpc>
              <a:buFont typeface="Arial"/>
              <a:buChar char="•"/>
            </a:pPr>
            <a:r>
              <a:rPr lang="en-US" sz="1300">
                <a:solidFill>
                  <a:srgbClr val="4C4C4D"/>
                </a:solidFill>
                <a:latin typeface="Heebo"/>
                <a:ea typeface="Heebo"/>
                <a:cs typeface="Heebo"/>
                <a:sym typeface="Heebo"/>
              </a:rPr>
              <a:t>Collaborative work environment</a:t>
            </a:r>
          </a:p>
          <a:p>
            <a:pPr algn="l" marL="313690" indent="-156845" lvl="1">
              <a:lnSpc>
                <a:spcPts val="1622"/>
              </a:lnSpc>
              <a:buFont typeface="Arial"/>
              <a:buChar char="•"/>
            </a:pPr>
            <a:r>
              <a:rPr lang="en-US" sz="1300">
                <a:solidFill>
                  <a:srgbClr val="4C4C4D"/>
                </a:solidFill>
                <a:latin typeface="Consolas"/>
                <a:ea typeface="Consolas"/>
                <a:cs typeface="Consolas"/>
                <a:sym typeface="Consolas"/>
              </a:rPr>
              <a:t>[Additional benefits]</a:t>
            </a:r>
          </a:p>
        </p:txBody>
      </p:sp>
      <p:sp>
        <p:nvSpPr>
          <p:cNvPr name="TextBox 33" id="33"/>
          <p:cNvSpPr txBox="true"/>
          <p:nvPr/>
        </p:nvSpPr>
        <p:spPr>
          <a:xfrm rot="0">
            <a:off x="9365304" y="8608514"/>
            <a:ext cx="7852172" cy="290217"/>
          </a:xfrm>
          <a:prstGeom prst="rect">
            <a:avLst/>
          </a:prstGeom>
        </p:spPr>
        <p:txBody>
          <a:bodyPr anchor="t" rtlCol="false" tIns="0" lIns="0" bIns="0" rIns="0">
            <a:spAutoFit/>
          </a:bodyPr>
          <a:lstStyle/>
          <a:p>
            <a:pPr algn="l">
              <a:lnSpc>
                <a:spcPts val="2121"/>
              </a:lnSpc>
            </a:pPr>
            <a:r>
              <a:rPr lang="en-US" sz="1700">
                <a:solidFill>
                  <a:srgbClr val="152D47"/>
                </a:solidFill>
                <a:latin typeface="Crimson Pro"/>
                <a:ea typeface="Crimson Pro"/>
                <a:cs typeface="Crimson Pro"/>
                <a:sym typeface="Crimson Pro"/>
              </a:rPr>
              <a:t>Application</a:t>
            </a:r>
          </a:p>
        </p:txBody>
      </p:sp>
      <p:sp>
        <p:nvSpPr>
          <p:cNvPr name="TextBox 34" id="34"/>
          <p:cNvSpPr txBox="true"/>
          <p:nvPr/>
        </p:nvSpPr>
        <p:spPr>
          <a:xfrm rot="0">
            <a:off x="9365304" y="8986837"/>
            <a:ext cx="8766572" cy="245421"/>
          </a:xfrm>
          <a:prstGeom prst="rect">
            <a:avLst/>
          </a:prstGeom>
        </p:spPr>
        <p:txBody>
          <a:bodyPr anchor="t" rtlCol="false" tIns="0" lIns="0" bIns="0" rIns="0">
            <a:spAutoFit/>
          </a:bodyPr>
          <a:lstStyle/>
          <a:p>
            <a:pPr algn="l">
              <a:lnSpc>
                <a:spcPts val="1622"/>
              </a:lnSpc>
            </a:pPr>
            <a:r>
              <a:rPr lang="en-US" sz="1300">
                <a:solidFill>
                  <a:srgbClr val="4C4C4D"/>
                </a:solidFill>
                <a:latin typeface="Heebo"/>
                <a:ea typeface="Heebo"/>
                <a:cs typeface="Heebo"/>
                <a:sym typeface="Heebo"/>
              </a:rPr>
              <a:t>Send resume to [email] or apply via [link]</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0F0F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1080049" y="867518"/>
            <a:ext cx="16127911" cy="736702"/>
          </a:xfrm>
          <a:prstGeom prst="rect">
            <a:avLst/>
          </a:prstGeom>
        </p:spPr>
        <p:txBody>
          <a:bodyPr anchor="t" rtlCol="false" tIns="0" lIns="0" bIns="0" rIns="0">
            <a:spAutoFit/>
          </a:bodyPr>
          <a:lstStyle/>
          <a:p>
            <a:pPr algn="l">
              <a:lnSpc>
                <a:spcPts val="5491"/>
              </a:lnSpc>
            </a:pPr>
            <a:r>
              <a:rPr lang="en-US" sz="4400">
                <a:solidFill>
                  <a:srgbClr val="152D47"/>
                </a:solidFill>
                <a:latin typeface="Crimson Pro"/>
                <a:ea typeface="Crimson Pro"/>
                <a:cs typeface="Crimson Pro"/>
                <a:sym typeface="Crimson Pro"/>
              </a:rPr>
              <a:t>Write Clearer Job Descriptions. Attract Better-Matched Candidates.</a:t>
            </a:r>
          </a:p>
        </p:txBody>
      </p:sp>
      <p:sp>
        <p:nvSpPr>
          <p:cNvPr name="TextBox 7" id="7"/>
          <p:cNvSpPr txBox="true"/>
          <p:nvPr/>
        </p:nvSpPr>
        <p:spPr>
          <a:xfrm rot="0">
            <a:off x="1080049" y="1908419"/>
            <a:ext cx="16127911" cy="657520"/>
          </a:xfrm>
          <a:prstGeom prst="rect">
            <a:avLst/>
          </a:prstGeom>
        </p:spPr>
        <p:txBody>
          <a:bodyPr anchor="t" rtlCol="false" tIns="0" lIns="0" bIns="0" rIns="0">
            <a:spAutoFit/>
          </a:bodyPr>
          <a:lstStyle/>
          <a:p>
            <a:pPr algn="l">
              <a:lnSpc>
                <a:spcPts val="2366"/>
              </a:lnSpc>
            </a:pPr>
            <a:r>
              <a:rPr lang="en-US" sz="1700">
                <a:solidFill>
                  <a:srgbClr val="4C4C4D"/>
                </a:solidFill>
                <a:latin typeface="Heebo"/>
                <a:ea typeface="Heebo"/>
                <a:cs typeface="Heebo"/>
                <a:sym typeface="Heebo"/>
              </a:rPr>
              <a:t>Every template in this pack is designed to help you move faster, write more clearly, and attract candidates who are genuinely qualified for your roles. The right job description is the first step in a successful hire.</a:t>
            </a:r>
          </a:p>
        </p:txBody>
      </p:sp>
      <p:grpSp>
        <p:nvGrpSpPr>
          <p:cNvPr name="Group 8" id="8"/>
          <p:cNvGrpSpPr/>
          <p:nvPr/>
        </p:nvGrpSpPr>
        <p:grpSpPr>
          <a:xfrm rot="0">
            <a:off x="1080049" y="2753173"/>
            <a:ext cx="16127911" cy="1545431"/>
            <a:chOff x="0" y="0"/>
            <a:chExt cx="21503881" cy="2060575"/>
          </a:xfrm>
        </p:grpSpPr>
        <p:sp>
          <p:nvSpPr>
            <p:cNvPr name="Freeform 9" id="9"/>
            <p:cNvSpPr/>
            <p:nvPr/>
          </p:nvSpPr>
          <p:spPr>
            <a:xfrm flipH="false" flipV="false" rot="0">
              <a:off x="0" y="0"/>
              <a:ext cx="21503894" cy="2060575"/>
            </a:xfrm>
            <a:custGeom>
              <a:avLst/>
              <a:gdLst/>
              <a:ahLst/>
              <a:cxnLst/>
              <a:rect r="r" b="b" t="t" l="l"/>
              <a:pathLst>
                <a:path h="2060575" w="21503894">
                  <a:moveTo>
                    <a:pt x="0" y="45339"/>
                  </a:moveTo>
                  <a:cubicBezTo>
                    <a:pt x="0" y="20320"/>
                    <a:pt x="20320" y="0"/>
                    <a:pt x="45339" y="0"/>
                  </a:cubicBezTo>
                  <a:lnTo>
                    <a:pt x="21458555" y="0"/>
                  </a:lnTo>
                  <a:cubicBezTo>
                    <a:pt x="21483574" y="0"/>
                    <a:pt x="21503894" y="20320"/>
                    <a:pt x="21503894" y="45339"/>
                  </a:cubicBezTo>
                  <a:lnTo>
                    <a:pt x="21503894" y="2015236"/>
                  </a:lnTo>
                  <a:cubicBezTo>
                    <a:pt x="21503894" y="2040255"/>
                    <a:pt x="21483574" y="2060575"/>
                    <a:pt x="21458555" y="2060575"/>
                  </a:cubicBezTo>
                  <a:lnTo>
                    <a:pt x="45339" y="2060575"/>
                  </a:lnTo>
                  <a:cubicBezTo>
                    <a:pt x="20320" y="2060575"/>
                    <a:pt x="0" y="2040255"/>
                    <a:pt x="0" y="2015236"/>
                  </a:cubicBezTo>
                  <a:close/>
                </a:path>
              </a:pathLst>
            </a:custGeom>
            <a:solidFill>
              <a:srgbClr val="F2EEEE"/>
            </a:solidFill>
          </p:spPr>
        </p:sp>
      </p:grpSp>
      <p:grpSp>
        <p:nvGrpSpPr>
          <p:cNvPr name="Group 10" id="10"/>
          <p:cNvGrpSpPr/>
          <p:nvPr/>
        </p:nvGrpSpPr>
        <p:grpSpPr>
          <a:xfrm rot="0">
            <a:off x="1080049" y="2753173"/>
            <a:ext cx="5375967" cy="1545431"/>
            <a:chOff x="0" y="0"/>
            <a:chExt cx="7167956" cy="2060575"/>
          </a:xfrm>
        </p:grpSpPr>
        <p:sp>
          <p:nvSpPr>
            <p:cNvPr name="Freeform 11" id="11"/>
            <p:cNvSpPr/>
            <p:nvPr/>
          </p:nvSpPr>
          <p:spPr>
            <a:xfrm flipH="false" flipV="false" rot="0">
              <a:off x="0" y="0"/>
              <a:ext cx="7168007" cy="2060575"/>
            </a:xfrm>
            <a:custGeom>
              <a:avLst/>
              <a:gdLst/>
              <a:ahLst/>
              <a:cxnLst/>
              <a:rect r="r" b="b" t="t" l="l"/>
              <a:pathLst>
                <a:path h="2060575" w="7168007">
                  <a:moveTo>
                    <a:pt x="37719" y="0"/>
                  </a:moveTo>
                  <a:lnTo>
                    <a:pt x="7168007" y="0"/>
                  </a:lnTo>
                  <a:lnTo>
                    <a:pt x="7168007" y="2060575"/>
                  </a:lnTo>
                  <a:lnTo>
                    <a:pt x="37719" y="2060575"/>
                  </a:lnTo>
                  <a:cubicBezTo>
                    <a:pt x="16891" y="2060575"/>
                    <a:pt x="0" y="2043684"/>
                    <a:pt x="0" y="2022856"/>
                  </a:cubicBezTo>
                  <a:lnTo>
                    <a:pt x="0" y="37719"/>
                  </a:lnTo>
                  <a:cubicBezTo>
                    <a:pt x="0" y="16891"/>
                    <a:pt x="16891" y="0"/>
                    <a:pt x="37719" y="0"/>
                  </a:cubicBezTo>
                  <a:close/>
                </a:path>
              </a:pathLst>
            </a:custGeom>
            <a:solidFill>
              <a:srgbClr val="F2EEEE"/>
            </a:solidFill>
          </p:spPr>
        </p:sp>
      </p:grpSp>
      <p:sp>
        <p:nvSpPr>
          <p:cNvPr name="TextBox 12" id="12"/>
          <p:cNvSpPr txBox="true"/>
          <p:nvPr/>
        </p:nvSpPr>
        <p:spPr>
          <a:xfrm rot="0">
            <a:off x="1306563" y="2951112"/>
            <a:ext cx="4922939" cy="382781"/>
          </a:xfrm>
          <a:prstGeom prst="rect">
            <a:avLst/>
          </a:prstGeom>
        </p:spPr>
        <p:txBody>
          <a:bodyPr anchor="t" rtlCol="false" tIns="0" lIns="0" bIns="0" rIns="0">
            <a:spAutoFit/>
          </a:bodyPr>
          <a:lstStyle/>
          <a:p>
            <a:pPr algn="l">
              <a:lnSpc>
                <a:spcPts val="2745"/>
              </a:lnSpc>
            </a:pPr>
            <a:r>
              <a:rPr lang="en-US" sz="2200">
                <a:solidFill>
                  <a:srgbClr val="4C4C4D"/>
                </a:solidFill>
                <a:latin typeface="Crimson Pro"/>
                <a:ea typeface="Crimson Pro"/>
                <a:cs typeface="Crimson Pro"/>
                <a:sym typeface="Crimson Pro"/>
              </a:rPr>
              <a:t>Copy</a:t>
            </a:r>
          </a:p>
        </p:txBody>
      </p:sp>
      <p:sp>
        <p:nvSpPr>
          <p:cNvPr name="TextBox 13" id="13"/>
          <p:cNvSpPr txBox="true"/>
          <p:nvPr/>
        </p:nvSpPr>
        <p:spPr>
          <a:xfrm rot="0">
            <a:off x="1306563" y="3405035"/>
            <a:ext cx="4922939" cy="657520"/>
          </a:xfrm>
          <a:prstGeom prst="rect">
            <a:avLst/>
          </a:prstGeom>
        </p:spPr>
        <p:txBody>
          <a:bodyPr anchor="t" rtlCol="false" tIns="0" lIns="0" bIns="0" rIns="0">
            <a:spAutoFit/>
          </a:bodyPr>
          <a:lstStyle/>
          <a:p>
            <a:pPr algn="l">
              <a:lnSpc>
                <a:spcPts val="2366"/>
              </a:lnSpc>
            </a:pPr>
            <a:r>
              <a:rPr lang="en-US" sz="1700">
                <a:solidFill>
                  <a:srgbClr val="4C4C4D"/>
                </a:solidFill>
                <a:latin typeface="Heebo"/>
                <a:ea typeface="Heebo"/>
                <a:cs typeface="Heebo"/>
                <a:sym typeface="Heebo"/>
              </a:rPr>
              <a:t>Select any template from this pack and copy it into your preferred editor</a:t>
            </a:r>
          </a:p>
        </p:txBody>
      </p:sp>
      <p:grpSp>
        <p:nvGrpSpPr>
          <p:cNvPr name="Group 14" id="14"/>
          <p:cNvGrpSpPr/>
          <p:nvPr/>
        </p:nvGrpSpPr>
        <p:grpSpPr>
          <a:xfrm rot="0">
            <a:off x="6456016" y="2753173"/>
            <a:ext cx="5375967" cy="1545431"/>
            <a:chOff x="0" y="0"/>
            <a:chExt cx="7167956" cy="2060575"/>
          </a:xfrm>
        </p:grpSpPr>
        <p:sp>
          <p:nvSpPr>
            <p:cNvPr name="Freeform 15" id="15"/>
            <p:cNvSpPr/>
            <p:nvPr/>
          </p:nvSpPr>
          <p:spPr>
            <a:xfrm flipH="false" flipV="false" rot="0">
              <a:off x="0" y="0"/>
              <a:ext cx="7168007" cy="2060575"/>
            </a:xfrm>
            <a:custGeom>
              <a:avLst/>
              <a:gdLst/>
              <a:ahLst/>
              <a:cxnLst/>
              <a:rect r="r" b="b" t="t" l="l"/>
              <a:pathLst>
                <a:path h="2060575" w="7168007">
                  <a:moveTo>
                    <a:pt x="0" y="0"/>
                  </a:moveTo>
                  <a:lnTo>
                    <a:pt x="7168007" y="0"/>
                  </a:lnTo>
                  <a:lnTo>
                    <a:pt x="7168007" y="2060575"/>
                  </a:lnTo>
                  <a:lnTo>
                    <a:pt x="0" y="2060575"/>
                  </a:lnTo>
                  <a:close/>
                </a:path>
              </a:pathLst>
            </a:custGeom>
            <a:solidFill>
              <a:srgbClr val="F2EEEE"/>
            </a:solidFill>
          </p:spPr>
        </p:sp>
      </p:grpSp>
      <p:grpSp>
        <p:nvGrpSpPr>
          <p:cNvPr name="Group 16" id="16"/>
          <p:cNvGrpSpPr/>
          <p:nvPr/>
        </p:nvGrpSpPr>
        <p:grpSpPr>
          <a:xfrm rot="0">
            <a:off x="6456016" y="2753173"/>
            <a:ext cx="28575" cy="1545431"/>
            <a:chOff x="0" y="0"/>
            <a:chExt cx="38100" cy="2060575"/>
          </a:xfrm>
        </p:grpSpPr>
        <p:sp>
          <p:nvSpPr>
            <p:cNvPr name="Freeform 17" id="17"/>
            <p:cNvSpPr/>
            <p:nvPr/>
          </p:nvSpPr>
          <p:spPr>
            <a:xfrm flipH="false" flipV="false" rot="0">
              <a:off x="0" y="0"/>
              <a:ext cx="38100" cy="2060575"/>
            </a:xfrm>
            <a:custGeom>
              <a:avLst/>
              <a:gdLst/>
              <a:ahLst/>
              <a:cxnLst/>
              <a:rect r="r" b="b" t="t" l="l"/>
              <a:pathLst>
                <a:path h="2060575" w="38100">
                  <a:moveTo>
                    <a:pt x="0" y="19050"/>
                  </a:moveTo>
                  <a:cubicBezTo>
                    <a:pt x="0" y="8509"/>
                    <a:pt x="8509" y="0"/>
                    <a:pt x="19050" y="0"/>
                  </a:cubicBezTo>
                  <a:cubicBezTo>
                    <a:pt x="29591" y="0"/>
                    <a:pt x="38100" y="8509"/>
                    <a:pt x="38100" y="19050"/>
                  </a:cubicBezTo>
                  <a:lnTo>
                    <a:pt x="38100" y="2041525"/>
                  </a:lnTo>
                  <a:cubicBezTo>
                    <a:pt x="38100" y="2052066"/>
                    <a:pt x="29591" y="2060575"/>
                    <a:pt x="19050" y="2060575"/>
                  </a:cubicBezTo>
                  <a:cubicBezTo>
                    <a:pt x="8509" y="2060575"/>
                    <a:pt x="0" y="2052066"/>
                    <a:pt x="0" y="2041525"/>
                  </a:cubicBezTo>
                  <a:close/>
                </a:path>
              </a:pathLst>
            </a:custGeom>
            <a:solidFill>
              <a:srgbClr val="D8D4D4"/>
            </a:solidFill>
          </p:spPr>
        </p:sp>
      </p:grpSp>
      <p:sp>
        <p:nvSpPr>
          <p:cNvPr name="TextBox 18" id="18"/>
          <p:cNvSpPr txBox="true"/>
          <p:nvPr/>
        </p:nvSpPr>
        <p:spPr>
          <a:xfrm rot="0">
            <a:off x="6682530" y="2951112"/>
            <a:ext cx="4922939" cy="382781"/>
          </a:xfrm>
          <a:prstGeom prst="rect">
            <a:avLst/>
          </a:prstGeom>
        </p:spPr>
        <p:txBody>
          <a:bodyPr anchor="t" rtlCol="false" tIns="0" lIns="0" bIns="0" rIns="0">
            <a:spAutoFit/>
          </a:bodyPr>
          <a:lstStyle/>
          <a:p>
            <a:pPr algn="l">
              <a:lnSpc>
                <a:spcPts val="2745"/>
              </a:lnSpc>
            </a:pPr>
            <a:r>
              <a:rPr lang="en-US" sz="2200">
                <a:solidFill>
                  <a:srgbClr val="4C4C4D"/>
                </a:solidFill>
                <a:latin typeface="Crimson Pro"/>
                <a:ea typeface="Crimson Pro"/>
                <a:cs typeface="Crimson Pro"/>
                <a:sym typeface="Crimson Pro"/>
              </a:rPr>
              <a:t>Customize</a:t>
            </a:r>
          </a:p>
        </p:txBody>
      </p:sp>
      <p:sp>
        <p:nvSpPr>
          <p:cNvPr name="TextBox 19" id="19"/>
          <p:cNvSpPr txBox="true"/>
          <p:nvPr/>
        </p:nvSpPr>
        <p:spPr>
          <a:xfrm rot="0">
            <a:off x="6682530" y="3405035"/>
            <a:ext cx="4922939" cy="667045"/>
          </a:xfrm>
          <a:prstGeom prst="rect">
            <a:avLst/>
          </a:prstGeom>
        </p:spPr>
        <p:txBody>
          <a:bodyPr anchor="t" rtlCol="false" tIns="0" lIns="0" bIns="0" rIns="0">
            <a:spAutoFit/>
          </a:bodyPr>
          <a:lstStyle/>
          <a:p>
            <a:pPr algn="l">
              <a:lnSpc>
                <a:spcPts val="2366"/>
              </a:lnSpc>
            </a:pPr>
            <a:r>
              <a:rPr lang="en-US" sz="1700">
                <a:solidFill>
                  <a:srgbClr val="4C4C4D"/>
                </a:solidFill>
                <a:latin typeface="Heebo"/>
                <a:ea typeface="Heebo"/>
                <a:cs typeface="Heebo"/>
                <a:sym typeface="Heebo"/>
              </a:rPr>
              <a:t>Replace every [placeholder] with your specific role details and company information</a:t>
            </a:r>
          </a:p>
        </p:txBody>
      </p:sp>
      <p:grpSp>
        <p:nvGrpSpPr>
          <p:cNvPr name="Group 20" id="20"/>
          <p:cNvGrpSpPr/>
          <p:nvPr/>
        </p:nvGrpSpPr>
        <p:grpSpPr>
          <a:xfrm rot="0">
            <a:off x="11831984" y="2753173"/>
            <a:ext cx="5375967" cy="1545431"/>
            <a:chOff x="0" y="0"/>
            <a:chExt cx="7167956" cy="2060575"/>
          </a:xfrm>
        </p:grpSpPr>
        <p:sp>
          <p:nvSpPr>
            <p:cNvPr name="Freeform 21" id="21"/>
            <p:cNvSpPr/>
            <p:nvPr/>
          </p:nvSpPr>
          <p:spPr>
            <a:xfrm flipH="false" flipV="false" rot="0">
              <a:off x="0" y="0"/>
              <a:ext cx="7167880" cy="2060448"/>
            </a:xfrm>
            <a:custGeom>
              <a:avLst/>
              <a:gdLst/>
              <a:ahLst/>
              <a:cxnLst/>
              <a:rect r="r" b="b" t="t" l="l"/>
              <a:pathLst>
                <a:path h="2060448" w="7167880">
                  <a:moveTo>
                    <a:pt x="0" y="0"/>
                  </a:moveTo>
                  <a:lnTo>
                    <a:pt x="7130161" y="0"/>
                  </a:lnTo>
                  <a:cubicBezTo>
                    <a:pt x="7150989" y="0"/>
                    <a:pt x="7167880" y="16891"/>
                    <a:pt x="7167880" y="37719"/>
                  </a:cubicBezTo>
                  <a:lnTo>
                    <a:pt x="7167880" y="2022729"/>
                  </a:lnTo>
                  <a:cubicBezTo>
                    <a:pt x="7167880" y="2043557"/>
                    <a:pt x="7150989" y="2060448"/>
                    <a:pt x="7130161" y="2060448"/>
                  </a:cubicBezTo>
                  <a:lnTo>
                    <a:pt x="0" y="2060448"/>
                  </a:lnTo>
                  <a:lnTo>
                    <a:pt x="0" y="0"/>
                  </a:lnTo>
                  <a:close/>
                </a:path>
              </a:pathLst>
            </a:custGeom>
            <a:solidFill>
              <a:srgbClr val="F2EEEE"/>
            </a:solidFill>
          </p:spPr>
        </p:sp>
      </p:grpSp>
      <p:grpSp>
        <p:nvGrpSpPr>
          <p:cNvPr name="Group 22" id="22"/>
          <p:cNvGrpSpPr/>
          <p:nvPr/>
        </p:nvGrpSpPr>
        <p:grpSpPr>
          <a:xfrm rot="0">
            <a:off x="11831984" y="2753173"/>
            <a:ext cx="28575" cy="1545431"/>
            <a:chOff x="0" y="0"/>
            <a:chExt cx="38100" cy="2060575"/>
          </a:xfrm>
        </p:grpSpPr>
        <p:sp>
          <p:nvSpPr>
            <p:cNvPr name="Freeform 23" id="23"/>
            <p:cNvSpPr/>
            <p:nvPr/>
          </p:nvSpPr>
          <p:spPr>
            <a:xfrm flipH="false" flipV="false" rot="0">
              <a:off x="0" y="0"/>
              <a:ext cx="38100" cy="2060575"/>
            </a:xfrm>
            <a:custGeom>
              <a:avLst/>
              <a:gdLst/>
              <a:ahLst/>
              <a:cxnLst/>
              <a:rect r="r" b="b" t="t" l="l"/>
              <a:pathLst>
                <a:path h="2060575" w="38100">
                  <a:moveTo>
                    <a:pt x="0" y="19050"/>
                  </a:moveTo>
                  <a:cubicBezTo>
                    <a:pt x="0" y="8509"/>
                    <a:pt x="8509" y="0"/>
                    <a:pt x="19050" y="0"/>
                  </a:cubicBezTo>
                  <a:cubicBezTo>
                    <a:pt x="29591" y="0"/>
                    <a:pt x="38100" y="8509"/>
                    <a:pt x="38100" y="19050"/>
                  </a:cubicBezTo>
                  <a:lnTo>
                    <a:pt x="38100" y="2041525"/>
                  </a:lnTo>
                  <a:cubicBezTo>
                    <a:pt x="38100" y="2052066"/>
                    <a:pt x="29591" y="2060575"/>
                    <a:pt x="19050" y="2060575"/>
                  </a:cubicBezTo>
                  <a:cubicBezTo>
                    <a:pt x="8509" y="2060575"/>
                    <a:pt x="0" y="2052066"/>
                    <a:pt x="0" y="2041525"/>
                  </a:cubicBezTo>
                  <a:close/>
                </a:path>
              </a:pathLst>
            </a:custGeom>
            <a:solidFill>
              <a:srgbClr val="D8D4D4"/>
            </a:solidFill>
          </p:spPr>
        </p:sp>
      </p:grpSp>
      <p:sp>
        <p:nvSpPr>
          <p:cNvPr name="TextBox 24" id="24"/>
          <p:cNvSpPr txBox="true"/>
          <p:nvPr/>
        </p:nvSpPr>
        <p:spPr>
          <a:xfrm rot="0">
            <a:off x="12058498" y="2951112"/>
            <a:ext cx="4922939" cy="382781"/>
          </a:xfrm>
          <a:prstGeom prst="rect">
            <a:avLst/>
          </a:prstGeom>
        </p:spPr>
        <p:txBody>
          <a:bodyPr anchor="t" rtlCol="false" tIns="0" lIns="0" bIns="0" rIns="0">
            <a:spAutoFit/>
          </a:bodyPr>
          <a:lstStyle/>
          <a:p>
            <a:pPr algn="l">
              <a:lnSpc>
                <a:spcPts val="2745"/>
              </a:lnSpc>
            </a:pPr>
            <a:r>
              <a:rPr lang="en-US" sz="2200">
                <a:solidFill>
                  <a:srgbClr val="4C4C4D"/>
                </a:solidFill>
                <a:latin typeface="Crimson Pro"/>
                <a:ea typeface="Crimson Pro"/>
                <a:cs typeface="Crimson Pro"/>
                <a:sym typeface="Crimson Pro"/>
              </a:rPr>
              <a:t>Publish</a:t>
            </a:r>
          </a:p>
        </p:txBody>
      </p:sp>
      <p:sp>
        <p:nvSpPr>
          <p:cNvPr name="TextBox 25" id="25"/>
          <p:cNvSpPr txBox="true"/>
          <p:nvPr/>
        </p:nvSpPr>
        <p:spPr>
          <a:xfrm rot="0">
            <a:off x="12058498" y="3405035"/>
            <a:ext cx="4922939" cy="657520"/>
          </a:xfrm>
          <a:prstGeom prst="rect">
            <a:avLst/>
          </a:prstGeom>
        </p:spPr>
        <p:txBody>
          <a:bodyPr anchor="t" rtlCol="false" tIns="0" lIns="0" bIns="0" rIns="0">
            <a:spAutoFit/>
          </a:bodyPr>
          <a:lstStyle/>
          <a:p>
            <a:pPr algn="l">
              <a:lnSpc>
                <a:spcPts val="2366"/>
              </a:lnSpc>
            </a:pPr>
            <a:r>
              <a:rPr lang="en-US" sz="1700">
                <a:solidFill>
                  <a:srgbClr val="4C4C4D"/>
                </a:solidFill>
                <a:latin typeface="Heebo"/>
                <a:ea typeface="Heebo"/>
                <a:cs typeface="Heebo"/>
                <a:sym typeface="Heebo"/>
              </a:rPr>
              <a:t>Post to job boards, your careers page, or share directly with candidates — ready to go</a:t>
            </a:r>
          </a:p>
        </p:txBody>
      </p:sp>
      <p:grpSp>
        <p:nvGrpSpPr>
          <p:cNvPr name="Group 26" id="26"/>
          <p:cNvGrpSpPr/>
          <p:nvPr/>
        </p:nvGrpSpPr>
        <p:grpSpPr>
          <a:xfrm rot="0">
            <a:off x="916934" y="4485827"/>
            <a:ext cx="8113814" cy="4904927"/>
            <a:chOff x="0" y="0"/>
            <a:chExt cx="10818419" cy="6539903"/>
          </a:xfrm>
        </p:grpSpPr>
        <p:sp>
          <p:nvSpPr>
            <p:cNvPr name="Freeform 27" id="27"/>
            <p:cNvSpPr/>
            <p:nvPr/>
          </p:nvSpPr>
          <p:spPr>
            <a:xfrm flipH="false" flipV="false" rot="0">
              <a:off x="0" y="0"/>
              <a:ext cx="10818495" cy="6539865"/>
            </a:xfrm>
            <a:custGeom>
              <a:avLst/>
              <a:gdLst/>
              <a:ahLst/>
              <a:cxnLst/>
              <a:rect r="r" b="b" t="t" l="l"/>
              <a:pathLst>
                <a:path h="6539865" w="10818495">
                  <a:moveTo>
                    <a:pt x="0" y="45339"/>
                  </a:moveTo>
                  <a:cubicBezTo>
                    <a:pt x="0" y="20320"/>
                    <a:pt x="20320" y="0"/>
                    <a:pt x="45339" y="0"/>
                  </a:cubicBezTo>
                  <a:lnTo>
                    <a:pt x="10773156" y="0"/>
                  </a:lnTo>
                  <a:cubicBezTo>
                    <a:pt x="10798175" y="0"/>
                    <a:pt x="10818495" y="20320"/>
                    <a:pt x="10818495" y="45339"/>
                  </a:cubicBezTo>
                  <a:lnTo>
                    <a:pt x="10818495" y="6494526"/>
                  </a:lnTo>
                  <a:cubicBezTo>
                    <a:pt x="10818495" y="6519545"/>
                    <a:pt x="10798175" y="6539865"/>
                    <a:pt x="10773156" y="6539865"/>
                  </a:cubicBezTo>
                  <a:lnTo>
                    <a:pt x="45339" y="6539865"/>
                  </a:lnTo>
                  <a:cubicBezTo>
                    <a:pt x="20320" y="6539865"/>
                    <a:pt x="0" y="6519545"/>
                    <a:pt x="0" y="6494526"/>
                  </a:cubicBezTo>
                  <a:close/>
                </a:path>
              </a:pathLst>
            </a:custGeom>
            <a:solidFill>
              <a:srgbClr val="FF8C42"/>
            </a:solidFill>
          </p:spPr>
        </p:sp>
      </p:grpSp>
      <p:sp>
        <p:nvSpPr>
          <p:cNvPr name="TextBox 28" id="28"/>
          <p:cNvSpPr txBox="true"/>
          <p:nvPr/>
        </p:nvSpPr>
        <p:spPr>
          <a:xfrm rot="0">
            <a:off x="1143448" y="4623645"/>
            <a:ext cx="7660777" cy="382781"/>
          </a:xfrm>
          <a:prstGeom prst="rect">
            <a:avLst/>
          </a:prstGeom>
        </p:spPr>
        <p:txBody>
          <a:bodyPr anchor="t" rtlCol="false" tIns="0" lIns="0" bIns="0" rIns="0">
            <a:spAutoFit/>
          </a:bodyPr>
          <a:lstStyle/>
          <a:p>
            <a:pPr algn="l">
              <a:lnSpc>
                <a:spcPts val="2745"/>
              </a:lnSpc>
            </a:pPr>
            <a:r>
              <a:rPr lang="en-US" sz="2200">
                <a:solidFill>
                  <a:srgbClr val="152D47"/>
                </a:solidFill>
                <a:latin typeface="Crimson Pro"/>
                <a:ea typeface="Crimson Pro"/>
                <a:cs typeface="Crimson Pro"/>
                <a:sym typeface="Crimson Pro"/>
              </a:rPr>
              <a:t>Quick Checklist Before You Post</a:t>
            </a:r>
          </a:p>
        </p:txBody>
      </p:sp>
      <p:sp>
        <p:nvSpPr>
          <p:cNvPr name="TextBox 29" id="29"/>
          <p:cNvSpPr txBox="true"/>
          <p:nvPr/>
        </p:nvSpPr>
        <p:spPr>
          <a:xfrm rot="0">
            <a:off x="1143448" y="5144243"/>
            <a:ext cx="7660777" cy="2588571"/>
          </a:xfrm>
          <a:prstGeom prst="rect">
            <a:avLst/>
          </a:prstGeom>
        </p:spPr>
        <p:txBody>
          <a:bodyPr anchor="t" rtlCol="false" tIns="0" lIns="0" bIns="0" rIns="0">
            <a:spAutoFit/>
          </a:bodyPr>
          <a:lstStyle/>
          <a:p>
            <a:pPr algn="l" marL="410210" indent="-205105" lvl="1">
              <a:lnSpc>
                <a:spcPts val="2366"/>
              </a:lnSpc>
              <a:buFont typeface="Arial"/>
              <a:buChar char="•"/>
            </a:pPr>
            <a:r>
              <a:rPr lang="en-US" sz="1700">
                <a:solidFill>
                  <a:srgbClr val="000000"/>
                </a:solidFill>
                <a:latin typeface="Heebo"/>
                <a:ea typeface="Heebo"/>
                <a:cs typeface="Heebo"/>
                <a:sym typeface="Heebo"/>
              </a:rPr>
              <a:t>All [placeholders] have been replaced</a:t>
            </a:r>
          </a:p>
          <a:p>
            <a:pPr algn="l" marL="410210" indent="-205105" lvl="1">
              <a:lnSpc>
                <a:spcPts val="2366"/>
              </a:lnSpc>
              <a:buFont typeface="Arial"/>
              <a:buChar char="•"/>
            </a:pPr>
            <a:r>
              <a:rPr lang="en-US" sz="1700">
                <a:solidFill>
                  <a:srgbClr val="000000"/>
                </a:solidFill>
                <a:latin typeface="Heebo"/>
                <a:ea typeface="Heebo"/>
                <a:cs typeface="Heebo"/>
                <a:sym typeface="Heebo"/>
              </a:rPr>
              <a:t>Job title is clear and searchable</a:t>
            </a:r>
          </a:p>
          <a:p>
            <a:pPr algn="l" marL="410210" indent="-205105" lvl="1">
              <a:lnSpc>
                <a:spcPts val="2366"/>
              </a:lnSpc>
              <a:buFont typeface="Arial"/>
              <a:buChar char="•"/>
            </a:pPr>
            <a:r>
              <a:rPr lang="en-US" sz="1700">
                <a:solidFill>
                  <a:srgbClr val="000000"/>
                </a:solidFill>
                <a:latin typeface="Heebo"/>
                <a:ea typeface="Heebo"/>
                <a:cs typeface="Heebo"/>
                <a:sym typeface="Heebo"/>
              </a:rPr>
              <a:t>Responsibilities are specific and action-oriented</a:t>
            </a:r>
          </a:p>
          <a:p>
            <a:pPr algn="l" marL="410210" indent="-205105" lvl="1">
              <a:lnSpc>
                <a:spcPts val="2366"/>
              </a:lnSpc>
              <a:buFont typeface="Arial"/>
              <a:buChar char="•"/>
            </a:pPr>
            <a:r>
              <a:rPr lang="en-US" sz="1700">
                <a:solidFill>
                  <a:srgbClr val="000000"/>
                </a:solidFill>
                <a:latin typeface="Heebo"/>
                <a:ea typeface="Heebo"/>
                <a:cs typeface="Heebo"/>
                <a:sym typeface="Heebo"/>
              </a:rPr>
              <a:t>Requirements focus on job-related qualifications only</a:t>
            </a:r>
          </a:p>
          <a:p>
            <a:pPr algn="l" marL="410210" indent="-205105" lvl="1">
              <a:lnSpc>
                <a:spcPts val="2366"/>
              </a:lnSpc>
              <a:buFont typeface="Arial"/>
              <a:buChar char="•"/>
            </a:pPr>
            <a:r>
              <a:rPr lang="en-US" sz="1700">
                <a:solidFill>
                  <a:srgbClr val="000000"/>
                </a:solidFill>
                <a:latin typeface="Heebo"/>
                <a:ea typeface="Heebo"/>
                <a:cs typeface="Heebo"/>
                <a:sym typeface="Heebo"/>
              </a:rPr>
              <a:t>Benefits and compensation are clearly stated</a:t>
            </a:r>
          </a:p>
          <a:p>
            <a:pPr algn="l" marL="410210" indent="-205105" lvl="1">
              <a:lnSpc>
                <a:spcPts val="2366"/>
              </a:lnSpc>
              <a:buFont typeface="Arial"/>
              <a:buChar char="•"/>
            </a:pPr>
            <a:r>
              <a:rPr lang="en-US" sz="1700">
                <a:solidFill>
                  <a:srgbClr val="000000"/>
                </a:solidFill>
                <a:latin typeface="Heebo"/>
                <a:ea typeface="Heebo"/>
                <a:cs typeface="Heebo"/>
                <a:sym typeface="Heebo"/>
              </a:rPr>
              <a:t>Application instructions are complete and accurate</a:t>
            </a:r>
          </a:p>
          <a:p>
            <a:pPr algn="l" marL="410210" indent="-205105" lvl="1">
              <a:lnSpc>
                <a:spcPts val="2366"/>
              </a:lnSpc>
              <a:buFont typeface="Arial"/>
              <a:buChar char="•"/>
            </a:pPr>
            <a:r>
              <a:rPr lang="en-US" sz="1700">
                <a:solidFill>
                  <a:srgbClr val="000000"/>
                </a:solidFill>
                <a:latin typeface="Heebo"/>
                <a:ea typeface="Heebo"/>
                <a:cs typeface="Heebo"/>
                <a:sym typeface="Heebo"/>
              </a:rPr>
              <a:t>Description reads clearly from a candidate's perspective</a:t>
            </a:r>
          </a:p>
        </p:txBody>
      </p:sp>
      <p:sp>
        <p:nvSpPr>
          <p:cNvPr name="TextBox 30" id="30"/>
          <p:cNvSpPr txBox="true"/>
          <p:nvPr/>
        </p:nvSpPr>
        <p:spPr>
          <a:xfrm rot="0">
            <a:off x="9429902" y="4623645"/>
            <a:ext cx="7787583" cy="382781"/>
          </a:xfrm>
          <a:prstGeom prst="rect">
            <a:avLst/>
          </a:prstGeom>
        </p:spPr>
        <p:txBody>
          <a:bodyPr anchor="t" rtlCol="false" tIns="0" lIns="0" bIns="0" rIns="0">
            <a:spAutoFit/>
          </a:bodyPr>
          <a:lstStyle/>
          <a:p>
            <a:pPr algn="l">
              <a:lnSpc>
                <a:spcPts val="2745"/>
              </a:lnSpc>
            </a:pPr>
            <a:r>
              <a:rPr lang="en-US" sz="2200">
                <a:solidFill>
                  <a:srgbClr val="152D47"/>
                </a:solidFill>
                <a:latin typeface="Crimson Pro"/>
                <a:ea typeface="Crimson Pro"/>
                <a:cs typeface="Crimson Pro"/>
                <a:sym typeface="Crimson Pro"/>
              </a:rPr>
              <a:t>Templates Included in This Pack</a:t>
            </a:r>
          </a:p>
        </p:txBody>
      </p:sp>
      <p:sp>
        <p:nvSpPr>
          <p:cNvPr name="TextBox 31" id="31"/>
          <p:cNvSpPr txBox="true"/>
          <p:nvPr/>
        </p:nvSpPr>
        <p:spPr>
          <a:xfrm rot="0">
            <a:off x="9429902" y="5144243"/>
            <a:ext cx="7787583" cy="2951712"/>
          </a:xfrm>
          <a:prstGeom prst="rect">
            <a:avLst/>
          </a:prstGeom>
        </p:spPr>
        <p:txBody>
          <a:bodyPr anchor="t" rtlCol="false" tIns="0" lIns="0" bIns="0" rIns="0">
            <a:spAutoFit/>
          </a:bodyPr>
          <a:lstStyle/>
          <a:p>
            <a:pPr algn="l" marL="410210" indent="-205105" lvl="1">
              <a:lnSpc>
                <a:spcPts val="2366"/>
              </a:lnSpc>
              <a:buFont typeface="Arial"/>
              <a:buChar char="•"/>
            </a:pPr>
            <a:r>
              <a:rPr lang="en-US" sz="1700">
                <a:solidFill>
                  <a:srgbClr val="4C4C4D"/>
                </a:solidFill>
                <a:latin typeface="Heebo"/>
                <a:ea typeface="Heebo"/>
                <a:cs typeface="Heebo"/>
                <a:sym typeface="Heebo"/>
              </a:rPr>
              <a:t>Master Job Description Template</a:t>
            </a:r>
          </a:p>
          <a:p>
            <a:pPr algn="l" marL="410210" indent="-205105" lvl="1">
              <a:lnSpc>
                <a:spcPts val="2366"/>
              </a:lnSpc>
              <a:buFont typeface="Arial"/>
              <a:buChar char="•"/>
            </a:pPr>
            <a:r>
              <a:rPr lang="en-US" sz="1700">
                <a:solidFill>
                  <a:srgbClr val="4C4C4D"/>
                </a:solidFill>
                <a:latin typeface="Heebo"/>
                <a:ea typeface="Heebo"/>
                <a:cs typeface="Heebo"/>
                <a:sym typeface="Heebo"/>
              </a:rPr>
              <a:t>Software Developer</a:t>
            </a:r>
          </a:p>
          <a:p>
            <a:pPr algn="l" marL="410210" indent="-205105" lvl="1">
              <a:lnSpc>
                <a:spcPts val="2366"/>
              </a:lnSpc>
              <a:buFont typeface="Arial"/>
              <a:buChar char="•"/>
            </a:pPr>
            <a:r>
              <a:rPr lang="en-US" sz="1700">
                <a:solidFill>
                  <a:srgbClr val="4C4C4D"/>
                </a:solidFill>
                <a:latin typeface="Heebo"/>
                <a:ea typeface="Heebo"/>
                <a:cs typeface="Heebo"/>
                <a:sym typeface="Heebo"/>
              </a:rPr>
              <a:t>Sales / Business Development Executive</a:t>
            </a:r>
          </a:p>
          <a:p>
            <a:pPr algn="l" marL="410210" indent="-205105" lvl="1">
              <a:lnSpc>
                <a:spcPts val="2366"/>
              </a:lnSpc>
              <a:buFont typeface="Arial"/>
              <a:buChar char="•"/>
            </a:pPr>
            <a:r>
              <a:rPr lang="en-US" sz="1700">
                <a:solidFill>
                  <a:srgbClr val="4C4C4D"/>
                </a:solidFill>
                <a:latin typeface="Heebo"/>
                <a:ea typeface="Heebo"/>
                <a:cs typeface="Heebo"/>
                <a:sym typeface="Heebo"/>
              </a:rPr>
              <a:t>Marketing Specialist</a:t>
            </a:r>
          </a:p>
          <a:p>
            <a:pPr algn="l" marL="410210" indent="-205105" lvl="1">
              <a:lnSpc>
                <a:spcPts val="2366"/>
              </a:lnSpc>
              <a:buFont typeface="Arial"/>
              <a:buChar char="•"/>
            </a:pPr>
            <a:r>
              <a:rPr lang="en-US" sz="1700">
                <a:solidFill>
                  <a:srgbClr val="4C4C4D"/>
                </a:solidFill>
                <a:latin typeface="Heebo"/>
                <a:ea typeface="Heebo"/>
                <a:cs typeface="Heebo"/>
                <a:sym typeface="Heebo"/>
              </a:rPr>
              <a:t>HR / Recruitment Specialist</a:t>
            </a:r>
          </a:p>
          <a:p>
            <a:pPr algn="l" marL="410210" indent="-205105" lvl="1">
              <a:lnSpc>
                <a:spcPts val="2366"/>
              </a:lnSpc>
              <a:buFont typeface="Arial"/>
              <a:buChar char="•"/>
            </a:pPr>
            <a:r>
              <a:rPr lang="en-US" sz="1700">
                <a:solidFill>
                  <a:srgbClr val="4C4C4D"/>
                </a:solidFill>
                <a:latin typeface="Heebo"/>
                <a:ea typeface="Heebo"/>
                <a:cs typeface="Heebo"/>
                <a:sym typeface="Heebo"/>
              </a:rPr>
              <a:t>Accountant / Finance Executive</a:t>
            </a:r>
          </a:p>
          <a:p>
            <a:pPr algn="l" marL="410210" indent="-205105" lvl="1">
              <a:lnSpc>
                <a:spcPts val="2366"/>
              </a:lnSpc>
              <a:buFont typeface="Arial"/>
              <a:buChar char="•"/>
            </a:pPr>
            <a:r>
              <a:rPr lang="en-US" sz="1700">
                <a:solidFill>
                  <a:srgbClr val="4C4C4D"/>
                </a:solidFill>
                <a:latin typeface="Heebo"/>
                <a:ea typeface="Heebo"/>
                <a:cs typeface="Heebo"/>
                <a:sym typeface="Heebo"/>
              </a:rPr>
              <a:t>Customer Service Representative</a:t>
            </a:r>
          </a:p>
          <a:p>
            <a:pPr algn="l" marL="410210" indent="-205105" lvl="1">
              <a:lnSpc>
                <a:spcPts val="2366"/>
              </a:lnSpc>
              <a:buFont typeface="Arial"/>
              <a:buChar char="•"/>
            </a:pPr>
            <a:r>
              <a:rPr lang="en-US" sz="1700">
                <a:solidFill>
                  <a:srgbClr val="4C4C4D"/>
                </a:solidFill>
                <a:latin typeface="Heebo"/>
                <a:ea typeface="Heebo"/>
                <a:cs typeface="Heebo"/>
                <a:sym typeface="Heebo"/>
              </a:rPr>
              <a:t>Operations Executive / Coordinator</a:t>
            </a:r>
          </a:p>
        </p:txBody>
      </p:sp>
      <p:grpSp>
        <p:nvGrpSpPr>
          <p:cNvPr name="Group 32" id="32"/>
          <p:cNvGrpSpPr/>
          <p:nvPr/>
        </p:nvGrpSpPr>
        <p:grpSpPr>
          <a:xfrm rot="0">
            <a:off x="9429902" y="8339728"/>
            <a:ext cx="7787583" cy="28575"/>
            <a:chOff x="0" y="0"/>
            <a:chExt cx="10383444" cy="38100"/>
          </a:xfrm>
        </p:grpSpPr>
        <p:sp>
          <p:nvSpPr>
            <p:cNvPr name="Freeform 33" id="33"/>
            <p:cNvSpPr/>
            <p:nvPr/>
          </p:nvSpPr>
          <p:spPr>
            <a:xfrm flipH="false" flipV="false" rot="0">
              <a:off x="0" y="0"/>
              <a:ext cx="10383393" cy="38100"/>
            </a:xfrm>
            <a:custGeom>
              <a:avLst/>
              <a:gdLst/>
              <a:ahLst/>
              <a:cxnLst/>
              <a:rect r="r" b="b" t="t" l="l"/>
              <a:pathLst>
                <a:path h="38100" w="10383393">
                  <a:moveTo>
                    <a:pt x="0" y="19050"/>
                  </a:moveTo>
                  <a:cubicBezTo>
                    <a:pt x="0" y="8509"/>
                    <a:pt x="8509" y="0"/>
                    <a:pt x="19050" y="0"/>
                  </a:cubicBezTo>
                  <a:lnTo>
                    <a:pt x="10364343" y="0"/>
                  </a:lnTo>
                  <a:cubicBezTo>
                    <a:pt x="10374885" y="0"/>
                    <a:pt x="10383393" y="8509"/>
                    <a:pt x="10383393" y="19050"/>
                  </a:cubicBezTo>
                  <a:cubicBezTo>
                    <a:pt x="10383393" y="29591"/>
                    <a:pt x="10374885" y="38100"/>
                    <a:pt x="10364343" y="38100"/>
                  </a:cubicBezTo>
                  <a:lnTo>
                    <a:pt x="19050" y="38100"/>
                  </a:lnTo>
                  <a:cubicBezTo>
                    <a:pt x="8509" y="38100"/>
                    <a:pt x="0" y="29591"/>
                    <a:pt x="0" y="19050"/>
                  </a:cubicBezTo>
                  <a:close/>
                </a:path>
              </a:pathLst>
            </a:custGeom>
            <a:solidFill>
              <a:srgbClr val="4C4C4D">
                <a:alpha val="24706"/>
              </a:srgbClr>
            </a:solidFill>
          </p:spPr>
        </p:sp>
      </p:grpSp>
      <p:sp>
        <p:nvSpPr>
          <p:cNvPr name="TextBox 34" id="34"/>
          <p:cNvSpPr txBox="true"/>
          <p:nvPr/>
        </p:nvSpPr>
        <p:spPr>
          <a:xfrm rot="0">
            <a:off x="9429902" y="8583511"/>
            <a:ext cx="7787583" cy="657520"/>
          </a:xfrm>
          <a:prstGeom prst="rect">
            <a:avLst/>
          </a:prstGeom>
        </p:spPr>
        <p:txBody>
          <a:bodyPr anchor="t" rtlCol="false" tIns="0" lIns="0" bIns="0" rIns="0">
            <a:spAutoFit/>
          </a:bodyPr>
          <a:lstStyle/>
          <a:p>
            <a:pPr algn="l">
              <a:lnSpc>
                <a:spcPts val="2366"/>
              </a:lnSpc>
            </a:pPr>
            <a:r>
              <a:rPr lang="en-US" sz="1700" b="true">
                <a:solidFill>
                  <a:srgbClr val="4C4C4D"/>
                </a:solidFill>
                <a:latin typeface="Heebo Bold"/>
                <a:ea typeface="Heebo Bold"/>
                <a:cs typeface="Heebo Bold"/>
                <a:sym typeface="Heebo Bold"/>
              </a:rPr>
              <a:t>Falayn</a:t>
            </a:r>
            <a:r>
              <a:rPr lang="en-US" sz="1700">
                <a:solidFill>
                  <a:srgbClr val="4C4C4D"/>
                </a:solidFill>
                <a:latin typeface="Heebo"/>
                <a:ea typeface="Heebo"/>
                <a:cs typeface="Heebo"/>
                <a:sym typeface="Heebo"/>
              </a:rPr>
              <a:t> — Helping organizations hire with clarity and confidence across the Gulf region and beyond.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DAHR2no4eAU</dc:identifier>
  <dcterms:modified xsi:type="dcterms:W3CDTF">2011-08-01T06:04:30Z</dcterms:modified>
  <cp:revision>1</cp:revision>
  <dc:title>Job-Description-Template-Pack.pptx</dc:title>
</cp:coreProperties>
</file>